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21"/>
  </p:notesMasterIdLst>
  <p:handoutMasterIdLst>
    <p:handoutMasterId r:id="rId22"/>
  </p:handoutMasterIdLst>
  <p:sldIdLst>
    <p:sldId id="256" r:id="rId2"/>
    <p:sldId id="310" r:id="rId3"/>
    <p:sldId id="331" r:id="rId4"/>
    <p:sldId id="332" r:id="rId5"/>
    <p:sldId id="336" r:id="rId6"/>
    <p:sldId id="337" r:id="rId7"/>
    <p:sldId id="338" r:id="rId8"/>
    <p:sldId id="311" r:id="rId9"/>
    <p:sldId id="312" r:id="rId10"/>
    <p:sldId id="316" r:id="rId11"/>
    <p:sldId id="317" r:id="rId12"/>
    <p:sldId id="322" r:id="rId13"/>
    <p:sldId id="323" r:id="rId14"/>
    <p:sldId id="315" r:id="rId15"/>
    <p:sldId id="324" r:id="rId16"/>
    <p:sldId id="325" r:id="rId17"/>
    <p:sldId id="326" r:id="rId18"/>
    <p:sldId id="339" r:id="rId19"/>
    <p:sldId id="340" r:id="rId20"/>
  </p:sldIdLst>
  <p:sldSz cx="9144000" cy="6858000" type="screen4x3"/>
  <p:notesSz cx="7302500" cy="95885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charset="0"/>
        <a:ea typeface="ＭＳ Ｐゴシック" charset="0"/>
        <a:cs typeface="ＭＳ Ｐゴシック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charset="0"/>
        <a:ea typeface="ＭＳ Ｐゴシック" charset="0"/>
        <a:cs typeface="ＭＳ Ｐゴシック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charset="0"/>
        <a:ea typeface="ＭＳ Ｐゴシック" charset="0"/>
        <a:cs typeface="ＭＳ Ｐゴシック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charset="0"/>
        <a:ea typeface="ＭＳ Ｐゴシック" charset="0"/>
        <a:cs typeface="ＭＳ Ｐゴシック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sz="2400" kern="1200">
        <a:solidFill>
          <a:schemeClr val="tx1"/>
        </a:solidFill>
        <a:latin typeface="Tahoma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sz="2400" kern="1200">
        <a:solidFill>
          <a:schemeClr val="tx1"/>
        </a:solidFill>
        <a:latin typeface="Tahoma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sz="2400" kern="1200">
        <a:solidFill>
          <a:schemeClr val="tx1"/>
        </a:solidFill>
        <a:latin typeface="Tahoma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sz="2400" kern="1200">
        <a:solidFill>
          <a:schemeClr val="tx1"/>
        </a:solidFill>
        <a:latin typeface="Tahoma" charset="0"/>
        <a:ea typeface="ＭＳ Ｐゴシック" charset="0"/>
        <a:cs typeface="ＭＳ Ｐゴシック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2" frameSlides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674F6"/>
    <a:srgbClr val="6289F8"/>
    <a:srgbClr val="8097F8"/>
    <a:srgbClr val="2C61F6"/>
    <a:srgbClr val="F8F0D0"/>
    <a:srgbClr val="F2E4AA"/>
    <a:srgbClr val="000000"/>
    <a:srgbClr val="F4E9B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0" d="100"/>
          <a:sy n="110" d="100"/>
        </p:scale>
        <p:origin x="1644" y="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239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6388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09" tIns="48254" rIns="96509" bIns="48254" numCol="1" anchor="t" anchorCtr="0" compatLnSpc="1">
            <a:prstTxWarp prst="textNoShape">
              <a:avLst/>
            </a:prstTxWarp>
          </a:bodyPr>
          <a:lstStyle>
            <a:lvl1pPr defTabSz="965200">
              <a:defRPr sz="1300">
                <a:latin typeface="Tahoma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 smtClean="0"/>
              <a:t>Recursion</a:t>
            </a:r>
            <a:endParaRPr lang="en-US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38613" y="0"/>
            <a:ext cx="316388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09" tIns="48254" rIns="96509" bIns="48254" numCol="1" anchor="t" anchorCtr="0" compatLnSpc="1">
            <a:prstTxWarp prst="textNoShape">
              <a:avLst/>
            </a:prstTxWarp>
          </a:bodyPr>
          <a:lstStyle>
            <a:lvl1pPr algn="r" defTabSz="965200">
              <a:defRPr sz="1300" smtClean="0">
                <a:cs typeface="+mn-cs"/>
              </a:defRPr>
            </a:lvl1pPr>
          </a:lstStyle>
          <a:p>
            <a:pPr>
              <a:defRPr/>
            </a:pPr>
            <a:fld id="{6E53E897-BF64-0F4A-BB5A-B0C5E29C4966}" type="datetime1">
              <a:rPr lang="en-US" smtClean="0"/>
              <a:t>11/14/2021</a:t>
            </a:fld>
            <a:endParaRPr lang="en-US"/>
          </a:p>
        </p:txBody>
      </p:sp>
      <p:sp>
        <p:nvSpPr>
          <p:cNvPr id="1536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09075"/>
            <a:ext cx="316388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09" tIns="48254" rIns="96509" bIns="48254" numCol="1" anchor="b" anchorCtr="0" compatLnSpc="1">
            <a:prstTxWarp prst="textNoShape">
              <a:avLst/>
            </a:prstTxWarp>
          </a:bodyPr>
          <a:lstStyle>
            <a:lvl1pPr defTabSz="965200">
              <a:defRPr sz="1300">
                <a:latin typeface="Tahoma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38613" y="9109075"/>
            <a:ext cx="316388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09" tIns="48254" rIns="96509" bIns="48254" numCol="1" anchor="b" anchorCtr="0" compatLnSpc="1">
            <a:prstTxWarp prst="textNoShape">
              <a:avLst/>
            </a:prstTxWarp>
          </a:bodyPr>
          <a:lstStyle>
            <a:lvl1pPr algn="r" defTabSz="965200">
              <a:defRPr sz="1300" smtClean="0">
                <a:cs typeface="+mn-cs"/>
              </a:defRPr>
            </a:lvl1pPr>
          </a:lstStyle>
          <a:p>
            <a:pPr>
              <a:defRPr/>
            </a:pPr>
            <a:fld id="{3300FDEA-7042-974F-957D-E58948F251D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741608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6388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09" tIns="48254" rIns="96509" bIns="48254" numCol="1" anchor="t" anchorCtr="0" compatLnSpc="1">
            <a:prstTxWarp prst="textNoShape">
              <a:avLst/>
            </a:prstTxWarp>
          </a:bodyPr>
          <a:lstStyle>
            <a:lvl1pPr defTabSz="965200">
              <a:defRPr sz="1300">
                <a:latin typeface="Tahoma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 smtClean="0"/>
              <a:t>Recursion</a:t>
            </a:r>
            <a:endParaRPr 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38613" y="0"/>
            <a:ext cx="316388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09" tIns="48254" rIns="96509" bIns="48254" numCol="1" anchor="t" anchorCtr="0" compatLnSpc="1">
            <a:prstTxWarp prst="textNoShape">
              <a:avLst/>
            </a:prstTxWarp>
          </a:bodyPr>
          <a:lstStyle>
            <a:lvl1pPr algn="r" defTabSz="965200">
              <a:defRPr sz="1300" smtClean="0">
                <a:cs typeface="+mn-cs"/>
              </a:defRPr>
            </a:lvl1pPr>
          </a:lstStyle>
          <a:p>
            <a:pPr>
              <a:defRPr/>
            </a:pPr>
            <a:fld id="{A038362F-7967-7C45-A160-91C65519B956}" type="datetime1">
              <a:rPr lang="en-US" smtClean="0"/>
              <a:t>11/14/2021</a:t>
            </a:fld>
            <a:endParaRPr lang="en-US"/>
          </a:p>
        </p:txBody>
      </p:sp>
      <p:sp>
        <p:nvSpPr>
          <p:cNvPr id="922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5713" y="720725"/>
            <a:ext cx="4792662" cy="35941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102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3138" y="4554538"/>
            <a:ext cx="5356225" cy="4313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09" tIns="48254" rIns="96509" bIns="4825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09075"/>
            <a:ext cx="316388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09" tIns="48254" rIns="96509" bIns="48254" numCol="1" anchor="b" anchorCtr="0" compatLnSpc="1">
            <a:prstTxWarp prst="textNoShape">
              <a:avLst/>
            </a:prstTxWarp>
          </a:bodyPr>
          <a:lstStyle>
            <a:lvl1pPr defTabSz="965200">
              <a:defRPr sz="1300">
                <a:latin typeface="Tahoma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38613" y="9109075"/>
            <a:ext cx="316388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09" tIns="48254" rIns="96509" bIns="48254" numCol="1" anchor="b" anchorCtr="0" compatLnSpc="1">
            <a:prstTxWarp prst="textNoShape">
              <a:avLst/>
            </a:prstTxWarp>
          </a:bodyPr>
          <a:lstStyle>
            <a:lvl1pPr algn="r" defTabSz="965200">
              <a:defRPr sz="1300" smtClean="0">
                <a:cs typeface="+mn-cs"/>
              </a:defRPr>
            </a:lvl1pPr>
          </a:lstStyle>
          <a:p>
            <a:pPr>
              <a:defRPr/>
            </a:pPr>
            <a:fld id="{6D3348D0-F0DB-074A-A2EA-ECAF35DB3FB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238861"/>
      </p:ext>
    </p:extLst>
  </p:cSld>
  <p:clrMap bg1="lt1" tx1="dk1" bg2="lt2" tx2="dk2" accent1="accent1" accent2="accent2" accent3="accent3" accent4="accent4" accent5="accent5" accent6="accent6" hlink="hlink" folHlink="folHlink"/>
  <p:hf ftr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0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defTabSz="9652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defTabSz="9652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defTabSz="9652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defTabSz="9652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300" smtClean="0"/>
              <a:t>Recursion</a:t>
            </a:r>
            <a:endParaRPr lang="en-US" sz="1300"/>
          </a:p>
        </p:txBody>
      </p:sp>
      <p:sp>
        <p:nvSpPr>
          <p:cNvPr id="11266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defTabSz="9652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defTabSz="9652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defTabSz="9652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defTabSz="9652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fld id="{EF36D7E7-CFE1-884D-9D33-938D04E8DAAF}" type="datetime1">
              <a:rPr lang="en-US" sz="1300" smtClean="0"/>
              <a:t>11/14/2021</a:t>
            </a:fld>
            <a:endParaRPr lang="en-US" sz="1300"/>
          </a:p>
        </p:txBody>
      </p:sp>
      <p:sp>
        <p:nvSpPr>
          <p:cNvPr id="1126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defTabSz="9652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defTabSz="9652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defTabSz="9652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defTabSz="9652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fld id="{9866263E-08C6-7A4D-90D5-B55B8C2DEAEF}" type="slidenum">
              <a:rPr lang="en-US" sz="1300"/>
              <a:pPr eaLnBrk="1" hangingPunct="1"/>
              <a:t>1</a:t>
            </a:fld>
            <a:endParaRPr lang="en-US" sz="1300"/>
          </a:p>
        </p:txBody>
      </p:sp>
      <p:sp>
        <p:nvSpPr>
          <p:cNvPr id="1126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70797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5" name="Group 3"/>
            <p:cNvGrpSpPr>
              <a:grpSpLocks/>
            </p:cNvGrpSpPr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sp>
            <p:nvSpPr>
              <p:cNvPr id="15" name="Rectangle 4"/>
              <p:cNvSpPr>
                <a:spLocks noChangeArrowheads="1"/>
              </p:cNvSpPr>
              <p:nvPr/>
            </p:nvSpPr>
            <p:spPr bwMode="ltGray">
              <a:xfrm>
                <a:off x="2112" y="0"/>
                <a:ext cx="3648" cy="9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16" name="Group 5"/>
              <p:cNvGrpSpPr>
                <a:grpSpLocks/>
              </p:cNvGrpSpPr>
              <p:nvPr userDrawn="1"/>
            </p:nvGrpSpPr>
            <p:grpSpPr bwMode="auto">
              <a:xfrm>
                <a:off x="0" y="0"/>
                <a:ext cx="5760" cy="4320"/>
                <a:chOff x="0" y="0"/>
                <a:chExt cx="5760" cy="4320"/>
              </a:xfrm>
            </p:grpSpPr>
            <p:sp>
              <p:nvSpPr>
                <p:cNvPr id="18" name="Line 6"/>
                <p:cNvSpPr>
                  <a:spLocks noChangeShapeType="1"/>
                </p:cNvSpPr>
                <p:nvPr/>
              </p:nvSpPr>
              <p:spPr bwMode="white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9" name="Line 7"/>
                <p:cNvSpPr>
                  <a:spLocks noChangeShapeType="1"/>
                </p:cNvSpPr>
                <p:nvPr/>
              </p:nvSpPr>
              <p:spPr bwMode="white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0" name="Line 8"/>
                <p:cNvSpPr>
                  <a:spLocks noChangeShapeType="1"/>
                </p:cNvSpPr>
                <p:nvPr/>
              </p:nvSpPr>
              <p:spPr bwMode="white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1" name="Line 9"/>
                <p:cNvSpPr>
                  <a:spLocks noChangeShapeType="1"/>
                </p:cNvSpPr>
                <p:nvPr/>
              </p:nvSpPr>
              <p:spPr bwMode="white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2" name="Line 10"/>
                <p:cNvSpPr>
                  <a:spLocks noChangeShapeType="1"/>
                </p:cNvSpPr>
                <p:nvPr/>
              </p:nvSpPr>
              <p:spPr bwMode="white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3" name="Line 11"/>
                <p:cNvSpPr>
                  <a:spLocks noChangeShapeType="1"/>
                </p:cNvSpPr>
                <p:nvPr/>
              </p:nvSpPr>
              <p:spPr bwMode="white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4" name="Line 12"/>
                <p:cNvSpPr>
                  <a:spLocks noChangeShapeType="1"/>
                </p:cNvSpPr>
                <p:nvPr/>
              </p:nvSpPr>
              <p:spPr bwMode="white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5" name="Line 13"/>
                <p:cNvSpPr>
                  <a:spLocks noChangeShapeType="1"/>
                </p:cNvSpPr>
                <p:nvPr/>
              </p:nvSpPr>
              <p:spPr bwMode="white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6" name="Line 14"/>
                <p:cNvSpPr>
                  <a:spLocks noChangeShapeType="1"/>
                </p:cNvSpPr>
                <p:nvPr/>
              </p:nvSpPr>
              <p:spPr bwMode="white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7" name="Line 15"/>
                <p:cNvSpPr>
                  <a:spLocks noChangeShapeType="1"/>
                </p:cNvSpPr>
                <p:nvPr/>
              </p:nvSpPr>
              <p:spPr bwMode="white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8" name="Line 16"/>
                <p:cNvSpPr>
                  <a:spLocks noChangeShapeType="1"/>
                </p:cNvSpPr>
                <p:nvPr/>
              </p:nvSpPr>
              <p:spPr bwMode="white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9" name="Line 17"/>
                <p:cNvSpPr>
                  <a:spLocks noChangeShapeType="1"/>
                </p:cNvSpPr>
                <p:nvPr/>
              </p:nvSpPr>
              <p:spPr bwMode="white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0" name="Line 18"/>
                <p:cNvSpPr>
                  <a:spLocks noChangeShapeType="1"/>
                </p:cNvSpPr>
                <p:nvPr/>
              </p:nvSpPr>
              <p:spPr bwMode="white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1" name="Line 19"/>
                <p:cNvSpPr>
                  <a:spLocks noChangeShapeType="1"/>
                </p:cNvSpPr>
                <p:nvPr/>
              </p:nvSpPr>
              <p:spPr bwMode="white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2" name="Line 20"/>
                <p:cNvSpPr>
                  <a:spLocks noChangeShapeType="1"/>
                </p:cNvSpPr>
                <p:nvPr/>
              </p:nvSpPr>
              <p:spPr bwMode="white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" name="Line 21"/>
                <p:cNvSpPr>
                  <a:spLocks noChangeShapeType="1"/>
                </p:cNvSpPr>
                <p:nvPr/>
              </p:nvSpPr>
              <p:spPr bwMode="white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" name="Line 22"/>
                <p:cNvSpPr>
                  <a:spLocks noChangeShapeType="1"/>
                </p:cNvSpPr>
                <p:nvPr/>
              </p:nvSpPr>
              <p:spPr bwMode="white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5" name="Line 23"/>
                <p:cNvSpPr>
                  <a:spLocks noChangeShapeType="1"/>
                </p:cNvSpPr>
                <p:nvPr/>
              </p:nvSpPr>
              <p:spPr bwMode="white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6" name="Line 24"/>
                <p:cNvSpPr>
                  <a:spLocks noChangeShapeType="1"/>
                </p:cNvSpPr>
                <p:nvPr/>
              </p:nvSpPr>
              <p:spPr bwMode="white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7" name="Line 25"/>
                <p:cNvSpPr>
                  <a:spLocks noChangeShapeType="1"/>
                </p:cNvSpPr>
                <p:nvPr/>
              </p:nvSpPr>
              <p:spPr bwMode="white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8" name="Line 26"/>
                <p:cNvSpPr>
                  <a:spLocks noChangeShapeType="1"/>
                </p:cNvSpPr>
                <p:nvPr/>
              </p:nvSpPr>
              <p:spPr bwMode="white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9" name="Line 27"/>
                <p:cNvSpPr>
                  <a:spLocks noChangeShapeType="1"/>
                </p:cNvSpPr>
                <p:nvPr/>
              </p:nvSpPr>
              <p:spPr bwMode="white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0" name="Line 28"/>
                <p:cNvSpPr>
                  <a:spLocks noChangeShapeType="1"/>
                </p:cNvSpPr>
                <p:nvPr/>
              </p:nvSpPr>
              <p:spPr bwMode="white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1" name="Line 29"/>
                <p:cNvSpPr>
                  <a:spLocks noChangeShapeType="1"/>
                </p:cNvSpPr>
                <p:nvPr/>
              </p:nvSpPr>
              <p:spPr bwMode="white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2" name="Line 30"/>
                <p:cNvSpPr>
                  <a:spLocks noChangeShapeType="1"/>
                </p:cNvSpPr>
                <p:nvPr/>
              </p:nvSpPr>
              <p:spPr bwMode="white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3" name="Line 31"/>
                <p:cNvSpPr>
                  <a:spLocks noChangeShapeType="1"/>
                </p:cNvSpPr>
                <p:nvPr/>
              </p:nvSpPr>
              <p:spPr bwMode="white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4" name="Line 32"/>
                <p:cNvSpPr>
                  <a:spLocks noChangeShapeType="1"/>
                </p:cNvSpPr>
                <p:nvPr/>
              </p:nvSpPr>
              <p:spPr bwMode="white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5" name="Line 33"/>
                <p:cNvSpPr>
                  <a:spLocks noChangeShapeType="1"/>
                </p:cNvSpPr>
                <p:nvPr/>
              </p:nvSpPr>
              <p:spPr bwMode="white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6" name="Line 34"/>
                <p:cNvSpPr>
                  <a:spLocks noChangeShapeType="1"/>
                </p:cNvSpPr>
                <p:nvPr/>
              </p:nvSpPr>
              <p:spPr bwMode="white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7" name="Line 35"/>
                <p:cNvSpPr>
                  <a:spLocks noChangeShapeType="1"/>
                </p:cNvSpPr>
                <p:nvPr/>
              </p:nvSpPr>
              <p:spPr bwMode="white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8" name="Line 36"/>
                <p:cNvSpPr>
                  <a:spLocks noChangeShapeType="1"/>
                </p:cNvSpPr>
                <p:nvPr/>
              </p:nvSpPr>
              <p:spPr bwMode="white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9" name="Line 37"/>
                <p:cNvSpPr>
                  <a:spLocks noChangeShapeType="1"/>
                </p:cNvSpPr>
                <p:nvPr/>
              </p:nvSpPr>
              <p:spPr bwMode="white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0" name="Line 38"/>
                <p:cNvSpPr>
                  <a:spLocks noChangeShapeType="1"/>
                </p:cNvSpPr>
                <p:nvPr/>
              </p:nvSpPr>
              <p:spPr bwMode="white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" name="Line 39"/>
                <p:cNvSpPr>
                  <a:spLocks noChangeShapeType="1"/>
                </p:cNvSpPr>
                <p:nvPr/>
              </p:nvSpPr>
              <p:spPr bwMode="white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2" name="Line 40"/>
                <p:cNvSpPr>
                  <a:spLocks noChangeShapeType="1"/>
                </p:cNvSpPr>
                <p:nvPr/>
              </p:nvSpPr>
              <p:spPr bwMode="white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3" name="Line 41"/>
                <p:cNvSpPr>
                  <a:spLocks noChangeShapeType="1"/>
                </p:cNvSpPr>
                <p:nvPr/>
              </p:nvSpPr>
              <p:spPr bwMode="white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4" name="Line 42"/>
                <p:cNvSpPr>
                  <a:spLocks noChangeShapeType="1"/>
                </p:cNvSpPr>
                <p:nvPr/>
              </p:nvSpPr>
              <p:spPr bwMode="white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5" name="Line 43"/>
                <p:cNvSpPr>
                  <a:spLocks noChangeShapeType="1"/>
                </p:cNvSpPr>
                <p:nvPr/>
              </p:nvSpPr>
              <p:spPr bwMode="white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6" name="Line 44"/>
                <p:cNvSpPr>
                  <a:spLocks noChangeShapeType="1"/>
                </p:cNvSpPr>
                <p:nvPr/>
              </p:nvSpPr>
              <p:spPr bwMode="white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7" name="Line 45"/>
                <p:cNvSpPr>
                  <a:spLocks noChangeShapeType="1"/>
                </p:cNvSpPr>
                <p:nvPr/>
              </p:nvSpPr>
              <p:spPr bwMode="white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8" name="Line 46"/>
                <p:cNvSpPr>
                  <a:spLocks noChangeShapeType="1"/>
                </p:cNvSpPr>
                <p:nvPr/>
              </p:nvSpPr>
              <p:spPr bwMode="white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9" name="Line 47"/>
                <p:cNvSpPr>
                  <a:spLocks noChangeShapeType="1"/>
                </p:cNvSpPr>
                <p:nvPr/>
              </p:nvSpPr>
              <p:spPr bwMode="white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0" name="Line 48"/>
                <p:cNvSpPr>
                  <a:spLocks noChangeShapeType="1"/>
                </p:cNvSpPr>
                <p:nvPr/>
              </p:nvSpPr>
              <p:spPr bwMode="white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1" name="Line 49"/>
                <p:cNvSpPr>
                  <a:spLocks noChangeShapeType="1"/>
                </p:cNvSpPr>
                <p:nvPr/>
              </p:nvSpPr>
              <p:spPr bwMode="white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2" name="Line 50"/>
                <p:cNvSpPr>
                  <a:spLocks noChangeShapeType="1"/>
                </p:cNvSpPr>
                <p:nvPr/>
              </p:nvSpPr>
              <p:spPr bwMode="white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3" name="Line 51"/>
                <p:cNvSpPr>
                  <a:spLocks noChangeShapeType="1"/>
                </p:cNvSpPr>
                <p:nvPr/>
              </p:nvSpPr>
              <p:spPr bwMode="white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4" name="Line 52"/>
                <p:cNvSpPr>
                  <a:spLocks noChangeShapeType="1"/>
                </p:cNvSpPr>
                <p:nvPr/>
              </p:nvSpPr>
              <p:spPr bwMode="white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5" name="Line 53"/>
                <p:cNvSpPr>
                  <a:spLocks noChangeShapeType="1"/>
                </p:cNvSpPr>
                <p:nvPr/>
              </p:nvSpPr>
              <p:spPr bwMode="white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6" name="Line 54"/>
                <p:cNvSpPr>
                  <a:spLocks noChangeShapeType="1"/>
                </p:cNvSpPr>
                <p:nvPr/>
              </p:nvSpPr>
              <p:spPr bwMode="white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7" name="Line 55"/>
                <p:cNvSpPr>
                  <a:spLocks noChangeShapeType="1"/>
                </p:cNvSpPr>
                <p:nvPr/>
              </p:nvSpPr>
              <p:spPr bwMode="white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8" name="Line 56"/>
                <p:cNvSpPr>
                  <a:spLocks noChangeShapeType="1"/>
                </p:cNvSpPr>
                <p:nvPr/>
              </p:nvSpPr>
              <p:spPr bwMode="white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17" name="Line 57"/>
              <p:cNvSpPr>
                <a:spLocks noChangeShapeType="1"/>
              </p:cNvSpPr>
              <p:nvPr/>
            </p:nvSpPr>
            <p:spPr bwMode="ltGray">
              <a:xfrm>
                <a:off x="5568" y="0"/>
                <a:ext cx="0" cy="1488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6" name="Group 58"/>
            <p:cNvGrpSpPr>
              <a:grpSpLocks/>
            </p:cNvGrpSpPr>
            <p:nvPr userDrawn="1"/>
          </p:nvGrpSpPr>
          <p:grpSpPr bwMode="auto">
            <a:xfrm>
              <a:off x="3" y="559"/>
              <a:ext cx="4192" cy="1796"/>
              <a:chOff x="3" y="559"/>
              <a:chExt cx="4192" cy="1796"/>
            </a:xfrm>
          </p:grpSpPr>
          <p:sp>
            <p:nvSpPr>
              <p:cNvPr id="11" name="Line 59"/>
              <p:cNvSpPr>
                <a:spLocks noChangeShapeType="1"/>
              </p:cNvSpPr>
              <p:nvPr/>
            </p:nvSpPr>
            <p:spPr bwMode="ltGray">
              <a:xfrm>
                <a:off x="506" y="559"/>
                <a:ext cx="0" cy="1796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" name="Line 60"/>
              <p:cNvSpPr>
                <a:spLocks noChangeShapeType="1"/>
              </p:cNvSpPr>
              <p:nvPr/>
            </p:nvSpPr>
            <p:spPr bwMode="ltGray">
              <a:xfrm flipH="1" flipV="1">
                <a:off x="3" y="1924"/>
                <a:ext cx="32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" name="Line 61"/>
              <p:cNvSpPr>
                <a:spLocks noChangeShapeType="1"/>
              </p:cNvSpPr>
              <p:nvPr/>
            </p:nvSpPr>
            <p:spPr bwMode="ltGray">
              <a:xfrm flipH="1" flipV="1">
                <a:off x="384" y="938"/>
                <a:ext cx="38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" name="Arc 62"/>
              <p:cNvSpPr>
                <a:spLocks/>
              </p:cNvSpPr>
              <p:nvPr/>
            </p:nvSpPr>
            <p:spPr bwMode="ltGray">
              <a:xfrm rot="16200000" flipH="1">
                <a:off x="426" y="860"/>
                <a:ext cx="156" cy="157"/>
              </a:xfrm>
              <a:custGeom>
                <a:avLst/>
                <a:gdLst>
                  <a:gd name="T0" fmla="*/ 76 w 43195"/>
                  <a:gd name="T1" fmla="*/ 0 h 43200"/>
                  <a:gd name="T2" fmla="*/ 0 w 43195"/>
                  <a:gd name="T3" fmla="*/ 80 h 43200"/>
                  <a:gd name="T4" fmla="*/ 78 w 43195"/>
                  <a:gd name="T5" fmla="*/ 79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7" name="Group 63"/>
            <p:cNvGrpSpPr>
              <a:grpSpLocks/>
            </p:cNvGrpSpPr>
            <p:nvPr userDrawn="1"/>
          </p:nvGrpSpPr>
          <p:grpSpPr bwMode="auto">
            <a:xfrm>
              <a:off x="1480" y="1952"/>
              <a:ext cx="3808" cy="1812"/>
              <a:chOff x="1480" y="1952"/>
              <a:chExt cx="3808" cy="1812"/>
            </a:xfrm>
          </p:grpSpPr>
          <p:sp>
            <p:nvSpPr>
              <p:cNvPr id="8" name="Line 64"/>
              <p:cNvSpPr>
                <a:spLocks noChangeShapeType="1"/>
              </p:cNvSpPr>
              <p:nvPr/>
            </p:nvSpPr>
            <p:spPr bwMode="ltGray">
              <a:xfrm flipV="1">
                <a:off x="1480" y="3442"/>
                <a:ext cx="38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" name="Line 65"/>
              <p:cNvSpPr>
                <a:spLocks noChangeShapeType="1"/>
              </p:cNvSpPr>
              <p:nvPr/>
            </p:nvSpPr>
            <p:spPr bwMode="ltGray">
              <a:xfrm flipH="1">
                <a:off x="5172" y="1952"/>
                <a:ext cx="0" cy="181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" name="Arc 66"/>
              <p:cNvSpPr>
                <a:spLocks/>
              </p:cNvSpPr>
              <p:nvPr/>
            </p:nvSpPr>
            <p:spPr bwMode="ltGray">
              <a:xfrm rot="5400000">
                <a:off x="5097" y="3347"/>
                <a:ext cx="156" cy="157"/>
              </a:xfrm>
              <a:custGeom>
                <a:avLst/>
                <a:gdLst>
                  <a:gd name="T0" fmla="*/ 76 w 43195"/>
                  <a:gd name="T1" fmla="*/ 0 h 43200"/>
                  <a:gd name="T2" fmla="*/ 0 w 43195"/>
                  <a:gd name="T3" fmla="*/ 80 h 43200"/>
                  <a:gd name="T4" fmla="*/ 78 w 43195"/>
                  <a:gd name="T5" fmla="*/ 79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sp>
        <p:nvSpPr>
          <p:cNvPr id="5187" name="Rectangle 67"/>
          <p:cNvSpPr>
            <a:spLocks noGrp="1" noChangeArrowheads="1"/>
          </p:cNvSpPr>
          <p:nvPr>
            <p:ph type="ctrTitle"/>
          </p:nvPr>
        </p:nvSpPr>
        <p:spPr>
          <a:xfrm>
            <a:off x="990600" y="17526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188" name="Rectangle 68" descr="Rectangle: Click to edit Master text styles&#10;Second level&#10;Third level&#10;Fourth level&#10;Fifth level"/>
          <p:cNvSpPr>
            <a:spLocks noGrp="1" noChangeArrowheads="1"/>
          </p:cNvSpPr>
          <p:nvPr>
            <p:ph type="subTitle" idx="1"/>
          </p:nvPr>
        </p:nvSpPr>
        <p:spPr>
          <a:xfrm>
            <a:off x="990600" y="3309938"/>
            <a:ext cx="6400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9" name="Date Placeholder 7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smtClean="0"/>
              <a:t>© 2014 Goodrich, Tamassia, Goldwasser</a:t>
            </a:r>
            <a:endParaRPr lang="en-US"/>
          </a:p>
        </p:txBody>
      </p:sp>
      <p:sp>
        <p:nvSpPr>
          <p:cNvPr id="70" name="Slide Number Placeholder 7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D58D6F8C-2123-E040-923F-3ACA1A5A88F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71" name="Footer Placeholder 74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Recursion</a:t>
            </a:r>
          </a:p>
        </p:txBody>
      </p:sp>
    </p:spTree>
    <p:extLst>
      <p:ext uri="{BB962C8B-B14F-4D97-AF65-F5344CB8AC3E}">
        <p14:creationId xmlns:p14="http://schemas.microsoft.com/office/powerpoint/2010/main" val="38938430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smtClean="0"/>
              <a:t>© 2014 Goodrich, Tamassia, Goldwasser</a:t>
            </a:r>
            <a:endParaRPr lang="en-US"/>
          </a:p>
        </p:txBody>
      </p:sp>
      <p:sp>
        <p:nvSpPr>
          <p:cNvPr id="5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9E71B39E-2B67-9942-90F9-67F1E20F1D8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Recursion</a:t>
            </a:r>
          </a:p>
        </p:txBody>
      </p:sp>
    </p:spTree>
    <p:extLst>
      <p:ext uri="{BB962C8B-B14F-4D97-AF65-F5344CB8AC3E}">
        <p14:creationId xmlns:p14="http://schemas.microsoft.com/office/powerpoint/2010/main" val="18331628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04800"/>
            <a:ext cx="77724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838200" y="1905000"/>
            <a:ext cx="38100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00600" y="1905000"/>
            <a:ext cx="38100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smtClean="0"/>
              <a:t>© 2014 Goodrich, Tamassia, Goldwasser</a:t>
            </a:r>
            <a:endParaRPr lang="en-US"/>
          </a:p>
        </p:txBody>
      </p:sp>
      <p:sp>
        <p:nvSpPr>
          <p:cNvPr id="6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DF16466C-239D-0E4F-9AE1-B2A430EFDC8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Recursion</a:t>
            </a:r>
          </a:p>
        </p:txBody>
      </p:sp>
    </p:spTree>
    <p:extLst>
      <p:ext uri="{BB962C8B-B14F-4D97-AF65-F5344CB8AC3E}">
        <p14:creationId xmlns:p14="http://schemas.microsoft.com/office/powerpoint/2010/main" val="34053666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04800"/>
            <a:ext cx="77724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838200" y="1905000"/>
            <a:ext cx="38100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800600" y="1905000"/>
            <a:ext cx="3810000" cy="1981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800600" y="4038600"/>
            <a:ext cx="3810000" cy="1981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smtClean="0"/>
              <a:t>© 2014 Goodrich, Tamassia, Goldwasser</a:t>
            </a:r>
            <a:endParaRPr lang="en-US"/>
          </a:p>
        </p:txBody>
      </p:sp>
      <p:sp>
        <p:nvSpPr>
          <p:cNvPr id="7" name="Slide Number Placeholder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DE773B9B-2255-BC41-AEC8-AD5B2528668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8" name="Footer Placeholder 10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Recursion</a:t>
            </a:r>
          </a:p>
        </p:txBody>
      </p:sp>
    </p:spTree>
    <p:extLst>
      <p:ext uri="{BB962C8B-B14F-4D97-AF65-F5344CB8AC3E}">
        <p14:creationId xmlns:p14="http://schemas.microsoft.com/office/powerpoint/2010/main" val="11931825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>
  <p:cSld name="Title and Tex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04800"/>
            <a:ext cx="77724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838200" y="1905000"/>
            <a:ext cx="7772400" cy="1981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8200" y="4038600"/>
            <a:ext cx="7772400" cy="1981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smtClean="0"/>
              <a:t>© 2014 Goodrich, Tamassia, Goldwasser</a:t>
            </a:r>
            <a:endParaRPr lang="en-US"/>
          </a:p>
        </p:txBody>
      </p:sp>
      <p:sp>
        <p:nvSpPr>
          <p:cNvPr id="6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77BA0EA7-88D8-2D41-813F-82B9F5558C8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Recursion</a:t>
            </a:r>
          </a:p>
        </p:txBody>
      </p:sp>
    </p:spTree>
    <p:extLst>
      <p:ext uri="{BB962C8B-B14F-4D97-AF65-F5344CB8AC3E}">
        <p14:creationId xmlns:p14="http://schemas.microsoft.com/office/powerpoint/2010/main" val="26222058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1032" name="Group 3"/>
            <p:cNvGrpSpPr>
              <a:grpSpLocks/>
            </p:cNvGrpSpPr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grpSp>
            <p:nvGrpSpPr>
              <p:cNvPr id="1039" name="Group 4"/>
              <p:cNvGrpSpPr>
                <a:grpSpLocks/>
              </p:cNvGrpSpPr>
              <p:nvPr/>
            </p:nvGrpSpPr>
            <p:grpSpPr bwMode="auto">
              <a:xfrm>
                <a:off x="0" y="192"/>
                <a:ext cx="5760" cy="4032"/>
                <a:chOff x="0" y="192"/>
                <a:chExt cx="5760" cy="4032"/>
              </a:xfrm>
            </p:grpSpPr>
            <p:sp>
              <p:nvSpPr>
                <p:cNvPr id="1070" name="Line 5"/>
                <p:cNvSpPr>
                  <a:spLocks noChangeShapeType="1"/>
                </p:cNvSpPr>
                <p:nvPr/>
              </p:nvSpPr>
              <p:spPr bwMode="white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1" name="Line 6"/>
                <p:cNvSpPr>
                  <a:spLocks noChangeShapeType="1"/>
                </p:cNvSpPr>
                <p:nvPr/>
              </p:nvSpPr>
              <p:spPr bwMode="white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2" name="Line 7"/>
                <p:cNvSpPr>
                  <a:spLocks noChangeShapeType="1"/>
                </p:cNvSpPr>
                <p:nvPr/>
              </p:nvSpPr>
              <p:spPr bwMode="white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3" name="Line 8"/>
                <p:cNvSpPr>
                  <a:spLocks noChangeShapeType="1"/>
                </p:cNvSpPr>
                <p:nvPr/>
              </p:nvSpPr>
              <p:spPr bwMode="white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4" name="Line 9"/>
                <p:cNvSpPr>
                  <a:spLocks noChangeShapeType="1"/>
                </p:cNvSpPr>
                <p:nvPr/>
              </p:nvSpPr>
              <p:spPr bwMode="white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5" name="Line 10"/>
                <p:cNvSpPr>
                  <a:spLocks noChangeShapeType="1"/>
                </p:cNvSpPr>
                <p:nvPr/>
              </p:nvSpPr>
              <p:spPr bwMode="white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6" name="Line 11"/>
                <p:cNvSpPr>
                  <a:spLocks noChangeShapeType="1"/>
                </p:cNvSpPr>
                <p:nvPr/>
              </p:nvSpPr>
              <p:spPr bwMode="white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7" name="Line 12"/>
                <p:cNvSpPr>
                  <a:spLocks noChangeShapeType="1"/>
                </p:cNvSpPr>
                <p:nvPr/>
              </p:nvSpPr>
              <p:spPr bwMode="white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8" name="Line 13"/>
                <p:cNvSpPr>
                  <a:spLocks noChangeShapeType="1"/>
                </p:cNvSpPr>
                <p:nvPr/>
              </p:nvSpPr>
              <p:spPr bwMode="white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9" name="Line 14"/>
                <p:cNvSpPr>
                  <a:spLocks noChangeShapeType="1"/>
                </p:cNvSpPr>
                <p:nvPr/>
              </p:nvSpPr>
              <p:spPr bwMode="white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0" name="Line 15"/>
                <p:cNvSpPr>
                  <a:spLocks noChangeShapeType="1"/>
                </p:cNvSpPr>
                <p:nvPr/>
              </p:nvSpPr>
              <p:spPr bwMode="white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1" name="Line 16"/>
                <p:cNvSpPr>
                  <a:spLocks noChangeShapeType="1"/>
                </p:cNvSpPr>
                <p:nvPr/>
              </p:nvSpPr>
              <p:spPr bwMode="white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2" name="Line 17"/>
                <p:cNvSpPr>
                  <a:spLocks noChangeShapeType="1"/>
                </p:cNvSpPr>
                <p:nvPr/>
              </p:nvSpPr>
              <p:spPr bwMode="white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3" name="Line 18"/>
                <p:cNvSpPr>
                  <a:spLocks noChangeShapeType="1"/>
                </p:cNvSpPr>
                <p:nvPr/>
              </p:nvSpPr>
              <p:spPr bwMode="white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4" name="Line 19"/>
                <p:cNvSpPr>
                  <a:spLocks noChangeShapeType="1"/>
                </p:cNvSpPr>
                <p:nvPr/>
              </p:nvSpPr>
              <p:spPr bwMode="white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5" name="Line 20"/>
                <p:cNvSpPr>
                  <a:spLocks noChangeShapeType="1"/>
                </p:cNvSpPr>
                <p:nvPr/>
              </p:nvSpPr>
              <p:spPr bwMode="white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6" name="Line 21"/>
                <p:cNvSpPr>
                  <a:spLocks noChangeShapeType="1"/>
                </p:cNvSpPr>
                <p:nvPr/>
              </p:nvSpPr>
              <p:spPr bwMode="white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7" name="Line 22"/>
                <p:cNvSpPr>
                  <a:spLocks noChangeShapeType="1"/>
                </p:cNvSpPr>
                <p:nvPr/>
              </p:nvSpPr>
              <p:spPr bwMode="white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8" name="Line 23"/>
                <p:cNvSpPr>
                  <a:spLocks noChangeShapeType="1"/>
                </p:cNvSpPr>
                <p:nvPr/>
              </p:nvSpPr>
              <p:spPr bwMode="white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9" name="Line 24"/>
                <p:cNvSpPr>
                  <a:spLocks noChangeShapeType="1"/>
                </p:cNvSpPr>
                <p:nvPr/>
              </p:nvSpPr>
              <p:spPr bwMode="white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90" name="Line 25"/>
                <p:cNvSpPr>
                  <a:spLocks noChangeShapeType="1"/>
                </p:cNvSpPr>
                <p:nvPr/>
              </p:nvSpPr>
              <p:spPr bwMode="white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91" name="Line 26"/>
                <p:cNvSpPr>
                  <a:spLocks noChangeShapeType="1"/>
                </p:cNvSpPr>
                <p:nvPr/>
              </p:nvSpPr>
              <p:spPr bwMode="white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040" name="Group 27"/>
              <p:cNvGrpSpPr>
                <a:grpSpLocks/>
              </p:cNvGrpSpPr>
              <p:nvPr/>
            </p:nvGrpSpPr>
            <p:grpSpPr bwMode="auto">
              <a:xfrm>
                <a:off x="192" y="0"/>
                <a:ext cx="5376" cy="4320"/>
                <a:chOff x="192" y="0"/>
                <a:chExt cx="5376" cy="4320"/>
              </a:xfrm>
            </p:grpSpPr>
            <p:sp>
              <p:nvSpPr>
                <p:cNvPr id="1041" name="Line 28"/>
                <p:cNvSpPr>
                  <a:spLocks noChangeShapeType="1"/>
                </p:cNvSpPr>
                <p:nvPr/>
              </p:nvSpPr>
              <p:spPr bwMode="white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2" name="Line 29"/>
                <p:cNvSpPr>
                  <a:spLocks noChangeShapeType="1"/>
                </p:cNvSpPr>
                <p:nvPr/>
              </p:nvSpPr>
              <p:spPr bwMode="white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3" name="Line 30"/>
                <p:cNvSpPr>
                  <a:spLocks noChangeShapeType="1"/>
                </p:cNvSpPr>
                <p:nvPr/>
              </p:nvSpPr>
              <p:spPr bwMode="white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4" name="Line 31"/>
                <p:cNvSpPr>
                  <a:spLocks noChangeShapeType="1"/>
                </p:cNvSpPr>
                <p:nvPr/>
              </p:nvSpPr>
              <p:spPr bwMode="white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5" name="Line 32"/>
                <p:cNvSpPr>
                  <a:spLocks noChangeShapeType="1"/>
                </p:cNvSpPr>
                <p:nvPr/>
              </p:nvSpPr>
              <p:spPr bwMode="white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6" name="Line 33"/>
                <p:cNvSpPr>
                  <a:spLocks noChangeShapeType="1"/>
                </p:cNvSpPr>
                <p:nvPr/>
              </p:nvSpPr>
              <p:spPr bwMode="white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7" name="Line 34"/>
                <p:cNvSpPr>
                  <a:spLocks noChangeShapeType="1"/>
                </p:cNvSpPr>
                <p:nvPr/>
              </p:nvSpPr>
              <p:spPr bwMode="white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8" name="Line 35"/>
                <p:cNvSpPr>
                  <a:spLocks noChangeShapeType="1"/>
                </p:cNvSpPr>
                <p:nvPr/>
              </p:nvSpPr>
              <p:spPr bwMode="white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9" name="Line 36"/>
                <p:cNvSpPr>
                  <a:spLocks noChangeShapeType="1"/>
                </p:cNvSpPr>
                <p:nvPr/>
              </p:nvSpPr>
              <p:spPr bwMode="white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0" name="Line 37"/>
                <p:cNvSpPr>
                  <a:spLocks noChangeShapeType="1"/>
                </p:cNvSpPr>
                <p:nvPr/>
              </p:nvSpPr>
              <p:spPr bwMode="white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1" name="Line 38"/>
                <p:cNvSpPr>
                  <a:spLocks noChangeShapeType="1"/>
                </p:cNvSpPr>
                <p:nvPr/>
              </p:nvSpPr>
              <p:spPr bwMode="white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2" name="Line 39"/>
                <p:cNvSpPr>
                  <a:spLocks noChangeShapeType="1"/>
                </p:cNvSpPr>
                <p:nvPr/>
              </p:nvSpPr>
              <p:spPr bwMode="white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3" name="Line 40"/>
                <p:cNvSpPr>
                  <a:spLocks noChangeShapeType="1"/>
                </p:cNvSpPr>
                <p:nvPr/>
              </p:nvSpPr>
              <p:spPr bwMode="white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4" name="Line 41"/>
                <p:cNvSpPr>
                  <a:spLocks noChangeShapeType="1"/>
                </p:cNvSpPr>
                <p:nvPr/>
              </p:nvSpPr>
              <p:spPr bwMode="white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5" name="Line 42"/>
                <p:cNvSpPr>
                  <a:spLocks noChangeShapeType="1"/>
                </p:cNvSpPr>
                <p:nvPr/>
              </p:nvSpPr>
              <p:spPr bwMode="white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6" name="Line 43"/>
                <p:cNvSpPr>
                  <a:spLocks noChangeShapeType="1"/>
                </p:cNvSpPr>
                <p:nvPr/>
              </p:nvSpPr>
              <p:spPr bwMode="white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7" name="Line 44"/>
                <p:cNvSpPr>
                  <a:spLocks noChangeShapeType="1"/>
                </p:cNvSpPr>
                <p:nvPr/>
              </p:nvSpPr>
              <p:spPr bwMode="white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8" name="Line 45"/>
                <p:cNvSpPr>
                  <a:spLocks noChangeShapeType="1"/>
                </p:cNvSpPr>
                <p:nvPr/>
              </p:nvSpPr>
              <p:spPr bwMode="white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9" name="Line 46"/>
                <p:cNvSpPr>
                  <a:spLocks noChangeShapeType="1"/>
                </p:cNvSpPr>
                <p:nvPr/>
              </p:nvSpPr>
              <p:spPr bwMode="white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0" name="Line 47"/>
                <p:cNvSpPr>
                  <a:spLocks noChangeShapeType="1"/>
                </p:cNvSpPr>
                <p:nvPr/>
              </p:nvSpPr>
              <p:spPr bwMode="white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1" name="Line 48"/>
                <p:cNvSpPr>
                  <a:spLocks noChangeShapeType="1"/>
                </p:cNvSpPr>
                <p:nvPr/>
              </p:nvSpPr>
              <p:spPr bwMode="white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2" name="Line 49"/>
                <p:cNvSpPr>
                  <a:spLocks noChangeShapeType="1"/>
                </p:cNvSpPr>
                <p:nvPr/>
              </p:nvSpPr>
              <p:spPr bwMode="white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3" name="Line 50"/>
                <p:cNvSpPr>
                  <a:spLocks noChangeShapeType="1"/>
                </p:cNvSpPr>
                <p:nvPr/>
              </p:nvSpPr>
              <p:spPr bwMode="white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4" name="Line 51"/>
                <p:cNvSpPr>
                  <a:spLocks noChangeShapeType="1"/>
                </p:cNvSpPr>
                <p:nvPr/>
              </p:nvSpPr>
              <p:spPr bwMode="white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5" name="Line 52"/>
                <p:cNvSpPr>
                  <a:spLocks noChangeShapeType="1"/>
                </p:cNvSpPr>
                <p:nvPr/>
              </p:nvSpPr>
              <p:spPr bwMode="white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6" name="Line 53"/>
                <p:cNvSpPr>
                  <a:spLocks noChangeShapeType="1"/>
                </p:cNvSpPr>
                <p:nvPr/>
              </p:nvSpPr>
              <p:spPr bwMode="white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7" name="Line 54"/>
                <p:cNvSpPr>
                  <a:spLocks noChangeShapeType="1"/>
                </p:cNvSpPr>
                <p:nvPr/>
              </p:nvSpPr>
              <p:spPr bwMode="white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8" name="Line 55"/>
                <p:cNvSpPr>
                  <a:spLocks noChangeShapeType="1"/>
                </p:cNvSpPr>
                <p:nvPr/>
              </p:nvSpPr>
              <p:spPr bwMode="white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9" name="Line 56"/>
                <p:cNvSpPr>
                  <a:spLocks noChangeShapeType="1"/>
                </p:cNvSpPr>
                <p:nvPr/>
              </p:nvSpPr>
              <p:spPr bwMode="white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sp>
          <p:nvSpPr>
            <p:cNvPr id="1033" name="Rectangle 57" descr="60%"/>
            <p:cNvSpPr>
              <a:spLocks noChangeArrowheads="1"/>
            </p:cNvSpPr>
            <p:nvPr/>
          </p:nvSpPr>
          <p:spPr bwMode="ltGray">
            <a:xfrm>
              <a:off x="2112" y="0"/>
              <a:ext cx="3648" cy="96"/>
            </a:xfrm>
            <a:prstGeom prst="rect">
              <a:avLst/>
            </a:prstGeom>
            <a:pattFill prst="pct60">
              <a:fgClr>
                <a:schemeClr val="folHlink"/>
              </a:fgClr>
              <a:bgClr>
                <a:schemeClr val="bg1"/>
              </a:bgClr>
            </a:patt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34" name="Line 58"/>
            <p:cNvSpPr>
              <a:spLocks noChangeShapeType="1"/>
            </p:cNvSpPr>
            <p:nvPr/>
          </p:nvSpPr>
          <p:spPr bwMode="ltGray">
            <a:xfrm>
              <a:off x="5568" y="0"/>
              <a:ext cx="0" cy="1488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035" name="Group 59"/>
            <p:cNvGrpSpPr>
              <a:grpSpLocks/>
            </p:cNvGrpSpPr>
            <p:nvPr/>
          </p:nvGrpSpPr>
          <p:grpSpPr bwMode="auto">
            <a:xfrm>
              <a:off x="261" y="892"/>
              <a:ext cx="1124" cy="1464"/>
              <a:chOff x="96" y="916"/>
              <a:chExt cx="2208" cy="2876"/>
            </a:xfrm>
          </p:grpSpPr>
          <p:sp>
            <p:nvSpPr>
              <p:cNvPr id="1036" name="Line 60"/>
              <p:cNvSpPr>
                <a:spLocks noChangeShapeType="1"/>
              </p:cNvSpPr>
              <p:nvPr/>
            </p:nvSpPr>
            <p:spPr bwMode="ltGray">
              <a:xfrm flipH="1">
                <a:off x="96" y="1038"/>
                <a:ext cx="22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37" name="Line 61"/>
              <p:cNvSpPr>
                <a:spLocks noChangeShapeType="1"/>
              </p:cNvSpPr>
              <p:nvPr/>
            </p:nvSpPr>
            <p:spPr bwMode="ltGray">
              <a:xfrm>
                <a:off x="336" y="920"/>
                <a:ext cx="0" cy="287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38" name="Arc 62"/>
              <p:cNvSpPr>
                <a:spLocks/>
              </p:cNvSpPr>
              <p:nvPr/>
            </p:nvSpPr>
            <p:spPr bwMode="ltGray">
              <a:xfrm flipH="1">
                <a:off x="218" y="916"/>
                <a:ext cx="238" cy="240"/>
              </a:xfrm>
              <a:custGeom>
                <a:avLst/>
                <a:gdLst>
                  <a:gd name="T0" fmla="*/ 116 w 43195"/>
                  <a:gd name="T1" fmla="*/ 0 h 43200"/>
                  <a:gd name="T2" fmla="*/ 0 w 43195"/>
                  <a:gd name="T3" fmla="*/ 123 h 43200"/>
                  <a:gd name="T4" fmla="*/ 119 w 43195"/>
                  <a:gd name="T5" fmla="*/ 120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sp>
        <p:nvSpPr>
          <p:cNvPr id="1027" name="Rectangle 63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3048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8" name="Rectangle 64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9050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161" name="Rectangle 6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52400" y="6248400"/>
            <a:ext cx="3429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 smtClean="0">
                <a:cs typeface="+mn-cs"/>
              </a:defRPr>
            </a:lvl1pPr>
          </a:lstStyle>
          <a:p>
            <a:pPr>
              <a:defRPr/>
            </a:pPr>
            <a:r>
              <a:rPr lang="en-US" smtClean="0"/>
              <a:t>© 2014 Goodrich, Tamassia, Goldwasser</a:t>
            </a:r>
            <a:endParaRPr lang="en-US" dirty="0"/>
          </a:p>
        </p:txBody>
      </p:sp>
      <p:sp>
        <p:nvSpPr>
          <p:cNvPr id="4162" name="Rectangle 6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400" smtClean="0">
                <a:latin typeface="Tahoma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Recursion</a:t>
            </a:r>
          </a:p>
        </p:txBody>
      </p:sp>
      <p:sp>
        <p:nvSpPr>
          <p:cNvPr id="4163" name="Rectangle 6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 smtClean="0">
                <a:cs typeface="+mn-cs"/>
              </a:defRPr>
            </a:lvl1pPr>
          </a:lstStyle>
          <a:p>
            <a:pPr>
              <a:defRPr/>
            </a:pPr>
            <a:fld id="{8E9F77E2-AF0F-354D-8C3E-6773C5FBF5E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</p:sldLayoutIdLst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charset="0"/>
          <a:cs typeface="ＭＳ Ｐゴシック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ＭＳ Ｐゴシック" charset="0"/>
          <a:cs typeface="ＭＳ Ｐゴシック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ＭＳ Ｐゴシック" charset="0"/>
          <a:cs typeface="ＭＳ Ｐゴシック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ＭＳ Ｐゴシック" charset="0"/>
          <a:cs typeface="ＭＳ Ｐゴシック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ＭＳ Ｐゴシック" charset="0"/>
          <a:cs typeface="ＭＳ Ｐゴシック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charset="0"/>
        <a:buChar char="q"/>
        <a:defRPr sz="32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charset="0"/>
        <a:buChar char="n"/>
        <a:defRPr sz="2800">
          <a:solidFill>
            <a:schemeClr val="tx1"/>
          </a:solidFill>
          <a:latin typeface="+mn-lt"/>
          <a:ea typeface="ＭＳ Ｐゴシック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charset="0"/>
        <a:buChar char="w"/>
        <a:defRPr sz="2400">
          <a:solidFill>
            <a:schemeClr val="tx1"/>
          </a:solidFill>
          <a:latin typeface="+mn-lt"/>
          <a:ea typeface="ＭＳ Ｐゴシック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charset="0"/>
        <a:buChar char="n"/>
        <a:defRPr sz="2000">
          <a:solidFill>
            <a:schemeClr val="tx1"/>
          </a:solidFill>
          <a:latin typeface="+mn-lt"/>
          <a:ea typeface="ＭＳ Ｐゴシック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charset="0"/>
        <a:buChar char="n"/>
        <a:defRPr sz="2000">
          <a:solidFill>
            <a:schemeClr val="tx1"/>
          </a:solidFill>
          <a:latin typeface="+mn-lt"/>
          <a:ea typeface="ＭＳ Ｐゴシック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3.png"/><Relationship Id="rId4" Type="http://schemas.openxmlformats.org/officeDocument/2006/relationships/image" Target="../media/image2.wmf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Rectangle 70"/>
          <p:cNvSpPr>
            <a:spLocks noGrp="1" noChangeArrowheads="1"/>
          </p:cNvSpPr>
          <p:nvPr>
            <p:ph type="ftr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/>
              <a:t>Recursion</a:t>
            </a:r>
          </a:p>
        </p:txBody>
      </p:sp>
      <p:sp>
        <p:nvSpPr>
          <p:cNvPr id="10242" name="Rectangle 71"/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fld id="{9E677CCB-42E9-614B-8ED6-0664A1DF3EC0}" type="slidenum">
              <a:rPr lang="en-US" sz="1400"/>
              <a:pPr eaLnBrk="1" hangingPunct="1"/>
              <a:t>1</a:t>
            </a:fld>
            <a:endParaRPr lang="en-US" sz="1400"/>
          </a:p>
        </p:txBody>
      </p:sp>
      <p:sp>
        <p:nvSpPr>
          <p:cNvPr id="10243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1676400"/>
            <a:ext cx="7772400" cy="1143000"/>
          </a:xfrm>
        </p:spPr>
        <p:txBody>
          <a:bodyPr/>
          <a:lstStyle/>
          <a:p>
            <a:pPr eaLnBrk="1" hangingPunct="1"/>
            <a:r>
              <a:rPr lang="en-US">
                <a:latin typeface="Tahoma" charset="0"/>
              </a:rPr>
              <a:t>Recursion</a:t>
            </a:r>
          </a:p>
        </p:txBody>
      </p:sp>
      <p:pic>
        <p:nvPicPr>
          <p:cNvPr id="10244" name="Picture 252" descr="BD05515_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8438" y="2514600"/>
            <a:ext cx="2622550" cy="281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45" name="Date Placeholder 5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 smtClean="0"/>
              <a:t>© 2014 Goodrich, Tamassia, Goldwasser</a:t>
            </a:r>
            <a:endParaRPr lang="en-US" sz="1400"/>
          </a:p>
        </p:txBody>
      </p:sp>
      <p:sp>
        <p:nvSpPr>
          <p:cNvPr id="7" name="Subtitle 1"/>
          <p:cNvSpPr>
            <a:spLocks noGrp="1"/>
          </p:cNvSpPr>
          <p:nvPr>
            <p:ph type="subTitle" idx="1"/>
          </p:nvPr>
        </p:nvSpPr>
        <p:spPr>
          <a:xfrm>
            <a:off x="914400" y="381000"/>
            <a:ext cx="6629400" cy="990600"/>
          </a:xfrm>
        </p:spPr>
        <p:txBody>
          <a:bodyPr>
            <a:normAutofit/>
          </a:bodyPr>
          <a:lstStyle/>
          <a:p>
            <a:r>
              <a:rPr lang="en-US" sz="1800" dirty="0" smtClean="0"/>
              <a:t>Presentation for use with the textbook </a:t>
            </a:r>
            <a:r>
              <a:rPr lang="en-US" sz="1800" dirty="0" smtClean="0">
                <a:solidFill>
                  <a:schemeClr val="tx2"/>
                </a:solidFill>
              </a:rPr>
              <a:t>Data Structures and Algorithms in Java, 6</a:t>
            </a:r>
            <a:r>
              <a:rPr lang="en-US" sz="1800" baseline="30000" dirty="0" smtClean="0">
                <a:solidFill>
                  <a:schemeClr val="tx2"/>
                </a:solidFill>
              </a:rPr>
              <a:t>th</a:t>
            </a:r>
            <a:r>
              <a:rPr lang="en-US" sz="1800" dirty="0" smtClean="0">
                <a:solidFill>
                  <a:schemeClr val="tx2"/>
                </a:solidFill>
              </a:rPr>
              <a:t> edition</a:t>
            </a:r>
            <a:r>
              <a:rPr lang="en-US" sz="1800" dirty="0" smtClean="0"/>
              <a:t>, by M. T. Goodrich, R. Tamassia, and M. H. Goldwasser, Wiley, 2014</a:t>
            </a:r>
            <a:endParaRPr 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Footer Placeholder 5"/>
          <p:cNvSpPr>
            <a:spLocks noGrp="1"/>
          </p:cNvSpPr>
          <p:nvPr>
            <p:ph type="ftr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/>
              <a:t>Recursion</a:t>
            </a:r>
          </a:p>
        </p:txBody>
      </p:sp>
      <p:sp>
        <p:nvSpPr>
          <p:cNvPr id="12290" name="Slide Number Placeholder 6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fld id="{8A9CF3F0-E475-6C44-8B5A-F065EBEF5143}" type="slidenum">
              <a:rPr lang="en-US" sz="1400"/>
              <a:pPr eaLnBrk="1" hangingPunct="1"/>
              <a:t>2</a:t>
            </a:fld>
            <a:endParaRPr lang="en-US" sz="1400"/>
          </a:p>
        </p:txBody>
      </p:sp>
      <p:sp>
        <p:nvSpPr>
          <p:cNvPr id="12291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229600" cy="1143000"/>
          </a:xfrm>
        </p:spPr>
        <p:txBody>
          <a:bodyPr/>
          <a:lstStyle/>
          <a:p>
            <a:pPr eaLnBrk="1" hangingPunct="1"/>
            <a:r>
              <a:rPr lang="en-US" sz="4000" dirty="0">
                <a:latin typeface="Tahoma" charset="0"/>
              </a:rPr>
              <a:t>The Recursion Pattern</a:t>
            </a:r>
            <a:endParaRPr lang="en-US" sz="4000" dirty="0">
              <a:latin typeface="Tahoma" charset="0"/>
              <a:cs typeface="Tahoma" charset="0"/>
            </a:endParaRPr>
          </a:p>
        </p:txBody>
      </p:sp>
      <p:sp>
        <p:nvSpPr>
          <p:cNvPr id="12292" name="Rectangle 44" descr="Rectangle: Click to edit Master text styles&#10;Second level&#10;Third level&#10;Fourth level&#10;Fifth level"/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524000"/>
            <a:ext cx="7772400" cy="48006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sz="2400" dirty="0">
                <a:solidFill>
                  <a:schemeClr val="tx2"/>
                </a:solidFill>
                <a:latin typeface="Tahoma" charset="0"/>
              </a:rPr>
              <a:t>Recursion</a:t>
            </a:r>
            <a:r>
              <a:rPr lang="en-US" sz="2400" dirty="0">
                <a:latin typeface="Tahoma" charset="0"/>
              </a:rPr>
              <a:t>: when a method calls itself</a:t>
            </a:r>
          </a:p>
          <a:p>
            <a:pPr eaLnBrk="1" hangingPunct="1">
              <a:lnSpc>
                <a:spcPct val="80000"/>
              </a:lnSpc>
            </a:pPr>
            <a:r>
              <a:rPr lang="en-US" sz="2400" dirty="0">
                <a:latin typeface="Tahoma" charset="0"/>
              </a:rPr>
              <a:t>Classic </a:t>
            </a:r>
            <a:r>
              <a:rPr lang="en-US" sz="2400" dirty="0" smtClean="0">
                <a:latin typeface="Tahoma" charset="0"/>
              </a:rPr>
              <a:t>example</a:t>
            </a:r>
            <a:r>
              <a:rPr lang="en-US" sz="2400" i="1" dirty="0">
                <a:latin typeface="Tahoma" charset="0"/>
              </a:rPr>
              <a:t> </a:t>
            </a:r>
            <a:r>
              <a:rPr lang="en-US" sz="2400" i="1" dirty="0" smtClean="0">
                <a:latin typeface="Tahoma" charset="0"/>
              </a:rPr>
              <a:t>– </a:t>
            </a:r>
            <a:r>
              <a:rPr lang="en-US" sz="2400" dirty="0" smtClean="0">
                <a:latin typeface="Tahoma" charset="0"/>
              </a:rPr>
              <a:t>the factorial function: </a:t>
            </a:r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en-US" sz="2400" dirty="0">
                <a:latin typeface="Tahoma" charset="0"/>
              </a:rPr>
              <a:t>	</a:t>
            </a:r>
            <a:r>
              <a:rPr lang="en-US" sz="2400" dirty="0" smtClean="0">
                <a:latin typeface="Tahoma" charset="0"/>
              </a:rPr>
              <a:t>	n</a:t>
            </a:r>
            <a:r>
              <a:rPr lang="en-US" sz="2400" dirty="0">
                <a:latin typeface="Tahoma" charset="0"/>
              </a:rPr>
              <a:t>! = 1</a:t>
            </a:r>
            <a:r>
              <a:rPr lang="en-US" sz="2400" dirty="0">
                <a:latin typeface="Tahoma" charset="0"/>
                <a:cs typeface="Tahoma" charset="0"/>
              </a:rPr>
              <a:t>· </a:t>
            </a:r>
            <a:r>
              <a:rPr lang="en-US" sz="2400" dirty="0">
                <a:latin typeface="Tahoma" charset="0"/>
              </a:rPr>
              <a:t>2</a:t>
            </a:r>
            <a:r>
              <a:rPr lang="en-US" sz="2400" dirty="0">
                <a:latin typeface="Tahoma" charset="0"/>
                <a:cs typeface="Tahoma" charset="0"/>
              </a:rPr>
              <a:t>· </a:t>
            </a:r>
            <a:r>
              <a:rPr lang="en-US" sz="2400" dirty="0">
                <a:latin typeface="Tahoma" charset="0"/>
              </a:rPr>
              <a:t>3</a:t>
            </a:r>
            <a:r>
              <a:rPr lang="en-US" sz="2400" dirty="0">
                <a:latin typeface="Tahoma" charset="0"/>
                <a:cs typeface="Tahoma" charset="0"/>
              </a:rPr>
              <a:t>· ··· · </a:t>
            </a:r>
            <a:r>
              <a:rPr lang="en-US" sz="2400" dirty="0">
                <a:latin typeface="Tahoma" charset="0"/>
              </a:rPr>
              <a:t>(n-1)</a:t>
            </a:r>
            <a:r>
              <a:rPr lang="en-US" sz="2400" dirty="0">
                <a:latin typeface="Tahoma" charset="0"/>
                <a:cs typeface="Tahoma" charset="0"/>
              </a:rPr>
              <a:t>· </a:t>
            </a:r>
            <a:r>
              <a:rPr lang="en-US" sz="2400" dirty="0">
                <a:latin typeface="Tahoma" charset="0"/>
              </a:rPr>
              <a:t>n</a:t>
            </a:r>
          </a:p>
          <a:p>
            <a:pPr eaLnBrk="1" hangingPunct="1">
              <a:lnSpc>
                <a:spcPct val="80000"/>
              </a:lnSpc>
            </a:pPr>
            <a:r>
              <a:rPr lang="en-US" sz="2400" dirty="0">
                <a:latin typeface="Tahoma" charset="0"/>
                <a:cs typeface="Tahoma" charset="0"/>
              </a:rPr>
              <a:t>Recursive definition:</a:t>
            </a:r>
          </a:p>
          <a:p>
            <a:pPr marL="0" indent="0" eaLnBrk="1" hangingPunct="1">
              <a:lnSpc>
                <a:spcPct val="80000"/>
              </a:lnSpc>
              <a:buNone/>
            </a:pPr>
            <a:endParaRPr lang="en-US" sz="2400" dirty="0">
              <a:latin typeface="Tahoma" charset="0"/>
              <a:cs typeface="Tahoma" charset="0"/>
            </a:endParaRPr>
          </a:p>
          <a:p>
            <a:pPr eaLnBrk="1" hangingPunct="1">
              <a:lnSpc>
                <a:spcPct val="80000"/>
              </a:lnSpc>
            </a:pPr>
            <a:r>
              <a:rPr lang="en-US" sz="2400" dirty="0">
                <a:latin typeface="Tahoma" charset="0"/>
                <a:cs typeface="Tahoma" charset="0"/>
              </a:rPr>
              <a:t>As a </a:t>
            </a:r>
            <a:r>
              <a:rPr lang="en-US" sz="2400" dirty="0" smtClean="0">
                <a:latin typeface="Tahoma" charset="0"/>
                <a:cs typeface="Tahoma" charset="0"/>
              </a:rPr>
              <a:t>Java method</a:t>
            </a:r>
            <a:r>
              <a:rPr lang="en-US" sz="2400" dirty="0">
                <a:latin typeface="Tahoma" charset="0"/>
                <a:cs typeface="Tahoma" charset="0"/>
              </a:rPr>
              <a:t>:</a:t>
            </a:r>
          </a:p>
        </p:txBody>
      </p:sp>
      <p:graphicFrame>
        <p:nvGraphicFramePr>
          <p:cNvPr id="12293" name="Object 45"/>
          <p:cNvGraphicFramePr>
            <a:graphicFrameLocks noGrp="1" noChangeAspect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5395393"/>
              </p:ext>
            </p:extLst>
          </p:nvPr>
        </p:nvGraphicFramePr>
        <p:xfrm>
          <a:off x="3962400" y="2667000"/>
          <a:ext cx="355682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33" name="Equation" r:id="rId3" imgW="1778000" imgH="457200" progId="Equation.3">
                  <p:embed/>
                </p:oleObj>
              </mc:Choice>
              <mc:Fallback>
                <p:oleObj name="Equation" r:id="rId3" imgW="1778000" imgH="457200" progId="Equation.3">
                  <p:embed/>
                  <p:pic>
                    <p:nvPicPr>
                      <p:cNvPr id="0" name="Object 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2400" y="2667000"/>
                        <a:ext cx="355682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94" name="Date Placeholder 6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 smtClean="0"/>
              <a:t>© 2014 Goodrich, Tamassia, Goldwasser</a:t>
            </a:r>
            <a:endParaRPr lang="en-US" sz="14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4592" y="3886200"/>
            <a:ext cx="8234608" cy="2286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Footer Placeholder 4"/>
          <p:cNvSpPr>
            <a:spLocks noGrp="1"/>
          </p:cNvSpPr>
          <p:nvPr>
            <p:ph type="ftr" sz="quarter" idx="12"/>
          </p:nvPr>
        </p:nvSpPr>
        <p:spPr>
          <a:xfrm>
            <a:off x="152400" y="6248400"/>
            <a:ext cx="3429000" cy="457200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algn="l" eaLnBrk="1" hangingPunct="1"/>
            <a:r>
              <a:rPr lang="en-US" sz="1200" smtClean="0"/>
              <a:t>Recursion</a:t>
            </a:r>
            <a:endParaRPr lang="en-US" sz="1200"/>
          </a:p>
        </p:txBody>
      </p:sp>
      <p:sp>
        <p:nvSpPr>
          <p:cNvPr id="13314" name="Slide Number Placeholder 5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fld id="{1DA06153-850C-CF44-BF81-AF7DDB2B0BA8}" type="slidenum">
              <a:rPr lang="en-US" sz="1400" smtClean="0"/>
              <a:pPr eaLnBrk="1" hangingPunct="1"/>
              <a:t>3</a:t>
            </a:fld>
            <a:endParaRPr lang="en-US" sz="1400"/>
          </a:p>
        </p:txBody>
      </p:sp>
      <p:sp>
        <p:nvSpPr>
          <p:cNvPr id="13315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153400" cy="1143000"/>
          </a:xfrm>
        </p:spPr>
        <p:txBody>
          <a:bodyPr/>
          <a:lstStyle/>
          <a:p>
            <a:pPr eaLnBrk="1" hangingPunct="1"/>
            <a:r>
              <a:rPr lang="en-US" smtClean="0">
                <a:latin typeface="Tahoma" charset="0"/>
              </a:rPr>
              <a:t>Content of a Recursive Method</a:t>
            </a:r>
            <a:endParaRPr lang="en-US">
              <a:latin typeface="Tahoma" charset="0"/>
              <a:cs typeface="Tahoma" charset="0"/>
            </a:endParaRPr>
          </a:p>
        </p:txBody>
      </p:sp>
      <p:sp>
        <p:nvSpPr>
          <p:cNvPr id="13316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838200" y="1676400"/>
            <a:ext cx="7848600" cy="4724400"/>
          </a:xfrm>
        </p:spPr>
        <p:txBody>
          <a:bodyPr/>
          <a:lstStyle/>
          <a:p>
            <a:pPr eaLnBrk="1" hangingPunct="1"/>
            <a:r>
              <a:rPr lang="en-US" sz="2800" dirty="0" smtClean="0">
                <a:solidFill>
                  <a:srgbClr val="C00000"/>
                </a:solidFill>
                <a:latin typeface="Tahoma" charset="0"/>
              </a:rPr>
              <a:t>Base case(s)</a:t>
            </a:r>
            <a:endParaRPr lang="en-US" sz="2800" i="1" dirty="0" smtClean="0">
              <a:solidFill>
                <a:srgbClr val="C00000"/>
              </a:solidFill>
              <a:latin typeface="Tahoma" charset="0"/>
            </a:endParaRPr>
          </a:p>
          <a:p>
            <a:pPr lvl="1" eaLnBrk="1" hangingPunct="1"/>
            <a:r>
              <a:rPr lang="en-US" sz="2400" dirty="0" smtClean="0">
                <a:latin typeface="Tahoma" charset="0"/>
              </a:rPr>
              <a:t>Values of the input variables for which we perform no recursive calls are called </a:t>
            </a:r>
            <a:r>
              <a:rPr lang="en-US" sz="2400" dirty="0" smtClean="0">
                <a:solidFill>
                  <a:schemeClr val="tx2"/>
                </a:solidFill>
                <a:latin typeface="Tahoma" charset="0"/>
              </a:rPr>
              <a:t>base cases</a:t>
            </a:r>
            <a:r>
              <a:rPr lang="en-US" sz="2400" dirty="0" smtClean="0">
                <a:latin typeface="Tahoma" charset="0"/>
              </a:rPr>
              <a:t> (there should be at least one base case). </a:t>
            </a:r>
          </a:p>
          <a:p>
            <a:pPr lvl="1" eaLnBrk="1" hangingPunct="1"/>
            <a:r>
              <a:rPr lang="en-US" sz="2400" dirty="0" smtClean="0">
                <a:latin typeface="Tahoma" charset="0"/>
              </a:rPr>
              <a:t>Every possible chain of recursive calls </a:t>
            </a:r>
            <a:r>
              <a:rPr lang="en-US" sz="2400" dirty="0" smtClean="0">
                <a:solidFill>
                  <a:schemeClr val="tx2"/>
                </a:solidFill>
                <a:latin typeface="Tahoma" charset="0"/>
              </a:rPr>
              <a:t>must</a:t>
            </a:r>
            <a:r>
              <a:rPr lang="en-US" sz="2400" dirty="0" smtClean="0">
                <a:latin typeface="Tahoma" charset="0"/>
              </a:rPr>
              <a:t> eventually reach a base case.</a:t>
            </a:r>
          </a:p>
          <a:p>
            <a:pPr eaLnBrk="1" hangingPunct="1"/>
            <a:r>
              <a:rPr lang="en-US" sz="2800" dirty="0" smtClean="0">
                <a:solidFill>
                  <a:schemeClr val="tx2"/>
                </a:solidFill>
                <a:latin typeface="Tahoma" charset="0"/>
              </a:rPr>
              <a:t>Recursive calls</a:t>
            </a:r>
          </a:p>
          <a:p>
            <a:pPr lvl="1" eaLnBrk="1" hangingPunct="1"/>
            <a:r>
              <a:rPr lang="en-US" sz="2400" dirty="0" smtClean="0">
                <a:latin typeface="Tahoma" charset="0"/>
              </a:rPr>
              <a:t>Calls to the current method. </a:t>
            </a:r>
          </a:p>
          <a:p>
            <a:pPr lvl="1" eaLnBrk="1" hangingPunct="1"/>
            <a:r>
              <a:rPr lang="en-US" sz="2400" dirty="0" smtClean="0">
                <a:latin typeface="Tahoma" charset="0"/>
              </a:rPr>
              <a:t>Each recursive call should be defined so that it makes progress towards a base case.</a:t>
            </a:r>
            <a:endParaRPr lang="en-US" sz="2400" dirty="0">
              <a:latin typeface="Tahoma" charset="0"/>
            </a:endParaRPr>
          </a:p>
        </p:txBody>
      </p:sp>
      <p:sp>
        <p:nvSpPr>
          <p:cNvPr id="13317" name="Date Placeholder 6"/>
          <p:cNvSpPr>
            <a:spLocks noGrp="1"/>
          </p:cNvSpPr>
          <p:nvPr>
            <p:ph type="dt" sz="quarter" idx="10"/>
          </p:nvPr>
        </p:nvSpPr>
        <p:spPr>
          <a:xfrm>
            <a:off x="3124200" y="6248400"/>
            <a:ext cx="2895600" cy="457200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sz="1200" smtClean="0"/>
              <a:t>© 2014 Goodrich, Tamassia, Goldwasser</a:t>
            </a:r>
            <a:endParaRPr lang="en-US" sz="12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>
                <a:latin typeface="Tahoma" charset="0"/>
              </a:rPr>
              <a:t>Visualizing Recursion</a:t>
            </a:r>
          </a:p>
        </p:txBody>
      </p:sp>
      <p:sp>
        <p:nvSpPr>
          <p:cNvPr id="14338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sz="half" idx="1"/>
          </p:nvPr>
        </p:nvSpPr>
        <p:spPr>
          <a:xfrm>
            <a:off x="609600" y="1600200"/>
            <a:ext cx="3810000" cy="4114800"/>
          </a:xfrm>
        </p:spPr>
        <p:txBody>
          <a:bodyPr/>
          <a:lstStyle/>
          <a:p>
            <a:pPr eaLnBrk="1" hangingPunct="1"/>
            <a:r>
              <a:rPr lang="en-US" dirty="0">
                <a:solidFill>
                  <a:schemeClr val="tx2"/>
                </a:solidFill>
                <a:latin typeface="Tahoma" charset="0"/>
              </a:rPr>
              <a:t>Recursion trace</a:t>
            </a:r>
          </a:p>
          <a:p>
            <a:pPr lvl="1" eaLnBrk="1" hangingPunct="1"/>
            <a:r>
              <a:rPr lang="en-US" sz="2400" dirty="0">
                <a:latin typeface="Tahoma" charset="0"/>
              </a:rPr>
              <a:t>A box for each recursive call</a:t>
            </a:r>
          </a:p>
          <a:p>
            <a:pPr lvl="1" eaLnBrk="1" hangingPunct="1"/>
            <a:r>
              <a:rPr lang="en-US" sz="2400" dirty="0">
                <a:latin typeface="Tahoma" charset="0"/>
              </a:rPr>
              <a:t>An arrow from each caller to </a:t>
            </a:r>
            <a:r>
              <a:rPr lang="en-US" sz="2400" dirty="0" err="1">
                <a:latin typeface="Tahoma" charset="0"/>
              </a:rPr>
              <a:t>callee</a:t>
            </a:r>
            <a:endParaRPr lang="en-US" sz="2400" dirty="0">
              <a:latin typeface="Tahoma" charset="0"/>
            </a:endParaRPr>
          </a:p>
          <a:p>
            <a:pPr lvl="1" eaLnBrk="1" hangingPunct="1"/>
            <a:r>
              <a:rPr lang="en-US" sz="2400" dirty="0">
                <a:latin typeface="Tahoma" charset="0"/>
              </a:rPr>
              <a:t>An arrow from each </a:t>
            </a:r>
            <a:r>
              <a:rPr lang="en-US" sz="2400" dirty="0" err="1">
                <a:latin typeface="Tahoma" charset="0"/>
              </a:rPr>
              <a:t>callee</a:t>
            </a:r>
            <a:r>
              <a:rPr lang="en-US" sz="2400" dirty="0">
                <a:latin typeface="Tahoma" charset="0"/>
              </a:rPr>
              <a:t> to caller showing return value</a:t>
            </a:r>
          </a:p>
        </p:txBody>
      </p:sp>
      <p:sp>
        <p:nvSpPr>
          <p:cNvPr id="14339" name="Content Placeholder 101" descr="Rectangle: Click to edit Master text styles&#10;Second level&#10;Third level&#10;Fourth level&#10;Fifth level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191000" cy="1219200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  <a:latin typeface="Tahoma" charset="0"/>
              </a:rPr>
              <a:t>Example</a:t>
            </a:r>
          </a:p>
        </p:txBody>
      </p:sp>
      <p:sp>
        <p:nvSpPr>
          <p:cNvPr id="14340" name="Footer Placeholder 6"/>
          <p:cNvSpPr>
            <a:spLocks noGrp="1"/>
          </p:cNvSpPr>
          <p:nvPr>
            <p:ph type="ftr" sz="quarter" idx="12"/>
          </p:nvPr>
        </p:nvSpPr>
        <p:spPr>
          <a:xfrm>
            <a:off x="152400" y="6248400"/>
            <a:ext cx="3429000" cy="457200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algn="l" eaLnBrk="1" hangingPunct="1"/>
            <a:r>
              <a:rPr lang="en-US" sz="1200"/>
              <a:t>Recursion</a:t>
            </a:r>
          </a:p>
        </p:txBody>
      </p:sp>
      <p:sp>
        <p:nvSpPr>
          <p:cNvPr id="14341" name="Slide Number Placeholder 7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fld id="{D3F5127B-AF11-B54D-A4DD-560956A38095}" type="slidenum">
              <a:rPr lang="en-US" sz="1400"/>
              <a:pPr eaLnBrk="1" hangingPunct="1"/>
              <a:t>4</a:t>
            </a:fld>
            <a:endParaRPr lang="en-US" sz="1400"/>
          </a:p>
        </p:txBody>
      </p:sp>
      <p:grpSp>
        <p:nvGrpSpPr>
          <p:cNvPr id="14342" name="Group 11"/>
          <p:cNvGrpSpPr>
            <a:grpSpLocks noChangeAspect="1"/>
          </p:cNvGrpSpPr>
          <p:nvPr/>
        </p:nvGrpSpPr>
        <p:grpSpPr bwMode="auto">
          <a:xfrm>
            <a:off x="4114800" y="2362200"/>
            <a:ext cx="4757738" cy="3694113"/>
            <a:chOff x="2899" y="1511"/>
            <a:chExt cx="2690" cy="2089"/>
          </a:xfrm>
        </p:grpSpPr>
        <p:sp>
          <p:nvSpPr>
            <p:cNvPr id="14344" name="AutoShape 10"/>
            <p:cNvSpPr>
              <a:spLocks noChangeAspect="1" noChangeArrowheads="1" noTextEdit="1"/>
            </p:cNvSpPr>
            <p:nvPr/>
          </p:nvSpPr>
          <p:spPr bwMode="auto">
            <a:xfrm>
              <a:off x="2899" y="1511"/>
              <a:ext cx="2669" cy="20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45" name="Freeform 12"/>
            <p:cNvSpPr>
              <a:spLocks/>
            </p:cNvSpPr>
            <p:nvPr/>
          </p:nvSpPr>
          <p:spPr bwMode="auto">
            <a:xfrm>
              <a:off x="2910" y="1756"/>
              <a:ext cx="1018" cy="204"/>
            </a:xfrm>
            <a:custGeom>
              <a:avLst/>
              <a:gdLst>
                <a:gd name="T0" fmla="*/ 4 w 3840"/>
                <a:gd name="T1" fmla="*/ 14 h 768"/>
                <a:gd name="T2" fmla="*/ 68 w 3840"/>
                <a:gd name="T3" fmla="*/ 14 h 768"/>
                <a:gd name="T4" fmla="*/ 72 w 3840"/>
                <a:gd name="T5" fmla="*/ 11 h 768"/>
                <a:gd name="T6" fmla="*/ 72 w 3840"/>
                <a:gd name="T7" fmla="*/ 11 h 768"/>
                <a:gd name="T8" fmla="*/ 72 w 3840"/>
                <a:gd name="T9" fmla="*/ 4 h 768"/>
                <a:gd name="T10" fmla="*/ 68 w 3840"/>
                <a:gd name="T11" fmla="*/ 0 h 768"/>
                <a:gd name="T12" fmla="*/ 4 w 3840"/>
                <a:gd name="T13" fmla="*/ 0 h 768"/>
                <a:gd name="T14" fmla="*/ 0 w 3840"/>
                <a:gd name="T15" fmla="*/ 4 h 768"/>
                <a:gd name="T16" fmla="*/ 0 w 3840"/>
                <a:gd name="T17" fmla="*/ 4 h 768"/>
                <a:gd name="T18" fmla="*/ 0 w 3840"/>
                <a:gd name="T19" fmla="*/ 11 h 768"/>
                <a:gd name="T20" fmla="*/ 4 w 3840"/>
                <a:gd name="T21" fmla="*/ 14 h 768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3840"/>
                <a:gd name="T34" fmla="*/ 0 h 768"/>
                <a:gd name="T35" fmla="*/ 3840 w 3840"/>
                <a:gd name="T36" fmla="*/ 768 h 768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3840" h="768">
                  <a:moveTo>
                    <a:pt x="192" y="768"/>
                  </a:moveTo>
                  <a:lnTo>
                    <a:pt x="3648" y="768"/>
                  </a:lnTo>
                  <a:cubicBezTo>
                    <a:pt x="3754" y="768"/>
                    <a:pt x="3840" y="682"/>
                    <a:pt x="3840" y="576"/>
                  </a:cubicBezTo>
                  <a:cubicBezTo>
                    <a:pt x="3840" y="576"/>
                    <a:pt x="3840" y="576"/>
                    <a:pt x="3840" y="576"/>
                  </a:cubicBezTo>
                  <a:lnTo>
                    <a:pt x="3840" y="192"/>
                  </a:lnTo>
                  <a:cubicBezTo>
                    <a:pt x="3840" y="86"/>
                    <a:pt x="3754" y="0"/>
                    <a:pt x="3648" y="0"/>
                  </a:cubicBezTo>
                  <a:lnTo>
                    <a:pt x="192" y="0"/>
                  </a:lnTo>
                  <a:cubicBezTo>
                    <a:pt x="86" y="0"/>
                    <a:pt x="0" y="86"/>
                    <a:pt x="0" y="192"/>
                  </a:cubicBezTo>
                  <a:lnTo>
                    <a:pt x="0" y="576"/>
                  </a:lnTo>
                  <a:cubicBezTo>
                    <a:pt x="0" y="682"/>
                    <a:pt x="86" y="768"/>
                    <a:pt x="192" y="768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346" name="Freeform 13"/>
            <p:cNvSpPr>
              <a:spLocks/>
            </p:cNvSpPr>
            <p:nvPr/>
          </p:nvSpPr>
          <p:spPr bwMode="auto">
            <a:xfrm>
              <a:off x="2910" y="1756"/>
              <a:ext cx="1018" cy="204"/>
            </a:xfrm>
            <a:custGeom>
              <a:avLst/>
              <a:gdLst>
                <a:gd name="T0" fmla="*/ 4 w 3840"/>
                <a:gd name="T1" fmla="*/ 14 h 768"/>
                <a:gd name="T2" fmla="*/ 68 w 3840"/>
                <a:gd name="T3" fmla="*/ 14 h 768"/>
                <a:gd name="T4" fmla="*/ 72 w 3840"/>
                <a:gd name="T5" fmla="*/ 11 h 768"/>
                <a:gd name="T6" fmla="*/ 72 w 3840"/>
                <a:gd name="T7" fmla="*/ 11 h 768"/>
                <a:gd name="T8" fmla="*/ 72 w 3840"/>
                <a:gd name="T9" fmla="*/ 4 h 768"/>
                <a:gd name="T10" fmla="*/ 68 w 3840"/>
                <a:gd name="T11" fmla="*/ 0 h 768"/>
                <a:gd name="T12" fmla="*/ 4 w 3840"/>
                <a:gd name="T13" fmla="*/ 0 h 768"/>
                <a:gd name="T14" fmla="*/ 0 w 3840"/>
                <a:gd name="T15" fmla="*/ 4 h 768"/>
                <a:gd name="T16" fmla="*/ 0 w 3840"/>
                <a:gd name="T17" fmla="*/ 4 h 768"/>
                <a:gd name="T18" fmla="*/ 0 w 3840"/>
                <a:gd name="T19" fmla="*/ 11 h 768"/>
                <a:gd name="T20" fmla="*/ 4 w 3840"/>
                <a:gd name="T21" fmla="*/ 14 h 768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3840"/>
                <a:gd name="T34" fmla="*/ 0 h 768"/>
                <a:gd name="T35" fmla="*/ 3840 w 3840"/>
                <a:gd name="T36" fmla="*/ 768 h 768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3840" h="768">
                  <a:moveTo>
                    <a:pt x="192" y="768"/>
                  </a:moveTo>
                  <a:lnTo>
                    <a:pt x="3648" y="768"/>
                  </a:lnTo>
                  <a:cubicBezTo>
                    <a:pt x="3754" y="768"/>
                    <a:pt x="3840" y="682"/>
                    <a:pt x="3840" y="576"/>
                  </a:cubicBezTo>
                  <a:cubicBezTo>
                    <a:pt x="3840" y="576"/>
                    <a:pt x="3840" y="576"/>
                    <a:pt x="3840" y="576"/>
                  </a:cubicBezTo>
                  <a:lnTo>
                    <a:pt x="3840" y="192"/>
                  </a:lnTo>
                  <a:cubicBezTo>
                    <a:pt x="3840" y="86"/>
                    <a:pt x="3754" y="0"/>
                    <a:pt x="3648" y="0"/>
                  </a:cubicBezTo>
                  <a:lnTo>
                    <a:pt x="192" y="0"/>
                  </a:lnTo>
                  <a:cubicBezTo>
                    <a:pt x="86" y="0"/>
                    <a:pt x="0" y="86"/>
                    <a:pt x="0" y="192"/>
                  </a:cubicBezTo>
                  <a:lnTo>
                    <a:pt x="0" y="576"/>
                  </a:lnTo>
                  <a:cubicBezTo>
                    <a:pt x="0" y="682"/>
                    <a:pt x="86" y="768"/>
                    <a:pt x="192" y="768"/>
                  </a:cubicBez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47" name="Rectangle 14"/>
            <p:cNvSpPr>
              <a:spLocks noChangeArrowheads="1"/>
            </p:cNvSpPr>
            <p:nvPr/>
          </p:nvSpPr>
          <p:spPr bwMode="auto">
            <a:xfrm>
              <a:off x="2954" y="1796"/>
              <a:ext cx="883" cy="1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300" dirty="0" err="1">
                  <a:solidFill>
                    <a:srgbClr val="3366FF"/>
                  </a:solidFill>
                  <a:latin typeface="Arial" charset="0"/>
                </a:rPr>
                <a:t>recursiveFactorial</a:t>
              </a:r>
              <a:endParaRPr lang="en-US" dirty="0"/>
            </a:p>
          </p:txBody>
        </p:sp>
        <p:sp>
          <p:nvSpPr>
            <p:cNvPr id="14348" name="Rectangle 15"/>
            <p:cNvSpPr>
              <a:spLocks noChangeArrowheads="1"/>
            </p:cNvSpPr>
            <p:nvPr/>
          </p:nvSpPr>
          <p:spPr bwMode="auto">
            <a:xfrm>
              <a:off x="3756" y="1796"/>
              <a:ext cx="81" cy="1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300">
                  <a:solidFill>
                    <a:srgbClr val="3366FF"/>
                  </a:solidFill>
                  <a:latin typeface="Arial" charset="0"/>
                </a:rPr>
                <a:t>(</a:t>
              </a:r>
              <a:endParaRPr lang="en-US"/>
            </a:p>
          </p:txBody>
        </p:sp>
        <p:sp>
          <p:nvSpPr>
            <p:cNvPr id="14349" name="Rectangle 16"/>
            <p:cNvSpPr>
              <a:spLocks noChangeArrowheads="1"/>
            </p:cNvSpPr>
            <p:nvPr/>
          </p:nvSpPr>
          <p:spPr bwMode="auto">
            <a:xfrm>
              <a:off x="3790" y="1796"/>
              <a:ext cx="106" cy="1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300">
                  <a:solidFill>
                    <a:srgbClr val="3366FF"/>
                  </a:solidFill>
                  <a:latin typeface="Arial" charset="0"/>
                </a:rPr>
                <a:t>4</a:t>
              </a:r>
              <a:endParaRPr lang="en-US"/>
            </a:p>
          </p:txBody>
        </p:sp>
        <p:sp>
          <p:nvSpPr>
            <p:cNvPr id="14350" name="Rectangle 17"/>
            <p:cNvSpPr>
              <a:spLocks noChangeArrowheads="1"/>
            </p:cNvSpPr>
            <p:nvPr/>
          </p:nvSpPr>
          <p:spPr bwMode="auto">
            <a:xfrm>
              <a:off x="3850" y="1796"/>
              <a:ext cx="81" cy="1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300">
                  <a:solidFill>
                    <a:srgbClr val="3366FF"/>
                  </a:solidFill>
                  <a:latin typeface="Arial" charset="0"/>
                </a:rPr>
                <a:t>)</a:t>
              </a:r>
              <a:endParaRPr lang="en-US"/>
            </a:p>
          </p:txBody>
        </p:sp>
        <p:sp>
          <p:nvSpPr>
            <p:cNvPr id="14351" name="Line 18"/>
            <p:cNvSpPr>
              <a:spLocks noChangeShapeType="1"/>
            </p:cNvSpPr>
            <p:nvPr/>
          </p:nvSpPr>
          <p:spPr bwMode="auto">
            <a:xfrm>
              <a:off x="3470" y="1960"/>
              <a:ext cx="44" cy="177"/>
            </a:xfrm>
            <a:prstGeom prst="line">
              <a:avLst/>
            </a:prstGeom>
            <a:noFill/>
            <a:ln w="1588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52" name="Freeform 19"/>
            <p:cNvSpPr>
              <a:spLocks/>
            </p:cNvSpPr>
            <p:nvPr/>
          </p:nvSpPr>
          <p:spPr bwMode="auto">
            <a:xfrm>
              <a:off x="3498" y="2130"/>
              <a:ext cx="30" cy="34"/>
            </a:xfrm>
            <a:custGeom>
              <a:avLst/>
              <a:gdLst>
                <a:gd name="T0" fmla="*/ 30 w 30"/>
                <a:gd name="T1" fmla="*/ 0 h 34"/>
                <a:gd name="T2" fmla="*/ 23 w 30"/>
                <a:gd name="T3" fmla="*/ 34 h 34"/>
                <a:gd name="T4" fmla="*/ 0 w 30"/>
                <a:gd name="T5" fmla="*/ 7 h 34"/>
                <a:gd name="T6" fmla="*/ 30 w 30"/>
                <a:gd name="T7" fmla="*/ 0 h 3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0"/>
                <a:gd name="T13" fmla="*/ 0 h 34"/>
                <a:gd name="T14" fmla="*/ 30 w 30"/>
                <a:gd name="T15" fmla="*/ 34 h 3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0" h="34">
                  <a:moveTo>
                    <a:pt x="30" y="0"/>
                  </a:moveTo>
                  <a:lnTo>
                    <a:pt x="23" y="34"/>
                  </a:lnTo>
                  <a:lnTo>
                    <a:pt x="0" y="7"/>
                  </a:lnTo>
                  <a:lnTo>
                    <a:pt x="3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53" name="Freeform 20"/>
            <p:cNvSpPr>
              <a:spLocks/>
            </p:cNvSpPr>
            <p:nvPr/>
          </p:nvSpPr>
          <p:spPr bwMode="auto">
            <a:xfrm>
              <a:off x="3011" y="2164"/>
              <a:ext cx="1019" cy="203"/>
            </a:xfrm>
            <a:custGeom>
              <a:avLst/>
              <a:gdLst>
                <a:gd name="T0" fmla="*/ 4 w 3840"/>
                <a:gd name="T1" fmla="*/ 14 h 768"/>
                <a:gd name="T2" fmla="*/ 68 w 3840"/>
                <a:gd name="T3" fmla="*/ 14 h 768"/>
                <a:gd name="T4" fmla="*/ 72 w 3840"/>
                <a:gd name="T5" fmla="*/ 11 h 768"/>
                <a:gd name="T6" fmla="*/ 72 w 3840"/>
                <a:gd name="T7" fmla="*/ 11 h 768"/>
                <a:gd name="T8" fmla="*/ 72 w 3840"/>
                <a:gd name="T9" fmla="*/ 3 h 768"/>
                <a:gd name="T10" fmla="*/ 68 w 3840"/>
                <a:gd name="T11" fmla="*/ 0 h 768"/>
                <a:gd name="T12" fmla="*/ 4 w 3840"/>
                <a:gd name="T13" fmla="*/ 0 h 768"/>
                <a:gd name="T14" fmla="*/ 0 w 3840"/>
                <a:gd name="T15" fmla="*/ 3 h 768"/>
                <a:gd name="T16" fmla="*/ 0 w 3840"/>
                <a:gd name="T17" fmla="*/ 11 h 768"/>
                <a:gd name="T18" fmla="*/ 4 w 3840"/>
                <a:gd name="T19" fmla="*/ 14 h 768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3840"/>
                <a:gd name="T31" fmla="*/ 0 h 768"/>
                <a:gd name="T32" fmla="*/ 3840 w 3840"/>
                <a:gd name="T33" fmla="*/ 768 h 768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3840" h="768">
                  <a:moveTo>
                    <a:pt x="192" y="768"/>
                  </a:moveTo>
                  <a:lnTo>
                    <a:pt x="3648" y="768"/>
                  </a:lnTo>
                  <a:cubicBezTo>
                    <a:pt x="3754" y="768"/>
                    <a:pt x="3840" y="682"/>
                    <a:pt x="3840" y="576"/>
                  </a:cubicBezTo>
                  <a:cubicBezTo>
                    <a:pt x="3840" y="576"/>
                    <a:pt x="3840" y="576"/>
                    <a:pt x="3840" y="576"/>
                  </a:cubicBezTo>
                  <a:lnTo>
                    <a:pt x="3840" y="192"/>
                  </a:lnTo>
                  <a:cubicBezTo>
                    <a:pt x="3840" y="86"/>
                    <a:pt x="3754" y="0"/>
                    <a:pt x="3648" y="0"/>
                  </a:cubicBezTo>
                  <a:lnTo>
                    <a:pt x="192" y="0"/>
                  </a:lnTo>
                  <a:cubicBezTo>
                    <a:pt x="86" y="0"/>
                    <a:pt x="0" y="86"/>
                    <a:pt x="0" y="192"/>
                  </a:cubicBezTo>
                  <a:lnTo>
                    <a:pt x="0" y="576"/>
                  </a:lnTo>
                  <a:cubicBezTo>
                    <a:pt x="0" y="682"/>
                    <a:pt x="86" y="768"/>
                    <a:pt x="192" y="768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354" name="Freeform 21"/>
            <p:cNvSpPr>
              <a:spLocks/>
            </p:cNvSpPr>
            <p:nvPr/>
          </p:nvSpPr>
          <p:spPr bwMode="auto">
            <a:xfrm>
              <a:off x="3011" y="2164"/>
              <a:ext cx="1019" cy="203"/>
            </a:xfrm>
            <a:custGeom>
              <a:avLst/>
              <a:gdLst>
                <a:gd name="T0" fmla="*/ 4 w 3840"/>
                <a:gd name="T1" fmla="*/ 14 h 768"/>
                <a:gd name="T2" fmla="*/ 68 w 3840"/>
                <a:gd name="T3" fmla="*/ 14 h 768"/>
                <a:gd name="T4" fmla="*/ 72 w 3840"/>
                <a:gd name="T5" fmla="*/ 11 h 768"/>
                <a:gd name="T6" fmla="*/ 72 w 3840"/>
                <a:gd name="T7" fmla="*/ 11 h 768"/>
                <a:gd name="T8" fmla="*/ 72 w 3840"/>
                <a:gd name="T9" fmla="*/ 3 h 768"/>
                <a:gd name="T10" fmla="*/ 68 w 3840"/>
                <a:gd name="T11" fmla="*/ 0 h 768"/>
                <a:gd name="T12" fmla="*/ 4 w 3840"/>
                <a:gd name="T13" fmla="*/ 0 h 768"/>
                <a:gd name="T14" fmla="*/ 0 w 3840"/>
                <a:gd name="T15" fmla="*/ 3 h 768"/>
                <a:gd name="T16" fmla="*/ 0 w 3840"/>
                <a:gd name="T17" fmla="*/ 11 h 768"/>
                <a:gd name="T18" fmla="*/ 4 w 3840"/>
                <a:gd name="T19" fmla="*/ 14 h 768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3840"/>
                <a:gd name="T31" fmla="*/ 0 h 768"/>
                <a:gd name="T32" fmla="*/ 3840 w 3840"/>
                <a:gd name="T33" fmla="*/ 768 h 768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3840" h="768">
                  <a:moveTo>
                    <a:pt x="192" y="768"/>
                  </a:moveTo>
                  <a:lnTo>
                    <a:pt x="3648" y="768"/>
                  </a:lnTo>
                  <a:cubicBezTo>
                    <a:pt x="3754" y="768"/>
                    <a:pt x="3840" y="682"/>
                    <a:pt x="3840" y="576"/>
                  </a:cubicBezTo>
                  <a:cubicBezTo>
                    <a:pt x="3840" y="576"/>
                    <a:pt x="3840" y="576"/>
                    <a:pt x="3840" y="576"/>
                  </a:cubicBezTo>
                  <a:lnTo>
                    <a:pt x="3840" y="192"/>
                  </a:lnTo>
                  <a:cubicBezTo>
                    <a:pt x="3840" y="86"/>
                    <a:pt x="3754" y="0"/>
                    <a:pt x="3648" y="0"/>
                  </a:cubicBezTo>
                  <a:lnTo>
                    <a:pt x="192" y="0"/>
                  </a:lnTo>
                  <a:cubicBezTo>
                    <a:pt x="86" y="0"/>
                    <a:pt x="0" y="86"/>
                    <a:pt x="0" y="192"/>
                  </a:cubicBezTo>
                  <a:lnTo>
                    <a:pt x="0" y="576"/>
                  </a:lnTo>
                  <a:cubicBezTo>
                    <a:pt x="0" y="682"/>
                    <a:pt x="86" y="768"/>
                    <a:pt x="192" y="768"/>
                  </a:cubicBez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55" name="Rectangle 22"/>
            <p:cNvSpPr>
              <a:spLocks noChangeArrowheads="1"/>
            </p:cNvSpPr>
            <p:nvPr/>
          </p:nvSpPr>
          <p:spPr bwMode="auto">
            <a:xfrm>
              <a:off x="3056" y="2203"/>
              <a:ext cx="883" cy="1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300">
                  <a:solidFill>
                    <a:srgbClr val="3366FF"/>
                  </a:solidFill>
                  <a:latin typeface="Arial" charset="0"/>
                </a:rPr>
                <a:t>recursiveFactorial</a:t>
              </a:r>
              <a:endParaRPr lang="en-US"/>
            </a:p>
          </p:txBody>
        </p:sp>
        <p:sp>
          <p:nvSpPr>
            <p:cNvPr id="14356" name="Rectangle 23"/>
            <p:cNvSpPr>
              <a:spLocks noChangeArrowheads="1"/>
            </p:cNvSpPr>
            <p:nvPr/>
          </p:nvSpPr>
          <p:spPr bwMode="auto">
            <a:xfrm>
              <a:off x="3858" y="2203"/>
              <a:ext cx="81" cy="1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300">
                  <a:solidFill>
                    <a:srgbClr val="3366FF"/>
                  </a:solidFill>
                  <a:latin typeface="Arial" charset="0"/>
                </a:rPr>
                <a:t>(</a:t>
              </a:r>
              <a:endParaRPr lang="en-US"/>
            </a:p>
          </p:txBody>
        </p:sp>
        <p:sp>
          <p:nvSpPr>
            <p:cNvPr id="14357" name="Rectangle 24"/>
            <p:cNvSpPr>
              <a:spLocks noChangeArrowheads="1"/>
            </p:cNvSpPr>
            <p:nvPr/>
          </p:nvSpPr>
          <p:spPr bwMode="auto">
            <a:xfrm>
              <a:off x="3892" y="2203"/>
              <a:ext cx="106" cy="1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300">
                  <a:solidFill>
                    <a:srgbClr val="3366FF"/>
                  </a:solidFill>
                  <a:latin typeface="Arial" charset="0"/>
                </a:rPr>
                <a:t>3</a:t>
              </a:r>
              <a:endParaRPr lang="en-US"/>
            </a:p>
          </p:txBody>
        </p:sp>
        <p:sp>
          <p:nvSpPr>
            <p:cNvPr id="14358" name="Rectangle 25"/>
            <p:cNvSpPr>
              <a:spLocks noChangeArrowheads="1"/>
            </p:cNvSpPr>
            <p:nvPr/>
          </p:nvSpPr>
          <p:spPr bwMode="auto">
            <a:xfrm>
              <a:off x="3951" y="2203"/>
              <a:ext cx="81" cy="1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300">
                  <a:solidFill>
                    <a:srgbClr val="3366FF"/>
                  </a:solidFill>
                  <a:latin typeface="Arial" charset="0"/>
                </a:rPr>
                <a:t>)</a:t>
              </a:r>
              <a:endParaRPr lang="en-US"/>
            </a:p>
          </p:txBody>
        </p:sp>
        <p:sp>
          <p:nvSpPr>
            <p:cNvPr id="14359" name="Line 26"/>
            <p:cNvSpPr>
              <a:spLocks noChangeShapeType="1"/>
            </p:cNvSpPr>
            <p:nvPr/>
          </p:nvSpPr>
          <p:spPr bwMode="auto">
            <a:xfrm>
              <a:off x="3572" y="2367"/>
              <a:ext cx="44" cy="178"/>
            </a:xfrm>
            <a:prstGeom prst="line">
              <a:avLst/>
            </a:prstGeom>
            <a:noFill/>
            <a:ln w="1588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60" name="Freeform 27"/>
            <p:cNvSpPr>
              <a:spLocks/>
            </p:cNvSpPr>
            <p:nvPr/>
          </p:nvSpPr>
          <p:spPr bwMode="auto">
            <a:xfrm>
              <a:off x="3600" y="2537"/>
              <a:ext cx="30" cy="34"/>
            </a:xfrm>
            <a:custGeom>
              <a:avLst/>
              <a:gdLst>
                <a:gd name="T0" fmla="*/ 30 w 30"/>
                <a:gd name="T1" fmla="*/ 0 h 34"/>
                <a:gd name="T2" fmla="*/ 23 w 30"/>
                <a:gd name="T3" fmla="*/ 34 h 34"/>
                <a:gd name="T4" fmla="*/ 0 w 30"/>
                <a:gd name="T5" fmla="*/ 8 h 34"/>
                <a:gd name="T6" fmla="*/ 30 w 30"/>
                <a:gd name="T7" fmla="*/ 0 h 3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0"/>
                <a:gd name="T13" fmla="*/ 0 h 34"/>
                <a:gd name="T14" fmla="*/ 30 w 30"/>
                <a:gd name="T15" fmla="*/ 34 h 3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0" h="34">
                  <a:moveTo>
                    <a:pt x="30" y="0"/>
                  </a:moveTo>
                  <a:lnTo>
                    <a:pt x="23" y="34"/>
                  </a:lnTo>
                  <a:lnTo>
                    <a:pt x="0" y="8"/>
                  </a:lnTo>
                  <a:lnTo>
                    <a:pt x="3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61" name="Freeform 28"/>
            <p:cNvSpPr>
              <a:spLocks/>
            </p:cNvSpPr>
            <p:nvPr/>
          </p:nvSpPr>
          <p:spPr bwMode="auto">
            <a:xfrm>
              <a:off x="3113" y="2571"/>
              <a:ext cx="1019" cy="204"/>
            </a:xfrm>
            <a:custGeom>
              <a:avLst/>
              <a:gdLst>
                <a:gd name="T0" fmla="*/ 4 w 3840"/>
                <a:gd name="T1" fmla="*/ 14 h 768"/>
                <a:gd name="T2" fmla="*/ 68 w 3840"/>
                <a:gd name="T3" fmla="*/ 14 h 768"/>
                <a:gd name="T4" fmla="*/ 72 w 3840"/>
                <a:gd name="T5" fmla="*/ 11 h 768"/>
                <a:gd name="T6" fmla="*/ 72 w 3840"/>
                <a:gd name="T7" fmla="*/ 11 h 768"/>
                <a:gd name="T8" fmla="*/ 72 w 3840"/>
                <a:gd name="T9" fmla="*/ 4 h 768"/>
                <a:gd name="T10" fmla="*/ 68 w 3840"/>
                <a:gd name="T11" fmla="*/ 0 h 768"/>
                <a:gd name="T12" fmla="*/ 4 w 3840"/>
                <a:gd name="T13" fmla="*/ 0 h 768"/>
                <a:gd name="T14" fmla="*/ 0 w 3840"/>
                <a:gd name="T15" fmla="*/ 4 h 768"/>
                <a:gd name="T16" fmla="*/ 0 w 3840"/>
                <a:gd name="T17" fmla="*/ 11 h 768"/>
                <a:gd name="T18" fmla="*/ 4 w 3840"/>
                <a:gd name="T19" fmla="*/ 14 h 768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3840"/>
                <a:gd name="T31" fmla="*/ 0 h 768"/>
                <a:gd name="T32" fmla="*/ 3840 w 3840"/>
                <a:gd name="T33" fmla="*/ 768 h 768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3840" h="768">
                  <a:moveTo>
                    <a:pt x="192" y="768"/>
                  </a:moveTo>
                  <a:lnTo>
                    <a:pt x="3648" y="768"/>
                  </a:lnTo>
                  <a:cubicBezTo>
                    <a:pt x="3754" y="768"/>
                    <a:pt x="3840" y="682"/>
                    <a:pt x="3840" y="576"/>
                  </a:cubicBezTo>
                  <a:cubicBezTo>
                    <a:pt x="3840" y="576"/>
                    <a:pt x="3840" y="576"/>
                    <a:pt x="3840" y="576"/>
                  </a:cubicBezTo>
                  <a:lnTo>
                    <a:pt x="3840" y="192"/>
                  </a:lnTo>
                  <a:cubicBezTo>
                    <a:pt x="3840" y="86"/>
                    <a:pt x="3754" y="0"/>
                    <a:pt x="3648" y="0"/>
                  </a:cubicBezTo>
                  <a:lnTo>
                    <a:pt x="192" y="0"/>
                  </a:lnTo>
                  <a:cubicBezTo>
                    <a:pt x="86" y="0"/>
                    <a:pt x="0" y="86"/>
                    <a:pt x="0" y="192"/>
                  </a:cubicBezTo>
                  <a:lnTo>
                    <a:pt x="0" y="576"/>
                  </a:lnTo>
                  <a:cubicBezTo>
                    <a:pt x="0" y="682"/>
                    <a:pt x="86" y="768"/>
                    <a:pt x="192" y="768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362" name="Freeform 29"/>
            <p:cNvSpPr>
              <a:spLocks/>
            </p:cNvSpPr>
            <p:nvPr/>
          </p:nvSpPr>
          <p:spPr bwMode="auto">
            <a:xfrm>
              <a:off x="3113" y="2571"/>
              <a:ext cx="1019" cy="204"/>
            </a:xfrm>
            <a:custGeom>
              <a:avLst/>
              <a:gdLst>
                <a:gd name="T0" fmla="*/ 4 w 3840"/>
                <a:gd name="T1" fmla="*/ 14 h 768"/>
                <a:gd name="T2" fmla="*/ 68 w 3840"/>
                <a:gd name="T3" fmla="*/ 14 h 768"/>
                <a:gd name="T4" fmla="*/ 72 w 3840"/>
                <a:gd name="T5" fmla="*/ 11 h 768"/>
                <a:gd name="T6" fmla="*/ 72 w 3840"/>
                <a:gd name="T7" fmla="*/ 11 h 768"/>
                <a:gd name="T8" fmla="*/ 72 w 3840"/>
                <a:gd name="T9" fmla="*/ 4 h 768"/>
                <a:gd name="T10" fmla="*/ 68 w 3840"/>
                <a:gd name="T11" fmla="*/ 0 h 768"/>
                <a:gd name="T12" fmla="*/ 4 w 3840"/>
                <a:gd name="T13" fmla="*/ 0 h 768"/>
                <a:gd name="T14" fmla="*/ 0 w 3840"/>
                <a:gd name="T15" fmla="*/ 4 h 768"/>
                <a:gd name="T16" fmla="*/ 0 w 3840"/>
                <a:gd name="T17" fmla="*/ 11 h 768"/>
                <a:gd name="T18" fmla="*/ 4 w 3840"/>
                <a:gd name="T19" fmla="*/ 14 h 768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3840"/>
                <a:gd name="T31" fmla="*/ 0 h 768"/>
                <a:gd name="T32" fmla="*/ 3840 w 3840"/>
                <a:gd name="T33" fmla="*/ 768 h 768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3840" h="768">
                  <a:moveTo>
                    <a:pt x="192" y="768"/>
                  </a:moveTo>
                  <a:lnTo>
                    <a:pt x="3648" y="768"/>
                  </a:lnTo>
                  <a:cubicBezTo>
                    <a:pt x="3754" y="768"/>
                    <a:pt x="3840" y="682"/>
                    <a:pt x="3840" y="576"/>
                  </a:cubicBezTo>
                  <a:cubicBezTo>
                    <a:pt x="3840" y="576"/>
                    <a:pt x="3840" y="576"/>
                    <a:pt x="3840" y="576"/>
                  </a:cubicBezTo>
                  <a:lnTo>
                    <a:pt x="3840" y="192"/>
                  </a:lnTo>
                  <a:cubicBezTo>
                    <a:pt x="3840" y="86"/>
                    <a:pt x="3754" y="0"/>
                    <a:pt x="3648" y="0"/>
                  </a:cubicBezTo>
                  <a:lnTo>
                    <a:pt x="192" y="0"/>
                  </a:lnTo>
                  <a:cubicBezTo>
                    <a:pt x="86" y="0"/>
                    <a:pt x="0" y="86"/>
                    <a:pt x="0" y="192"/>
                  </a:cubicBezTo>
                  <a:lnTo>
                    <a:pt x="0" y="576"/>
                  </a:lnTo>
                  <a:cubicBezTo>
                    <a:pt x="0" y="682"/>
                    <a:pt x="86" y="768"/>
                    <a:pt x="192" y="768"/>
                  </a:cubicBez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63" name="Rectangle 30"/>
            <p:cNvSpPr>
              <a:spLocks noChangeArrowheads="1"/>
            </p:cNvSpPr>
            <p:nvPr/>
          </p:nvSpPr>
          <p:spPr bwMode="auto">
            <a:xfrm>
              <a:off x="3158" y="2611"/>
              <a:ext cx="883" cy="1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300">
                  <a:solidFill>
                    <a:srgbClr val="3366FF"/>
                  </a:solidFill>
                  <a:latin typeface="Arial" charset="0"/>
                </a:rPr>
                <a:t>recursiveFactorial</a:t>
              </a:r>
              <a:endParaRPr lang="en-US"/>
            </a:p>
          </p:txBody>
        </p:sp>
        <p:sp>
          <p:nvSpPr>
            <p:cNvPr id="14364" name="Rectangle 31"/>
            <p:cNvSpPr>
              <a:spLocks noChangeArrowheads="1"/>
            </p:cNvSpPr>
            <p:nvPr/>
          </p:nvSpPr>
          <p:spPr bwMode="auto">
            <a:xfrm>
              <a:off x="3960" y="2611"/>
              <a:ext cx="81" cy="1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300">
                  <a:solidFill>
                    <a:srgbClr val="3366FF"/>
                  </a:solidFill>
                  <a:latin typeface="Arial" charset="0"/>
                </a:rPr>
                <a:t>(</a:t>
              </a:r>
              <a:endParaRPr lang="en-US"/>
            </a:p>
          </p:txBody>
        </p:sp>
        <p:sp>
          <p:nvSpPr>
            <p:cNvPr id="14365" name="Rectangle 32"/>
            <p:cNvSpPr>
              <a:spLocks noChangeArrowheads="1"/>
            </p:cNvSpPr>
            <p:nvPr/>
          </p:nvSpPr>
          <p:spPr bwMode="auto">
            <a:xfrm>
              <a:off x="3994" y="2611"/>
              <a:ext cx="106" cy="1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300">
                  <a:solidFill>
                    <a:srgbClr val="3366FF"/>
                  </a:solidFill>
                  <a:latin typeface="Arial" charset="0"/>
                </a:rPr>
                <a:t>2</a:t>
              </a:r>
              <a:endParaRPr lang="en-US"/>
            </a:p>
          </p:txBody>
        </p:sp>
        <p:sp>
          <p:nvSpPr>
            <p:cNvPr id="14366" name="Rectangle 33"/>
            <p:cNvSpPr>
              <a:spLocks noChangeArrowheads="1"/>
            </p:cNvSpPr>
            <p:nvPr/>
          </p:nvSpPr>
          <p:spPr bwMode="auto">
            <a:xfrm>
              <a:off x="4053" y="2611"/>
              <a:ext cx="81" cy="1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300">
                  <a:solidFill>
                    <a:srgbClr val="3366FF"/>
                  </a:solidFill>
                  <a:latin typeface="Arial" charset="0"/>
                </a:rPr>
                <a:t>)</a:t>
              </a:r>
              <a:endParaRPr lang="en-US"/>
            </a:p>
          </p:txBody>
        </p:sp>
        <p:sp>
          <p:nvSpPr>
            <p:cNvPr id="14367" name="Line 34"/>
            <p:cNvSpPr>
              <a:spLocks noChangeShapeType="1"/>
            </p:cNvSpPr>
            <p:nvPr/>
          </p:nvSpPr>
          <p:spPr bwMode="auto">
            <a:xfrm>
              <a:off x="3673" y="2775"/>
              <a:ext cx="45" cy="177"/>
            </a:xfrm>
            <a:prstGeom prst="line">
              <a:avLst/>
            </a:prstGeom>
            <a:noFill/>
            <a:ln w="1588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68" name="Freeform 35"/>
            <p:cNvSpPr>
              <a:spLocks/>
            </p:cNvSpPr>
            <p:nvPr/>
          </p:nvSpPr>
          <p:spPr bwMode="auto">
            <a:xfrm>
              <a:off x="3702" y="2945"/>
              <a:ext cx="30" cy="34"/>
            </a:xfrm>
            <a:custGeom>
              <a:avLst/>
              <a:gdLst>
                <a:gd name="T0" fmla="*/ 30 w 30"/>
                <a:gd name="T1" fmla="*/ 0 h 34"/>
                <a:gd name="T2" fmla="*/ 22 w 30"/>
                <a:gd name="T3" fmla="*/ 34 h 34"/>
                <a:gd name="T4" fmla="*/ 0 w 30"/>
                <a:gd name="T5" fmla="*/ 7 h 34"/>
                <a:gd name="T6" fmla="*/ 30 w 30"/>
                <a:gd name="T7" fmla="*/ 0 h 3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0"/>
                <a:gd name="T13" fmla="*/ 0 h 34"/>
                <a:gd name="T14" fmla="*/ 30 w 30"/>
                <a:gd name="T15" fmla="*/ 34 h 3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0" h="34">
                  <a:moveTo>
                    <a:pt x="30" y="0"/>
                  </a:moveTo>
                  <a:lnTo>
                    <a:pt x="22" y="34"/>
                  </a:lnTo>
                  <a:lnTo>
                    <a:pt x="0" y="7"/>
                  </a:lnTo>
                  <a:lnTo>
                    <a:pt x="3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69" name="Freeform 36"/>
            <p:cNvSpPr>
              <a:spLocks/>
            </p:cNvSpPr>
            <p:nvPr/>
          </p:nvSpPr>
          <p:spPr bwMode="auto">
            <a:xfrm>
              <a:off x="3215" y="2979"/>
              <a:ext cx="1019" cy="203"/>
            </a:xfrm>
            <a:custGeom>
              <a:avLst/>
              <a:gdLst>
                <a:gd name="T0" fmla="*/ 4 w 3840"/>
                <a:gd name="T1" fmla="*/ 14 h 768"/>
                <a:gd name="T2" fmla="*/ 68 w 3840"/>
                <a:gd name="T3" fmla="*/ 14 h 768"/>
                <a:gd name="T4" fmla="*/ 72 w 3840"/>
                <a:gd name="T5" fmla="*/ 11 h 768"/>
                <a:gd name="T6" fmla="*/ 72 w 3840"/>
                <a:gd name="T7" fmla="*/ 11 h 768"/>
                <a:gd name="T8" fmla="*/ 72 w 3840"/>
                <a:gd name="T9" fmla="*/ 3 h 768"/>
                <a:gd name="T10" fmla="*/ 68 w 3840"/>
                <a:gd name="T11" fmla="*/ 0 h 768"/>
                <a:gd name="T12" fmla="*/ 4 w 3840"/>
                <a:gd name="T13" fmla="*/ 0 h 768"/>
                <a:gd name="T14" fmla="*/ 0 w 3840"/>
                <a:gd name="T15" fmla="*/ 3 h 768"/>
                <a:gd name="T16" fmla="*/ 0 w 3840"/>
                <a:gd name="T17" fmla="*/ 11 h 768"/>
                <a:gd name="T18" fmla="*/ 4 w 3840"/>
                <a:gd name="T19" fmla="*/ 14 h 768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3840"/>
                <a:gd name="T31" fmla="*/ 0 h 768"/>
                <a:gd name="T32" fmla="*/ 3840 w 3840"/>
                <a:gd name="T33" fmla="*/ 768 h 768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3840" h="768">
                  <a:moveTo>
                    <a:pt x="192" y="768"/>
                  </a:moveTo>
                  <a:lnTo>
                    <a:pt x="3648" y="768"/>
                  </a:lnTo>
                  <a:cubicBezTo>
                    <a:pt x="3754" y="768"/>
                    <a:pt x="3840" y="682"/>
                    <a:pt x="3840" y="576"/>
                  </a:cubicBezTo>
                  <a:cubicBezTo>
                    <a:pt x="3840" y="576"/>
                    <a:pt x="3840" y="576"/>
                    <a:pt x="3840" y="576"/>
                  </a:cubicBezTo>
                  <a:lnTo>
                    <a:pt x="3840" y="192"/>
                  </a:lnTo>
                  <a:cubicBezTo>
                    <a:pt x="3840" y="86"/>
                    <a:pt x="3754" y="0"/>
                    <a:pt x="3648" y="0"/>
                  </a:cubicBezTo>
                  <a:lnTo>
                    <a:pt x="192" y="0"/>
                  </a:lnTo>
                  <a:cubicBezTo>
                    <a:pt x="86" y="0"/>
                    <a:pt x="0" y="86"/>
                    <a:pt x="0" y="192"/>
                  </a:cubicBezTo>
                  <a:lnTo>
                    <a:pt x="0" y="576"/>
                  </a:lnTo>
                  <a:cubicBezTo>
                    <a:pt x="0" y="682"/>
                    <a:pt x="86" y="768"/>
                    <a:pt x="192" y="768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370" name="Freeform 37"/>
            <p:cNvSpPr>
              <a:spLocks/>
            </p:cNvSpPr>
            <p:nvPr/>
          </p:nvSpPr>
          <p:spPr bwMode="auto">
            <a:xfrm>
              <a:off x="3215" y="2979"/>
              <a:ext cx="1019" cy="203"/>
            </a:xfrm>
            <a:custGeom>
              <a:avLst/>
              <a:gdLst>
                <a:gd name="T0" fmla="*/ 4 w 3840"/>
                <a:gd name="T1" fmla="*/ 14 h 768"/>
                <a:gd name="T2" fmla="*/ 68 w 3840"/>
                <a:gd name="T3" fmla="*/ 14 h 768"/>
                <a:gd name="T4" fmla="*/ 72 w 3840"/>
                <a:gd name="T5" fmla="*/ 11 h 768"/>
                <a:gd name="T6" fmla="*/ 72 w 3840"/>
                <a:gd name="T7" fmla="*/ 11 h 768"/>
                <a:gd name="T8" fmla="*/ 72 w 3840"/>
                <a:gd name="T9" fmla="*/ 3 h 768"/>
                <a:gd name="T10" fmla="*/ 68 w 3840"/>
                <a:gd name="T11" fmla="*/ 0 h 768"/>
                <a:gd name="T12" fmla="*/ 4 w 3840"/>
                <a:gd name="T13" fmla="*/ 0 h 768"/>
                <a:gd name="T14" fmla="*/ 0 w 3840"/>
                <a:gd name="T15" fmla="*/ 3 h 768"/>
                <a:gd name="T16" fmla="*/ 0 w 3840"/>
                <a:gd name="T17" fmla="*/ 11 h 768"/>
                <a:gd name="T18" fmla="*/ 4 w 3840"/>
                <a:gd name="T19" fmla="*/ 14 h 768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3840"/>
                <a:gd name="T31" fmla="*/ 0 h 768"/>
                <a:gd name="T32" fmla="*/ 3840 w 3840"/>
                <a:gd name="T33" fmla="*/ 768 h 768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3840" h="768">
                  <a:moveTo>
                    <a:pt x="192" y="768"/>
                  </a:moveTo>
                  <a:lnTo>
                    <a:pt x="3648" y="768"/>
                  </a:lnTo>
                  <a:cubicBezTo>
                    <a:pt x="3754" y="768"/>
                    <a:pt x="3840" y="682"/>
                    <a:pt x="3840" y="576"/>
                  </a:cubicBezTo>
                  <a:cubicBezTo>
                    <a:pt x="3840" y="576"/>
                    <a:pt x="3840" y="576"/>
                    <a:pt x="3840" y="576"/>
                  </a:cubicBezTo>
                  <a:lnTo>
                    <a:pt x="3840" y="192"/>
                  </a:lnTo>
                  <a:cubicBezTo>
                    <a:pt x="3840" y="86"/>
                    <a:pt x="3754" y="0"/>
                    <a:pt x="3648" y="0"/>
                  </a:cubicBezTo>
                  <a:lnTo>
                    <a:pt x="192" y="0"/>
                  </a:lnTo>
                  <a:cubicBezTo>
                    <a:pt x="86" y="0"/>
                    <a:pt x="0" y="86"/>
                    <a:pt x="0" y="192"/>
                  </a:cubicBezTo>
                  <a:lnTo>
                    <a:pt x="0" y="576"/>
                  </a:lnTo>
                  <a:cubicBezTo>
                    <a:pt x="0" y="682"/>
                    <a:pt x="86" y="768"/>
                    <a:pt x="192" y="768"/>
                  </a:cubicBez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71" name="Rectangle 38"/>
            <p:cNvSpPr>
              <a:spLocks noChangeArrowheads="1"/>
            </p:cNvSpPr>
            <p:nvPr/>
          </p:nvSpPr>
          <p:spPr bwMode="auto">
            <a:xfrm>
              <a:off x="3260" y="3018"/>
              <a:ext cx="883" cy="1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300">
                  <a:solidFill>
                    <a:srgbClr val="3366FF"/>
                  </a:solidFill>
                  <a:latin typeface="Arial" charset="0"/>
                </a:rPr>
                <a:t>recursiveFactorial</a:t>
              </a:r>
              <a:endParaRPr lang="en-US"/>
            </a:p>
          </p:txBody>
        </p:sp>
        <p:sp>
          <p:nvSpPr>
            <p:cNvPr id="14372" name="Rectangle 39"/>
            <p:cNvSpPr>
              <a:spLocks noChangeArrowheads="1"/>
            </p:cNvSpPr>
            <p:nvPr/>
          </p:nvSpPr>
          <p:spPr bwMode="auto">
            <a:xfrm>
              <a:off x="4062" y="3018"/>
              <a:ext cx="81" cy="1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300">
                  <a:solidFill>
                    <a:srgbClr val="3366FF"/>
                  </a:solidFill>
                  <a:latin typeface="Arial" charset="0"/>
                </a:rPr>
                <a:t>(</a:t>
              </a:r>
              <a:endParaRPr lang="en-US"/>
            </a:p>
          </p:txBody>
        </p:sp>
        <p:sp>
          <p:nvSpPr>
            <p:cNvPr id="14373" name="Rectangle 40"/>
            <p:cNvSpPr>
              <a:spLocks noChangeArrowheads="1"/>
            </p:cNvSpPr>
            <p:nvPr/>
          </p:nvSpPr>
          <p:spPr bwMode="auto">
            <a:xfrm>
              <a:off x="4096" y="3018"/>
              <a:ext cx="106" cy="1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300">
                  <a:solidFill>
                    <a:srgbClr val="3366FF"/>
                  </a:solidFill>
                  <a:latin typeface="Arial" charset="0"/>
                </a:rPr>
                <a:t>1</a:t>
              </a:r>
              <a:endParaRPr lang="en-US"/>
            </a:p>
          </p:txBody>
        </p:sp>
        <p:sp>
          <p:nvSpPr>
            <p:cNvPr id="14374" name="Rectangle 41"/>
            <p:cNvSpPr>
              <a:spLocks noChangeArrowheads="1"/>
            </p:cNvSpPr>
            <p:nvPr/>
          </p:nvSpPr>
          <p:spPr bwMode="auto">
            <a:xfrm>
              <a:off x="4155" y="3018"/>
              <a:ext cx="81" cy="1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300">
                  <a:solidFill>
                    <a:srgbClr val="3366FF"/>
                  </a:solidFill>
                  <a:latin typeface="Arial" charset="0"/>
                </a:rPr>
                <a:t>)</a:t>
              </a:r>
              <a:endParaRPr lang="en-US"/>
            </a:p>
          </p:txBody>
        </p:sp>
        <p:sp>
          <p:nvSpPr>
            <p:cNvPr id="14375" name="Line 42"/>
            <p:cNvSpPr>
              <a:spLocks noChangeShapeType="1"/>
            </p:cNvSpPr>
            <p:nvPr/>
          </p:nvSpPr>
          <p:spPr bwMode="auto">
            <a:xfrm>
              <a:off x="3775" y="3182"/>
              <a:ext cx="45" cy="177"/>
            </a:xfrm>
            <a:prstGeom prst="line">
              <a:avLst/>
            </a:prstGeom>
            <a:noFill/>
            <a:ln w="1588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76" name="Freeform 43"/>
            <p:cNvSpPr>
              <a:spLocks/>
            </p:cNvSpPr>
            <p:nvPr/>
          </p:nvSpPr>
          <p:spPr bwMode="auto">
            <a:xfrm>
              <a:off x="3803" y="3352"/>
              <a:ext cx="31" cy="34"/>
            </a:xfrm>
            <a:custGeom>
              <a:avLst/>
              <a:gdLst>
                <a:gd name="T0" fmla="*/ 31 w 31"/>
                <a:gd name="T1" fmla="*/ 0 h 34"/>
                <a:gd name="T2" fmla="*/ 23 w 31"/>
                <a:gd name="T3" fmla="*/ 34 h 34"/>
                <a:gd name="T4" fmla="*/ 0 w 31"/>
                <a:gd name="T5" fmla="*/ 7 h 34"/>
                <a:gd name="T6" fmla="*/ 31 w 31"/>
                <a:gd name="T7" fmla="*/ 0 h 3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1"/>
                <a:gd name="T13" fmla="*/ 0 h 34"/>
                <a:gd name="T14" fmla="*/ 31 w 31"/>
                <a:gd name="T15" fmla="*/ 34 h 3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1" h="34">
                  <a:moveTo>
                    <a:pt x="31" y="0"/>
                  </a:moveTo>
                  <a:lnTo>
                    <a:pt x="23" y="34"/>
                  </a:lnTo>
                  <a:lnTo>
                    <a:pt x="0" y="7"/>
                  </a:lnTo>
                  <a:lnTo>
                    <a:pt x="3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77" name="Freeform 44"/>
            <p:cNvSpPr>
              <a:spLocks/>
            </p:cNvSpPr>
            <p:nvPr/>
          </p:nvSpPr>
          <p:spPr bwMode="auto">
            <a:xfrm>
              <a:off x="3317" y="3386"/>
              <a:ext cx="1018" cy="204"/>
            </a:xfrm>
            <a:custGeom>
              <a:avLst/>
              <a:gdLst>
                <a:gd name="T0" fmla="*/ 4 w 3840"/>
                <a:gd name="T1" fmla="*/ 14 h 768"/>
                <a:gd name="T2" fmla="*/ 68 w 3840"/>
                <a:gd name="T3" fmla="*/ 14 h 768"/>
                <a:gd name="T4" fmla="*/ 72 w 3840"/>
                <a:gd name="T5" fmla="*/ 11 h 768"/>
                <a:gd name="T6" fmla="*/ 72 w 3840"/>
                <a:gd name="T7" fmla="*/ 11 h 768"/>
                <a:gd name="T8" fmla="*/ 72 w 3840"/>
                <a:gd name="T9" fmla="*/ 4 h 768"/>
                <a:gd name="T10" fmla="*/ 68 w 3840"/>
                <a:gd name="T11" fmla="*/ 0 h 768"/>
                <a:gd name="T12" fmla="*/ 4 w 3840"/>
                <a:gd name="T13" fmla="*/ 0 h 768"/>
                <a:gd name="T14" fmla="*/ 0 w 3840"/>
                <a:gd name="T15" fmla="*/ 4 h 768"/>
                <a:gd name="T16" fmla="*/ 0 w 3840"/>
                <a:gd name="T17" fmla="*/ 11 h 768"/>
                <a:gd name="T18" fmla="*/ 4 w 3840"/>
                <a:gd name="T19" fmla="*/ 14 h 768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3840"/>
                <a:gd name="T31" fmla="*/ 0 h 768"/>
                <a:gd name="T32" fmla="*/ 3840 w 3840"/>
                <a:gd name="T33" fmla="*/ 768 h 768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3840" h="768">
                  <a:moveTo>
                    <a:pt x="192" y="768"/>
                  </a:moveTo>
                  <a:lnTo>
                    <a:pt x="3648" y="768"/>
                  </a:lnTo>
                  <a:cubicBezTo>
                    <a:pt x="3754" y="768"/>
                    <a:pt x="3840" y="682"/>
                    <a:pt x="3840" y="576"/>
                  </a:cubicBezTo>
                  <a:cubicBezTo>
                    <a:pt x="3840" y="576"/>
                    <a:pt x="3840" y="576"/>
                    <a:pt x="3840" y="576"/>
                  </a:cubicBezTo>
                  <a:lnTo>
                    <a:pt x="3840" y="192"/>
                  </a:lnTo>
                  <a:cubicBezTo>
                    <a:pt x="3840" y="86"/>
                    <a:pt x="3754" y="0"/>
                    <a:pt x="3648" y="0"/>
                  </a:cubicBezTo>
                  <a:lnTo>
                    <a:pt x="192" y="0"/>
                  </a:lnTo>
                  <a:cubicBezTo>
                    <a:pt x="86" y="0"/>
                    <a:pt x="0" y="86"/>
                    <a:pt x="0" y="192"/>
                  </a:cubicBezTo>
                  <a:lnTo>
                    <a:pt x="0" y="576"/>
                  </a:lnTo>
                  <a:cubicBezTo>
                    <a:pt x="0" y="682"/>
                    <a:pt x="86" y="768"/>
                    <a:pt x="192" y="768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378" name="Freeform 45"/>
            <p:cNvSpPr>
              <a:spLocks/>
            </p:cNvSpPr>
            <p:nvPr/>
          </p:nvSpPr>
          <p:spPr bwMode="auto">
            <a:xfrm>
              <a:off x="3317" y="3386"/>
              <a:ext cx="1018" cy="204"/>
            </a:xfrm>
            <a:custGeom>
              <a:avLst/>
              <a:gdLst>
                <a:gd name="T0" fmla="*/ 4 w 3840"/>
                <a:gd name="T1" fmla="*/ 14 h 768"/>
                <a:gd name="T2" fmla="*/ 68 w 3840"/>
                <a:gd name="T3" fmla="*/ 14 h 768"/>
                <a:gd name="T4" fmla="*/ 72 w 3840"/>
                <a:gd name="T5" fmla="*/ 11 h 768"/>
                <a:gd name="T6" fmla="*/ 72 w 3840"/>
                <a:gd name="T7" fmla="*/ 11 h 768"/>
                <a:gd name="T8" fmla="*/ 72 w 3840"/>
                <a:gd name="T9" fmla="*/ 4 h 768"/>
                <a:gd name="T10" fmla="*/ 68 w 3840"/>
                <a:gd name="T11" fmla="*/ 0 h 768"/>
                <a:gd name="T12" fmla="*/ 4 w 3840"/>
                <a:gd name="T13" fmla="*/ 0 h 768"/>
                <a:gd name="T14" fmla="*/ 0 w 3840"/>
                <a:gd name="T15" fmla="*/ 4 h 768"/>
                <a:gd name="T16" fmla="*/ 0 w 3840"/>
                <a:gd name="T17" fmla="*/ 11 h 768"/>
                <a:gd name="T18" fmla="*/ 4 w 3840"/>
                <a:gd name="T19" fmla="*/ 14 h 768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3840"/>
                <a:gd name="T31" fmla="*/ 0 h 768"/>
                <a:gd name="T32" fmla="*/ 3840 w 3840"/>
                <a:gd name="T33" fmla="*/ 768 h 768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3840" h="768">
                  <a:moveTo>
                    <a:pt x="192" y="768"/>
                  </a:moveTo>
                  <a:lnTo>
                    <a:pt x="3648" y="768"/>
                  </a:lnTo>
                  <a:cubicBezTo>
                    <a:pt x="3754" y="768"/>
                    <a:pt x="3840" y="682"/>
                    <a:pt x="3840" y="576"/>
                  </a:cubicBezTo>
                  <a:cubicBezTo>
                    <a:pt x="3840" y="576"/>
                    <a:pt x="3840" y="576"/>
                    <a:pt x="3840" y="576"/>
                  </a:cubicBezTo>
                  <a:lnTo>
                    <a:pt x="3840" y="192"/>
                  </a:lnTo>
                  <a:cubicBezTo>
                    <a:pt x="3840" y="86"/>
                    <a:pt x="3754" y="0"/>
                    <a:pt x="3648" y="0"/>
                  </a:cubicBezTo>
                  <a:lnTo>
                    <a:pt x="192" y="0"/>
                  </a:lnTo>
                  <a:cubicBezTo>
                    <a:pt x="86" y="0"/>
                    <a:pt x="0" y="86"/>
                    <a:pt x="0" y="192"/>
                  </a:cubicBezTo>
                  <a:lnTo>
                    <a:pt x="0" y="576"/>
                  </a:lnTo>
                  <a:cubicBezTo>
                    <a:pt x="0" y="682"/>
                    <a:pt x="86" y="768"/>
                    <a:pt x="192" y="768"/>
                  </a:cubicBez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79" name="Rectangle 46"/>
            <p:cNvSpPr>
              <a:spLocks noChangeArrowheads="1"/>
            </p:cNvSpPr>
            <p:nvPr/>
          </p:nvSpPr>
          <p:spPr bwMode="auto">
            <a:xfrm>
              <a:off x="3362" y="3426"/>
              <a:ext cx="883" cy="1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300">
                  <a:solidFill>
                    <a:srgbClr val="3366FF"/>
                  </a:solidFill>
                  <a:latin typeface="Arial" charset="0"/>
                </a:rPr>
                <a:t>recursiveFactorial</a:t>
              </a:r>
              <a:endParaRPr lang="en-US"/>
            </a:p>
          </p:txBody>
        </p:sp>
        <p:sp>
          <p:nvSpPr>
            <p:cNvPr id="14380" name="Rectangle 47"/>
            <p:cNvSpPr>
              <a:spLocks noChangeArrowheads="1"/>
            </p:cNvSpPr>
            <p:nvPr/>
          </p:nvSpPr>
          <p:spPr bwMode="auto">
            <a:xfrm>
              <a:off x="4164" y="3426"/>
              <a:ext cx="81" cy="1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300">
                  <a:solidFill>
                    <a:srgbClr val="3366FF"/>
                  </a:solidFill>
                  <a:latin typeface="Arial" charset="0"/>
                </a:rPr>
                <a:t>(</a:t>
              </a:r>
              <a:endParaRPr lang="en-US"/>
            </a:p>
          </p:txBody>
        </p:sp>
        <p:sp>
          <p:nvSpPr>
            <p:cNvPr id="14381" name="Rectangle 48"/>
            <p:cNvSpPr>
              <a:spLocks noChangeArrowheads="1"/>
            </p:cNvSpPr>
            <p:nvPr/>
          </p:nvSpPr>
          <p:spPr bwMode="auto">
            <a:xfrm>
              <a:off x="4198" y="3426"/>
              <a:ext cx="106" cy="1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300">
                  <a:solidFill>
                    <a:srgbClr val="3366FF"/>
                  </a:solidFill>
                  <a:latin typeface="Arial" charset="0"/>
                </a:rPr>
                <a:t>0</a:t>
              </a:r>
              <a:endParaRPr lang="en-US"/>
            </a:p>
          </p:txBody>
        </p:sp>
        <p:sp>
          <p:nvSpPr>
            <p:cNvPr id="14382" name="Rectangle 49"/>
            <p:cNvSpPr>
              <a:spLocks noChangeArrowheads="1"/>
            </p:cNvSpPr>
            <p:nvPr/>
          </p:nvSpPr>
          <p:spPr bwMode="auto">
            <a:xfrm>
              <a:off x="4257" y="3426"/>
              <a:ext cx="81" cy="1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300">
                  <a:solidFill>
                    <a:srgbClr val="3366FF"/>
                  </a:solidFill>
                  <a:latin typeface="Arial" charset="0"/>
                </a:rPr>
                <a:t>)</a:t>
              </a:r>
              <a:endParaRPr lang="en-US"/>
            </a:p>
          </p:txBody>
        </p:sp>
        <p:sp>
          <p:nvSpPr>
            <p:cNvPr id="14383" name="Freeform 50"/>
            <p:cNvSpPr>
              <a:spLocks/>
            </p:cNvSpPr>
            <p:nvPr/>
          </p:nvSpPr>
          <p:spPr bwMode="auto">
            <a:xfrm>
              <a:off x="4257" y="3094"/>
              <a:ext cx="184" cy="394"/>
            </a:xfrm>
            <a:custGeom>
              <a:avLst/>
              <a:gdLst>
                <a:gd name="T0" fmla="*/ 78 w 184"/>
                <a:gd name="T1" fmla="*/ 394 h 394"/>
                <a:gd name="T2" fmla="*/ 122 w 184"/>
                <a:gd name="T3" fmla="*/ 355 h 394"/>
                <a:gd name="T4" fmla="*/ 154 w 184"/>
                <a:gd name="T5" fmla="*/ 315 h 394"/>
                <a:gd name="T6" fmla="*/ 175 w 184"/>
                <a:gd name="T7" fmla="*/ 276 h 394"/>
                <a:gd name="T8" fmla="*/ 184 w 184"/>
                <a:gd name="T9" fmla="*/ 237 h 394"/>
                <a:gd name="T10" fmla="*/ 182 w 184"/>
                <a:gd name="T11" fmla="*/ 197 h 394"/>
                <a:gd name="T12" fmla="*/ 168 w 184"/>
                <a:gd name="T13" fmla="*/ 158 h 394"/>
                <a:gd name="T14" fmla="*/ 143 w 184"/>
                <a:gd name="T15" fmla="*/ 118 h 394"/>
                <a:gd name="T16" fmla="*/ 107 w 184"/>
                <a:gd name="T17" fmla="*/ 79 h 394"/>
                <a:gd name="T18" fmla="*/ 59 w 184"/>
                <a:gd name="T19" fmla="*/ 40 h 394"/>
                <a:gd name="T20" fmla="*/ 0 w 184"/>
                <a:gd name="T21" fmla="*/ 0 h 394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184"/>
                <a:gd name="T34" fmla="*/ 0 h 394"/>
                <a:gd name="T35" fmla="*/ 184 w 184"/>
                <a:gd name="T36" fmla="*/ 394 h 394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184" h="394">
                  <a:moveTo>
                    <a:pt x="78" y="394"/>
                  </a:moveTo>
                  <a:lnTo>
                    <a:pt x="122" y="355"/>
                  </a:lnTo>
                  <a:lnTo>
                    <a:pt x="154" y="315"/>
                  </a:lnTo>
                  <a:lnTo>
                    <a:pt x="175" y="276"/>
                  </a:lnTo>
                  <a:lnTo>
                    <a:pt x="184" y="237"/>
                  </a:lnTo>
                  <a:lnTo>
                    <a:pt x="182" y="197"/>
                  </a:lnTo>
                  <a:lnTo>
                    <a:pt x="168" y="158"/>
                  </a:lnTo>
                  <a:lnTo>
                    <a:pt x="143" y="118"/>
                  </a:lnTo>
                  <a:lnTo>
                    <a:pt x="107" y="79"/>
                  </a:lnTo>
                  <a:lnTo>
                    <a:pt x="59" y="40"/>
                  </a:lnTo>
                  <a:lnTo>
                    <a:pt x="0" y="0"/>
                  </a:lnTo>
                </a:path>
              </a:pathLst>
            </a:custGeom>
            <a:noFill/>
            <a:ln w="1588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84" name="Freeform 51"/>
            <p:cNvSpPr>
              <a:spLocks/>
            </p:cNvSpPr>
            <p:nvPr/>
          </p:nvSpPr>
          <p:spPr bwMode="auto">
            <a:xfrm>
              <a:off x="4234" y="3080"/>
              <a:ext cx="34" cy="30"/>
            </a:xfrm>
            <a:custGeom>
              <a:avLst/>
              <a:gdLst>
                <a:gd name="T0" fmla="*/ 18 w 34"/>
                <a:gd name="T1" fmla="*/ 30 h 30"/>
                <a:gd name="T2" fmla="*/ 0 w 34"/>
                <a:gd name="T3" fmla="*/ 0 h 30"/>
                <a:gd name="T4" fmla="*/ 34 w 34"/>
                <a:gd name="T5" fmla="*/ 3 h 30"/>
                <a:gd name="T6" fmla="*/ 18 w 34"/>
                <a:gd name="T7" fmla="*/ 30 h 3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4"/>
                <a:gd name="T13" fmla="*/ 0 h 30"/>
                <a:gd name="T14" fmla="*/ 34 w 34"/>
                <a:gd name="T15" fmla="*/ 30 h 3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4" h="30">
                  <a:moveTo>
                    <a:pt x="18" y="30"/>
                  </a:moveTo>
                  <a:lnTo>
                    <a:pt x="0" y="0"/>
                  </a:lnTo>
                  <a:lnTo>
                    <a:pt x="34" y="3"/>
                  </a:lnTo>
                  <a:lnTo>
                    <a:pt x="18" y="3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85" name="Rectangle 52"/>
            <p:cNvSpPr>
              <a:spLocks noChangeArrowheads="1"/>
            </p:cNvSpPr>
            <p:nvPr/>
          </p:nvSpPr>
          <p:spPr bwMode="auto">
            <a:xfrm>
              <a:off x="4490" y="3218"/>
              <a:ext cx="352" cy="1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300">
                  <a:solidFill>
                    <a:srgbClr val="0000FF"/>
                  </a:solidFill>
                  <a:latin typeface="Arial" charset="0"/>
                </a:rPr>
                <a:t>return </a:t>
              </a:r>
              <a:endParaRPr lang="en-US"/>
            </a:p>
          </p:txBody>
        </p:sp>
        <p:sp>
          <p:nvSpPr>
            <p:cNvPr id="14386" name="Rectangle 53"/>
            <p:cNvSpPr>
              <a:spLocks noChangeArrowheads="1"/>
            </p:cNvSpPr>
            <p:nvPr/>
          </p:nvSpPr>
          <p:spPr bwMode="auto">
            <a:xfrm>
              <a:off x="4783" y="3218"/>
              <a:ext cx="106" cy="1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300">
                  <a:solidFill>
                    <a:srgbClr val="0000FF"/>
                  </a:solidFill>
                  <a:latin typeface="Arial" charset="0"/>
                </a:rPr>
                <a:t>1</a:t>
              </a:r>
              <a:endParaRPr lang="en-US"/>
            </a:p>
          </p:txBody>
        </p:sp>
        <p:sp>
          <p:nvSpPr>
            <p:cNvPr id="14387" name="Rectangle 54"/>
            <p:cNvSpPr>
              <a:spLocks noChangeArrowheads="1"/>
            </p:cNvSpPr>
            <p:nvPr/>
          </p:nvSpPr>
          <p:spPr bwMode="auto">
            <a:xfrm>
              <a:off x="3523" y="2008"/>
              <a:ext cx="174" cy="1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000">
                  <a:solidFill>
                    <a:srgbClr val="0000FF"/>
                  </a:solidFill>
                  <a:latin typeface="Arial" charset="0"/>
                </a:rPr>
                <a:t>call</a:t>
              </a:r>
              <a:endParaRPr lang="en-US"/>
            </a:p>
          </p:txBody>
        </p:sp>
        <p:sp>
          <p:nvSpPr>
            <p:cNvPr id="14388" name="Rectangle 55"/>
            <p:cNvSpPr>
              <a:spLocks noChangeArrowheads="1"/>
            </p:cNvSpPr>
            <p:nvPr/>
          </p:nvSpPr>
          <p:spPr bwMode="auto">
            <a:xfrm>
              <a:off x="3625" y="2419"/>
              <a:ext cx="174" cy="1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000">
                  <a:solidFill>
                    <a:srgbClr val="0000FF"/>
                  </a:solidFill>
                  <a:latin typeface="Arial" charset="0"/>
                </a:rPr>
                <a:t>call</a:t>
              </a:r>
              <a:endParaRPr lang="en-US"/>
            </a:p>
          </p:txBody>
        </p:sp>
        <p:sp>
          <p:nvSpPr>
            <p:cNvPr id="14389" name="Rectangle 56"/>
            <p:cNvSpPr>
              <a:spLocks noChangeArrowheads="1"/>
            </p:cNvSpPr>
            <p:nvPr/>
          </p:nvSpPr>
          <p:spPr bwMode="auto">
            <a:xfrm>
              <a:off x="3727" y="2827"/>
              <a:ext cx="174" cy="1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000">
                  <a:solidFill>
                    <a:srgbClr val="0000FF"/>
                  </a:solidFill>
                  <a:latin typeface="Arial" charset="0"/>
                </a:rPr>
                <a:t>call</a:t>
              </a:r>
              <a:endParaRPr lang="en-US"/>
            </a:p>
          </p:txBody>
        </p:sp>
        <p:sp>
          <p:nvSpPr>
            <p:cNvPr id="14390" name="Rectangle 57"/>
            <p:cNvSpPr>
              <a:spLocks noChangeArrowheads="1"/>
            </p:cNvSpPr>
            <p:nvPr/>
          </p:nvSpPr>
          <p:spPr bwMode="auto">
            <a:xfrm>
              <a:off x="3828" y="3243"/>
              <a:ext cx="174" cy="1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000">
                  <a:solidFill>
                    <a:srgbClr val="0000FF"/>
                  </a:solidFill>
                  <a:latin typeface="Arial" charset="0"/>
                </a:rPr>
                <a:t>call</a:t>
              </a:r>
              <a:endParaRPr lang="en-US"/>
            </a:p>
          </p:txBody>
        </p:sp>
        <p:sp>
          <p:nvSpPr>
            <p:cNvPr id="14391" name="Freeform 58"/>
            <p:cNvSpPr>
              <a:spLocks/>
            </p:cNvSpPr>
            <p:nvPr/>
          </p:nvSpPr>
          <p:spPr bwMode="auto">
            <a:xfrm>
              <a:off x="4155" y="2687"/>
              <a:ext cx="184" cy="393"/>
            </a:xfrm>
            <a:custGeom>
              <a:avLst/>
              <a:gdLst>
                <a:gd name="T0" fmla="*/ 79 w 184"/>
                <a:gd name="T1" fmla="*/ 393 h 393"/>
                <a:gd name="T2" fmla="*/ 122 w 184"/>
                <a:gd name="T3" fmla="*/ 354 h 393"/>
                <a:gd name="T4" fmla="*/ 154 w 184"/>
                <a:gd name="T5" fmla="*/ 315 h 393"/>
                <a:gd name="T6" fmla="*/ 175 w 184"/>
                <a:gd name="T7" fmla="*/ 275 h 393"/>
                <a:gd name="T8" fmla="*/ 184 w 184"/>
                <a:gd name="T9" fmla="*/ 236 h 393"/>
                <a:gd name="T10" fmla="*/ 182 w 184"/>
                <a:gd name="T11" fmla="*/ 197 h 393"/>
                <a:gd name="T12" fmla="*/ 169 w 184"/>
                <a:gd name="T13" fmla="*/ 157 h 393"/>
                <a:gd name="T14" fmla="*/ 144 w 184"/>
                <a:gd name="T15" fmla="*/ 118 h 393"/>
                <a:gd name="T16" fmla="*/ 107 w 184"/>
                <a:gd name="T17" fmla="*/ 78 h 393"/>
                <a:gd name="T18" fmla="*/ 60 w 184"/>
                <a:gd name="T19" fmla="*/ 39 h 393"/>
                <a:gd name="T20" fmla="*/ 0 w 184"/>
                <a:gd name="T21" fmla="*/ 0 h 393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184"/>
                <a:gd name="T34" fmla="*/ 0 h 393"/>
                <a:gd name="T35" fmla="*/ 184 w 184"/>
                <a:gd name="T36" fmla="*/ 393 h 393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184" h="393">
                  <a:moveTo>
                    <a:pt x="79" y="393"/>
                  </a:moveTo>
                  <a:lnTo>
                    <a:pt x="122" y="354"/>
                  </a:lnTo>
                  <a:lnTo>
                    <a:pt x="154" y="315"/>
                  </a:lnTo>
                  <a:lnTo>
                    <a:pt x="175" y="275"/>
                  </a:lnTo>
                  <a:lnTo>
                    <a:pt x="184" y="236"/>
                  </a:lnTo>
                  <a:lnTo>
                    <a:pt x="182" y="197"/>
                  </a:lnTo>
                  <a:lnTo>
                    <a:pt x="169" y="157"/>
                  </a:lnTo>
                  <a:lnTo>
                    <a:pt x="144" y="118"/>
                  </a:lnTo>
                  <a:lnTo>
                    <a:pt x="107" y="78"/>
                  </a:lnTo>
                  <a:lnTo>
                    <a:pt x="60" y="39"/>
                  </a:lnTo>
                  <a:lnTo>
                    <a:pt x="0" y="0"/>
                  </a:lnTo>
                </a:path>
              </a:pathLst>
            </a:custGeom>
            <a:noFill/>
            <a:ln w="1588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92" name="Freeform 59"/>
            <p:cNvSpPr>
              <a:spLocks/>
            </p:cNvSpPr>
            <p:nvPr/>
          </p:nvSpPr>
          <p:spPr bwMode="auto">
            <a:xfrm>
              <a:off x="4132" y="2673"/>
              <a:ext cx="35" cy="29"/>
            </a:xfrm>
            <a:custGeom>
              <a:avLst/>
              <a:gdLst>
                <a:gd name="T0" fmla="*/ 19 w 35"/>
                <a:gd name="T1" fmla="*/ 29 h 29"/>
                <a:gd name="T2" fmla="*/ 0 w 35"/>
                <a:gd name="T3" fmla="*/ 0 h 29"/>
                <a:gd name="T4" fmla="*/ 35 w 35"/>
                <a:gd name="T5" fmla="*/ 2 h 29"/>
                <a:gd name="T6" fmla="*/ 19 w 35"/>
                <a:gd name="T7" fmla="*/ 29 h 2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5"/>
                <a:gd name="T13" fmla="*/ 0 h 29"/>
                <a:gd name="T14" fmla="*/ 35 w 35"/>
                <a:gd name="T15" fmla="*/ 29 h 2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5" h="29">
                  <a:moveTo>
                    <a:pt x="19" y="29"/>
                  </a:moveTo>
                  <a:lnTo>
                    <a:pt x="0" y="0"/>
                  </a:lnTo>
                  <a:lnTo>
                    <a:pt x="35" y="2"/>
                  </a:lnTo>
                  <a:lnTo>
                    <a:pt x="19" y="2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93" name="Freeform 60"/>
            <p:cNvSpPr>
              <a:spLocks/>
            </p:cNvSpPr>
            <p:nvPr/>
          </p:nvSpPr>
          <p:spPr bwMode="auto">
            <a:xfrm>
              <a:off x="4054" y="2279"/>
              <a:ext cx="183" cy="394"/>
            </a:xfrm>
            <a:custGeom>
              <a:avLst/>
              <a:gdLst>
                <a:gd name="T0" fmla="*/ 78 w 183"/>
                <a:gd name="T1" fmla="*/ 394 h 394"/>
                <a:gd name="T2" fmla="*/ 121 w 183"/>
                <a:gd name="T3" fmla="*/ 355 h 394"/>
                <a:gd name="T4" fmla="*/ 153 w 183"/>
                <a:gd name="T5" fmla="*/ 315 h 394"/>
                <a:gd name="T6" fmla="*/ 174 w 183"/>
                <a:gd name="T7" fmla="*/ 276 h 394"/>
                <a:gd name="T8" fmla="*/ 183 w 183"/>
                <a:gd name="T9" fmla="*/ 237 h 394"/>
                <a:gd name="T10" fmla="*/ 181 w 183"/>
                <a:gd name="T11" fmla="*/ 197 h 394"/>
                <a:gd name="T12" fmla="*/ 168 w 183"/>
                <a:gd name="T13" fmla="*/ 158 h 394"/>
                <a:gd name="T14" fmla="*/ 143 w 183"/>
                <a:gd name="T15" fmla="*/ 119 h 394"/>
                <a:gd name="T16" fmla="*/ 106 w 183"/>
                <a:gd name="T17" fmla="*/ 79 h 394"/>
                <a:gd name="T18" fmla="*/ 59 w 183"/>
                <a:gd name="T19" fmla="*/ 40 h 394"/>
                <a:gd name="T20" fmla="*/ 0 w 183"/>
                <a:gd name="T21" fmla="*/ 0 h 394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183"/>
                <a:gd name="T34" fmla="*/ 0 h 394"/>
                <a:gd name="T35" fmla="*/ 183 w 183"/>
                <a:gd name="T36" fmla="*/ 394 h 394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183" h="394">
                  <a:moveTo>
                    <a:pt x="78" y="394"/>
                  </a:moveTo>
                  <a:lnTo>
                    <a:pt x="121" y="355"/>
                  </a:lnTo>
                  <a:lnTo>
                    <a:pt x="153" y="315"/>
                  </a:lnTo>
                  <a:lnTo>
                    <a:pt x="174" y="276"/>
                  </a:lnTo>
                  <a:lnTo>
                    <a:pt x="183" y="237"/>
                  </a:lnTo>
                  <a:lnTo>
                    <a:pt x="181" y="197"/>
                  </a:lnTo>
                  <a:lnTo>
                    <a:pt x="168" y="158"/>
                  </a:lnTo>
                  <a:lnTo>
                    <a:pt x="143" y="119"/>
                  </a:lnTo>
                  <a:lnTo>
                    <a:pt x="106" y="79"/>
                  </a:lnTo>
                  <a:lnTo>
                    <a:pt x="59" y="40"/>
                  </a:lnTo>
                  <a:lnTo>
                    <a:pt x="0" y="0"/>
                  </a:lnTo>
                </a:path>
              </a:pathLst>
            </a:custGeom>
            <a:noFill/>
            <a:ln w="1588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94" name="Freeform 61"/>
            <p:cNvSpPr>
              <a:spLocks/>
            </p:cNvSpPr>
            <p:nvPr/>
          </p:nvSpPr>
          <p:spPr bwMode="auto">
            <a:xfrm>
              <a:off x="4030" y="2265"/>
              <a:ext cx="35" cy="30"/>
            </a:xfrm>
            <a:custGeom>
              <a:avLst/>
              <a:gdLst>
                <a:gd name="T0" fmla="*/ 19 w 35"/>
                <a:gd name="T1" fmla="*/ 30 h 30"/>
                <a:gd name="T2" fmla="*/ 0 w 35"/>
                <a:gd name="T3" fmla="*/ 0 h 30"/>
                <a:gd name="T4" fmla="*/ 35 w 35"/>
                <a:gd name="T5" fmla="*/ 3 h 30"/>
                <a:gd name="T6" fmla="*/ 19 w 35"/>
                <a:gd name="T7" fmla="*/ 30 h 3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5"/>
                <a:gd name="T13" fmla="*/ 0 h 30"/>
                <a:gd name="T14" fmla="*/ 35 w 35"/>
                <a:gd name="T15" fmla="*/ 30 h 3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5" h="30">
                  <a:moveTo>
                    <a:pt x="19" y="30"/>
                  </a:moveTo>
                  <a:lnTo>
                    <a:pt x="0" y="0"/>
                  </a:lnTo>
                  <a:lnTo>
                    <a:pt x="35" y="3"/>
                  </a:lnTo>
                  <a:lnTo>
                    <a:pt x="19" y="3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95" name="Freeform 62"/>
            <p:cNvSpPr>
              <a:spLocks/>
            </p:cNvSpPr>
            <p:nvPr/>
          </p:nvSpPr>
          <p:spPr bwMode="auto">
            <a:xfrm>
              <a:off x="3952" y="1872"/>
              <a:ext cx="184" cy="393"/>
            </a:xfrm>
            <a:custGeom>
              <a:avLst/>
              <a:gdLst>
                <a:gd name="T0" fmla="*/ 78 w 184"/>
                <a:gd name="T1" fmla="*/ 393 h 393"/>
                <a:gd name="T2" fmla="*/ 121 w 184"/>
                <a:gd name="T3" fmla="*/ 354 h 393"/>
                <a:gd name="T4" fmla="*/ 154 w 184"/>
                <a:gd name="T5" fmla="*/ 315 h 393"/>
                <a:gd name="T6" fmla="*/ 174 w 184"/>
                <a:gd name="T7" fmla="*/ 275 h 393"/>
                <a:gd name="T8" fmla="*/ 184 w 184"/>
                <a:gd name="T9" fmla="*/ 236 h 393"/>
                <a:gd name="T10" fmla="*/ 181 w 184"/>
                <a:gd name="T11" fmla="*/ 197 h 393"/>
                <a:gd name="T12" fmla="*/ 168 w 184"/>
                <a:gd name="T13" fmla="*/ 157 h 393"/>
                <a:gd name="T14" fmla="*/ 143 w 184"/>
                <a:gd name="T15" fmla="*/ 118 h 393"/>
                <a:gd name="T16" fmla="*/ 107 w 184"/>
                <a:gd name="T17" fmla="*/ 79 h 393"/>
                <a:gd name="T18" fmla="*/ 59 w 184"/>
                <a:gd name="T19" fmla="*/ 39 h 393"/>
                <a:gd name="T20" fmla="*/ 0 w 184"/>
                <a:gd name="T21" fmla="*/ 0 h 393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184"/>
                <a:gd name="T34" fmla="*/ 0 h 393"/>
                <a:gd name="T35" fmla="*/ 184 w 184"/>
                <a:gd name="T36" fmla="*/ 393 h 393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184" h="393">
                  <a:moveTo>
                    <a:pt x="78" y="393"/>
                  </a:moveTo>
                  <a:lnTo>
                    <a:pt x="121" y="354"/>
                  </a:lnTo>
                  <a:lnTo>
                    <a:pt x="154" y="315"/>
                  </a:lnTo>
                  <a:lnTo>
                    <a:pt x="174" y="275"/>
                  </a:lnTo>
                  <a:lnTo>
                    <a:pt x="184" y="236"/>
                  </a:lnTo>
                  <a:lnTo>
                    <a:pt x="181" y="197"/>
                  </a:lnTo>
                  <a:lnTo>
                    <a:pt x="168" y="157"/>
                  </a:lnTo>
                  <a:lnTo>
                    <a:pt x="143" y="118"/>
                  </a:lnTo>
                  <a:lnTo>
                    <a:pt x="107" y="79"/>
                  </a:lnTo>
                  <a:lnTo>
                    <a:pt x="59" y="39"/>
                  </a:lnTo>
                  <a:lnTo>
                    <a:pt x="0" y="0"/>
                  </a:lnTo>
                </a:path>
              </a:pathLst>
            </a:custGeom>
            <a:noFill/>
            <a:ln w="1588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96" name="Freeform 63"/>
            <p:cNvSpPr>
              <a:spLocks/>
            </p:cNvSpPr>
            <p:nvPr/>
          </p:nvSpPr>
          <p:spPr bwMode="auto">
            <a:xfrm>
              <a:off x="3928" y="1858"/>
              <a:ext cx="35" cy="29"/>
            </a:xfrm>
            <a:custGeom>
              <a:avLst/>
              <a:gdLst>
                <a:gd name="T0" fmla="*/ 19 w 35"/>
                <a:gd name="T1" fmla="*/ 29 h 29"/>
                <a:gd name="T2" fmla="*/ 0 w 35"/>
                <a:gd name="T3" fmla="*/ 0 h 29"/>
                <a:gd name="T4" fmla="*/ 35 w 35"/>
                <a:gd name="T5" fmla="*/ 2 h 29"/>
                <a:gd name="T6" fmla="*/ 19 w 35"/>
                <a:gd name="T7" fmla="*/ 29 h 2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5"/>
                <a:gd name="T13" fmla="*/ 0 h 29"/>
                <a:gd name="T14" fmla="*/ 35 w 35"/>
                <a:gd name="T15" fmla="*/ 29 h 2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5" h="29">
                  <a:moveTo>
                    <a:pt x="19" y="29"/>
                  </a:moveTo>
                  <a:lnTo>
                    <a:pt x="0" y="0"/>
                  </a:lnTo>
                  <a:lnTo>
                    <a:pt x="35" y="2"/>
                  </a:lnTo>
                  <a:lnTo>
                    <a:pt x="19" y="2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97" name="Rectangle 64"/>
            <p:cNvSpPr>
              <a:spLocks noChangeArrowheads="1"/>
            </p:cNvSpPr>
            <p:nvPr/>
          </p:nvSpPr>
          <p:spPr bwMode="auto">
            <a:xfrm>
              <a:off x="4393" y="2819"/>
              <a:ext cx="352" cy="1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300">
                  <a:solidFill>
                    <a:srgbClr val="0000FF"/>
                  </a:solidFill>
                  <a:latin typeface="Arial" charset="0"/>
                </a:rPr>
                <a:t>return </a:t>
              </a:r>
              <a:endParaRPr lang="en-US"/>
            </a:p>
          </p:txBody>
        </p:sp>
        <p:sp>
          <p:nvSpPr>
            <p:cNvPr id="14398" name="Rectangle 65"/>
            <p:cNvSpPr>
              <a:spLocks noChangeArrowheads="1"/>
            </p:cNvSpPr>
            <p:nvPr/>
          </p:nvSpPr>
          <p:spPr bwMode="auto">
            <a:xfrm>
              <a:off x="4690" y="2819"/>
              <a:ext cx="106" cy="1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300">
                  <a:solidFill>
                    <a:srgbClr val="0000FF"/>
                  </a:solidFill>
                  <a:latin typeface="Arial" charset="0"/>
                </a:rPr>
                <a:t>1</a:t>
              </a:r>
              <a:endParaRPr lang="en-US"/>
            </a:p>
          </p:txBody>
        </p:sp>
        <p:sp>
          <p:nvSpPr>
            <p:cNvPr id="14399" name="Rectangle 66"/>
            <p:cNvSpPr>
              <a:spLocks noChangeArrowheads="1"/>
            </p:cNvSpPr>
            <p:nvPr/>
          </p:nvSpPr>
          <p:spPr bwMode="auto">
            <a:xfrm>
              <a:off x="4745" y="2819"/>
              <a:ext cx="89" cy="1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300">
                  <a:solidFill>
                    <a:srgbClr val="0000FF"/>
                  </a:solidFill>
                  <a:latin typeface="Arial" charset="0"/>
                </a:rPr>
                <a:t>*</a:t>
              </a:r>
              <a:endParaRPr lang="en-US"/>
            </a:p>
          </p:txBody>
        </p:sp>
        <p:sp>
          <p:nvSpPr>
            <p:cNvPr id="14400" name="Rectangle 67"/>
            <p:cNvSpPr>
              <a:spLocks noChangeArrowheads="1"/>
            </p:cNvSpPr>
            <p:nvPr/>
          </p:nvSpPr>
          <p:spPr bwMode="auto">
            <a:xfrm>
              <a:off x="4783" y="2819"/>
              <a:ext cx="136" cy="1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300">
                  <a:solidFill>
                    <a:srgbClr val="0000FF"/>
                  </a:solidFill>
                  <a:latin typeface="Arial" charset="0"/>
                </a:rPr>
                <a:t>1 </a:t>
              </a:r>
              <a:endParaRPr lang="en-US"/>
            </a:p>
          </p:txBody>
        </p:sp>
        <p:sp>
          <p:nvSpPr>
            <p:cNvPr id="14401" name="Rectangle 68"/>
            <p:cNvSpPr>
              <a:spLocks noChangeArrowheads="1"/>
            </p:cNvSpPr>
            <p:nvPr/>
          </p:nvSpPr>
          <p:spPr bwMode="auto">
            <a:xfrm>
              <a:off x="4868" y="2819"/>
              <a:ext cx="136" cy="1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300">
                  <a:solidFill>
                    <a:srgbClr val="0000FF"/>
                  </a:solidFill>
                  <a:latin typeface="Arial" charset="0"/>
                </a:rPr>
                <a:t>= </a:t>
              </a:r>
              <a:endParaRPr lang="en-US"/>
            </a:p>
          </p:txBody>
        </p:sp>
        <p:sp>
          <p:nvSpPr>
            <p:cNvPr id="14402" name="Rectangle 69"/>
            <p:cNvSpPr>
              <a:spLocks noChangeArrowheads="1"/>
            </p:cNvSpPr>
            <p:nvPr/>
          </p:nvSpPr>
          <p:spPr bwMode="auto">
            <a:xfrm>
              <a:off x="4957" y="2819"/>
              <a:ext cx="106" cy="1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300">
                  <a:solidFill>
                    <a:srgbClr val="0000FF"/>
                  </a:solidFill>
                  <a:latin typeface="Arial" charset="0"/>
                </a:rPr>
                <a:t>1</a:t>
              </a:r>
              <a:endParaRPr lang="en-US"/>
            </a:p>
          </p:txBody>
        </p:sp>
        <p:sp>
          <p:nvSpPr>
            <p:cNvPr id="14403" name="Rectangle 70"/>
            <p:cNvSpPr>
              <a:spLocks noChangeArrowheads="1"/>
            </p:cNvSpPr>
            <p:nvPr/>
          </p:nvSpPr>
          <p:spPr bwMode="auto">
            <a:xfrm>
              <a:off x="4299" y="2411"/>
              <a:ext cx="352" cy="1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300">
                  <a:solidFill>
                    <a:srgbClr val="0000FF"/>
                  </a:solidFill>
                  <a:latin typeface="Arial" charset="0"/>
                </a:rPr>
                <a:t>return </a:t>
              </a:r>
              <a:endParaRPr lang="en-US"/>
            </a:p>
          </p:txBody>
        </p:sp>
        <p:sp>
          <p:nvSpPr>
            <p:cNvPr id="14404" name="Rectangle 71"/>
            <p:cNvSpPr>
              <a:spLocks noChangeArrowheads="1"/>
            </p:cNvSpPr>
            <p:nvPr/>
          </p:nvSpPr>
          <p:spPr bwMode="auto">
            <a:xfrm>
              <a:off x="4592" y="2411"/>
              <a:ext cx="106" cy="1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300">
                  <a:solidFill>
                    <a:srgbClr val="0000FF"/>
                  </a:solidFill>
                  <a:latin typeface="Arial" charset="0"/>
                </a:rPr>
                <a:t>2</a:t>
              </a:r>
              <a:endParaRPr lang="en-US"/>
            </a:p>
          </p:txBody>
        </p:sp>
        <p:sp>
          <p:nvSpPr>
            <p:cNvPr id="14405" name="Rectangle 72"/>
            <p:cNvSpPr>
              <a:spLocks noChangeArrowheads="1"/>
            </p:cNvSpPr>
            <p:nvPr/>
          </p:nvSpPr>
          <p:spPr bwMode="auto">
            <a:xfrm>
              <a:off x="4652" y="2411"/>
              <a:ext cx="89" cy="1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300">
                  <a:solidFill>
                    <a:srgbClr val="0000FF"/>
                  </a:solidFill>
                  <a:latin typeface="Arial" charset="0"/>
                </a:rPr>
                <a:t>*</a:t>
              </a:r>
              <a:endParaRPr lang="en-US"/>
            </a:p>
          </p:txBody>
        </p:sp>
        <p:sp>
          <p:nvSpPr>
            <p:cNvPr id="14406" name="Rectangle 73"/>
            <p:cNvSpPr>
              <a:spLocks noChangeArrowheads="1"/>
            </p:cNvSpPr>
            <p:nvPr/>
          </p:nvSpPr>
          <p:spPr bwMode="auto">
            <a:xfrm>
              <a:off x="4690" y="2411"/>
              <a:ext cx="136" cy="1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300">
                  <a:solidFill>
                    <a:srgbClr val="0000FF"/>
                  </a:solidFill>
                  <a:latin typeface="Arial" charset="0"/>
                </a:rPr>
                <a:t>1 </a:t>
              </a:r>
              <a:endParaRPr lang="en-US"/>
            </a:p>
          </p:txBody>
        </p:sp>
        <p:sp>
          <p:nvSpPr>
            <p:cNvPr id="14407" name="Rectangle 74"/>
            <p:cNvSpPr>
              <a:spLocks noChangeArrowheads="1"/>
            </p:cNvSpPr>
            <p:nvPr/>
          </p:nvSpPr>
          <p:spPr bwMode="auto">
            <a:xfrm>
              <a:off x="4775" y="2411"/>
              <a:ext cx="136" cy="1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300">
                  <a:solidFill>
                    <a:srgbClr val="0000FF"/>
                  </a:solidFill>
                  <a:latin typeface="Arial" charset="0"/>
                </a:rPr>
                <a:t>= </a:t>
              </a:r>
              <a:endParaRPr lang="en-US"/>
            </a:p>
          </p:txBody>
        </p:sp>
        <p:sp>
          <p:nvSpPr>
            <p:cNvPr id="14408" name="Rectangle 75"/>
            <p:cNvSpPr>
              <a:spLocks noChangeArrowheads="1"/>
            </p:cNvSpPr>
            <p:nvPr/>
          </p:nvSpPr>
          <p:spPr bwMode="auto">
            <a:xfrm>
              <a:off x="4864" y="2411"/>
              <a:ext cx="106" cy="1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300">
                  <a:solidFill>
                    <a:srgbClr val="0000FF"/>
                  </a:solidFill>
                  <a:latin typeface="Arial" charset="0"/>
                </a:rPr>
                <a:t>2</a:t>
              </a:r>
              <a:endParaRPr lang="en-US"/>
            </a:p>
          </p:txBody>
        </p:sp>
        <p:sp>
          <p:nvSpPr>
            <p:cNvPr id="14409" name="Rectangle 76"/>
            <p:cNvSpPr>
              <a:spLocks noChangeArrowheads="1"/>
            </p:cNvSpPr>
            <p:nvPr/>
          </p:nvSpPr>
          <p:spPr bwMode="auto">
            <a:xfrm>
              <a:off x="4164" y="2004"/>
              <a:ext cx="352" cy="1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300" dirty="0">
                  <a:solidFill>
                    <a:srgbClr val="0000FF"/>
                  </a:solidFill>
                  <a:latin typeface="Arial" charset="0"/>
                </a:rPr>
                <a:t>return </a:t>
              </a:r>
              <a:endParaRPr lang="en-US" dirty="0"/>
            </a:p>
          </p:txBody>
        </p:sp>
        <p:sp>
          <p:nvSpPr>
            <p:cNvPr id="14410" name="Rectangle 77"/>
            <p:cNvSpPr>
              <a:spLocks noChangeArrowheads="1"/>
            </p:cNvSpPr>
            <p:nvPr/>
          </p:nvSpPr>
          <p:spPr bwMode="auto">
            <a:xfrm>
              <a:off x="4461" y="2004"/>
              <a:ext cx="106" cy="1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300">
                  <a:solidFill>
                    <a:srgbClr val="0000FF"/>
                  </a:solidFill>
                  <a:latin typeface="Arial" charset="0"/>
                </a:rPr>
                <a:t>3</a:t>
              </a:r>
              <a:endParaRPr lang="en-US"/>
            </a:p>
          </p:txBody>
        </p:sp>
        <p:sp>
          <p:nvSpPr>
            <p:cNvPr id="14411" name="Rectangle 78"/>
            <p:cNvSpPr>
              <a:spLocks noChangeArrowheads="1"/>
            </p:cNvSpPr>
            <p:nvPr/>
          </p:nvSpPr>
          <p:spPr bwMode="auto">
            <a:xfrm>
              <a:off x="4516" y="2004"/>
              <a:ext cx="89" cy="1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300">
                  <a:solidFill>
                    <a:srgbClr val="0000FF"/>
                  </a:solidFill>
                  <a:latin typeface="Arial" charset="0"/>
                </a:rPr>
                <a:t>*</a:t>
              </a:r>
              <a:endParaRPr lang="en-US"/>
            </a:p>
          </p:txBody>
        </p:sp>
        <p:sp>
          <p:nvSpPr>
            <p:cNvPr id="14412" name="Rectangle 79"/>
            <p:cNvSpPr>
              <a:spLocks noChangeArrowheads="1"/>
            </p:cNvSpPr>
            <p:nvPr/>
          </p:nvSpPr>
          <p:spPr bwMode="auto">
            <a:xfrm>
              <a:off x="4554" y="2004"/>
              <a:ext cx="136" cy="1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300">
                  <a:solidFill>
                    <a:srgbClr val="0000FF"/>
                  </a:solidFill>
                  <a:latin typeface="Arial" charset="0"/>
                </a:rPr>
                <a:t>2 </a:t>
              </a:r>
              <a:endParaRPr lang="en-US"/>
            </a:p>
          </p:txBody>
        </p:sp>
        <p:sp>
          <p:nvSpPr>
            <p:cNvPr id="14413" name="Rectangle 80"/>
            <p:cNvSpPr>
              <a:spLocks noChangeArrowheads="1"/>
            </p:cNvSpPr>
            <p:nvPr/>
          </p:nvSpPr>
          <p:spPr bwMode="auto">
            <a:xfrm>
              <a:off x="4639" y="2004"/>
              <a:ext cx="136" cy="1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300">
                  <a:solidFill>
                    <a:srgbClr val="0000FF"/>
                  </a:solidFill>
                  <a:latin typeface="Arial" charset="0"/>
                </a:rPr>
                <a:t>= </a:t>
              </a:r>
              <a:endParaRPr lang="en-US"/>
            </a:p>
          </p:txBody>
        </p:sp>
        <p:sp>
          <p:nvSpPr>
            <p:cNvPr id="14414" name="Rectangle 81"/>
            <p:cNvSpPr>
              <a:spLocks noChangeArrowheads="1"/>
            </p:cNvSpPr>
            <p:nvPr/>
          </p:nvSpPr>
          <p:spPr bwMode="auto">
            <a:xfrm>
              <a:off x="4728" y="2004"/>
              <a:ext cx="106" cy="1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300">
                  <a:solidFill>
                    <a:srgbClr val="0000FF"/>
                  </a:solidFill>
                  <a:latin typeface="Arial" charset="0"/>
                </a:rPr>
                <a:t>6</a:t>
              </a:r>
              <a:endParaRPr lang="en-US"/>
            </a:p>
          </p:txBody>
        </p:sp>
        <p:sp>
          <p:nvSpPr>
            <p:cNvPr id="14415" name="Freeform 82"/>
            <p:cNvSpPr>
              <a:spLocks/>
            </p:cNvSpPr>
            <p:nvPr/>
          </p:nvSpPr>
          <p:spPr bwMode="auto">
            <a:xfrm>
              <a:off x="3928" y="1681"/>
              <a:ext cx="298" cy="177"/>
            </a:xfrm>
            <a:custGeom>
              <a:avLst/>
              <a:gdLst>
                <a:gd name="T0" fmla="*/ 0 w 298"/>
                <a:gd name="T1" fmla="*/ 177 h 177"/>
                <a:gd name="T2" fmla="*/ 64 w 298"/>
                <a:gd name="T3" fmla="*/ 173 h 177"/>
                <a:gd name="T4" fmla="*/ 121 w 298"/>
                <a:gd name="T5" fmla="*/ 163 h 177"/>
                <a:gd name="T6" fmla="*/ 171 w 298"/>
                <a:gd name="T7" fmla="*/ 144 h 177"/>
                <a:gd name="T8" fmla="*/ 214 w 298"/>
                <a:gd name="T9" fmla="*/ 119 h 177"/>
                <a:gd name="T10" fmla="*/ 249 w 298"/>
                <a:gd name="T11" fmla="*/ 87 h 177"/>
                <a:gd name="T12" fmla="*/ 277 w 298"/>
                <a:gd name="T13" fmla="*/ 47 h 177"/>
                <a:gd name="T14" fmla="*/ 298 w 298"/>
                <a:gd name="T15" fmla="*/ 0 h 17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298"/>
                <a:gd name="T25" fmla="*/ 0 h 177"/>
                <a:gd name="T26" fmla="*/ 298 w 298"/>
                <a:gd name="T27" fmla="*/ 177 h 177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98" h="177">
                  <a:moveTo>
                    <a:pt x="0" y="177"/>
                  </a:moveTo>
                  <a:lnTo>
                    <a:pt x="64" y="173"/>
                  </a:lnTo>
                  <a:lnTo>
                    <a:pt x="121" y="163"/>
                  </a:lnTo>
                  <a:lnTo>
                    <a:pt x="171" y="144"/>
                  </a:lnTo>
                  <a:lnTo>
                    <a:pt x="214" y="119"/>
                  </a:lnTo>
                  <a:lnTo>
                    <a:pt x="249" y="87"/>
                  </a:lnTo>
                  <a:lnTo>
                    <a:pt x="277" y="47"/>
                  </a:lnTo>
                  <a:lnTo>
                    <a:pt x="298" y="0"/>
                  </a:lnTo>
                </a:path>
              </a:pathLst>
            </a:custGeom>
            <a:noFill/>
            <a:ln w="1588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16" name="Freeform 83"/>
            <p:cNvSpPr>
              <a:spLocks/>
            </p:cNvSpPr>
            <p:nvPr/>
          </p:nvSpPr>
          <p:spPr bwMode="auto">
            <a:xfrm>
              <a:off x="4210" y="1654"/>
              <a:ext cx="30" cy="35"/>
            </a:xfrm>
            <a:custGeom>
              <a:avLst/>
              <a:gdLst>
                <a:gd name="T0" fmla="*/ 30 w 30"/>
                <a:gd name="T1" fmla="*/ 35 h 35"/>
                <a:gd name="T2" fmla="*/ 24 w 30"/>
                <a:gd name="T3" fmla="*/ 0 h 35"/>
                <a:gd name="T4" fmla="*/ 0 w 30"/>
                <a:gd name="T5" fmla="*/ 26 h 35"/>
                <a:gd name="T6" fmla="*/ 30 w 30"/>
                <a:gd name="T7" fmla="*/ 35 h 3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0"/>
                <a:gd name="T13" fmla="*/ 0 h 35"/>
                <a:gd name="T14" fmla="*/ 30 w 30"/>
                <a:gd name="T15" fmla="*/ 35 h 3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0" h="35">
                  <a:moveTo>
                    <a:pt x="30" y="35"/>
                  </a:moveTo>
                  <a:lnTo>
                    <a:pt x="24" y="0"/>
                  </a:lnTo>
                  <a:lnTo>
                    <a:pt x="0" y="26"/>
                  </a:lnTo>
                  <a:lnTo>
                    <a:pt x="30" y="3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17" name="Rectangle 84"/>
            <p:cNvSpPr>
              <a:spLocks noChangeArrowheads="1"/>
            </p:cNvSpPr>
            <p:nvPr/>
          </p:nvSpPr>
          <p:spPr bwMode="auto">
            <a:xfrm>
              <a:off x="3884" y="1537"/>
              <a:ext cx="352" cy="1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300">
                  <a:solidFill>
                    <a:srgbClr val="0000FF"/>
                  </a:solidFill>
                  <a:latin typeface="Arial" charset="0"/>
                </a:rPr>
                <a:t>return </a:t>
              </a:r>
              <a:endParaRPr lang="en-US"/>
            </a:p>
          </p:txBody>
        </p:sp>
        <p:sp>
          <p:nvSpPr>
            <p:cNvPr id="14418" name="Rectangle 85"/>
            <p:cNvSpPr>
              <a:spLocks noChangeArrowheads="1"/>
            </p:cNvSpPr>
            <p:nvPr/>
          </p:nvSpPr>
          <p:spPr bwMode="auto">
            <a:xfrm>
              <a:off x="4176" y="1537"/>
              <a:ext cx="106" cy="1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300">
                  <a:solidFill>
                    <a:srgbClr val="0000FF"/>
                  </a:solidFill>
                  <a:latin typeface="Arial" charset="0"/>
                </a:rPr>
                <a:t>4</a:t>
              </a:r>
              <a:endParaRPr lang="en-US"/>
            </a:p>
          </p:txBody>
        </p:sp>
        <p:sp>
          <p:nvSpPr>
            <p:cNvPr id="14419" name="Rectangle 86"/>
            <p:cNvSpPr>
              <a:spLocks noChangeArrowheads="1"/>
            </p:cNvSpPr>
            <p:nvPr/>
          </p:nvSpPr>
          <p:spPr bwMode="auto">
            <a:xfrm>
              <a:off x="4232" y="1537"/>
              <a:ext cx="89" cy="1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300">
                  <a:solidFill>
                    <a:srgbClr val="0000FF"/>
                  </a:solidFill>
                  <a:latin typeface="Arial" charset="0"/>
                </a:rPr>
                <a:t>*</a:t>
              </a:r>
              <a:endParaRPr lang="en-US"/>
            </a:p>
          </p:txBody>
        </p:sp>
        <p:sp>
          <p:nvSpPr>
            <p:cNvPr id="14420" name="Rectangle 87"/>
            <p:cNvSpPr>
              <a:spLocks noChangeArrowheads="1"/>
            </p:cNvSpPr>
            <p:nvPr/>
          </p:nvSpPr>
          <p:spPr bwMode="auto">
            <a:xfrm>
              <a:off x="4274" y="1537"/>
              <a:ext cx="136" cy="1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300">
                  <a:solidFill>
                    <a:srgbClr val="0000FF"/>
                  </a:solidFill>
                  <a:latin typeface="Arial" charset="0"/>
                </a:rPr>
                <a:t>6 </a:t>
              </a:r>
              <a:endParaRPr lang="en-US"/>
            </a:p>
          </p:txBody>
        </p:sp>
        <p:sp>
          <p:nvSpPr>
            <p:cNvPr id="14421" name="Rectangle 88"/>
            <p:cNvSpPr>
              <a:spLocks noChangeArrowheads="1"/>
            </p:cNvSpPr>
            <p:nvPr/>
          </p:nvSpPr>
          <p:spPr bwMode="auto">
            <a:xfrm>
              <a:off x="4359" y="1537"/>
              <a:ext cx="136" cy="1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300">
                  <a:solidFill>
                    <a:srgbClr val="0000FF"/>
                  </a:solidFill>
                  <a:latin typeface="Arial" charset="0"/>
                </a:rPr>
                <a:t>= </a:t>
              </a:r>
              <a:endParaRPr lang="en-US"/>
            </a:p>
          </p:txBody>
        </p:sp>
        <p:sp>
          <p:nvSpPr>
            <p:cNvPr id="14422" name="Rectangle 89"/>
            <p:cNvSpPr>
              <a:spLocks noChangeArrowheads="1"/>
            </p:cNvSpPr>
            <p:nvPr/>
          </p:nvSpPr>
          <p:spPr bwMode="auto">
            <a:xfrm>
              <a:off x="4444" y="1537"/>
              <a:ext cx="166" cy="1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300">
                  <a:solidFill>
                    <a:srgbClr val="0000FF"/>
                  </a:solidFill>
                  <a:latin typeface="Arial" charset="0"/>
                </a:rPr>
                <a:t>24</a:t>
              </a:r>
              <a:endParaRPr lang="en-US"/>
            </a:p>
          </p:txBody>
        </p:sp>
        <p:sp>
          <p:nvSpPr>
            <p:cNvPr id="14423" name="Line 90"/>
            <p:cNvSpPr>
              <a:spLocks noChangeShapeType="1"/>
            </p:cNvSpPr>
            <p:nvPr/>
          </p:nvSpPr>
          <p:spPr bwMode="auto">
            <a:xfrm>
              <a:off x="4590" y="1603"/>
              <a:ext cx="329" cy="1"/>
            </a:xfrm>
            <a:prstGeom prst="line">
              <a:avLst/>
            </a:prstGeom>
            <a:noFill/>
            <a:ln w="1588" cap="rnd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24" name="Freeform 91"/>
            <p:cNvSpPr>
              <a:spLocks/>
            </p:cNvSpPr>
            <p:nvPr/>
          </p:nvSpPr>
          <p:spPr bwMode="auto">
            <a:xfrm>
              <a:off x="4915" y="1588"/>
              <a:ext cx="32" cy="31"/>
            </a:xfrm>
            <a:custGeom>
              <a:avLst/>
              <a:gdLst>
                <a:gd name="T0" fmla="*/ 0 w 32"/>
                <a:gd name="T1" fmla="*/ 0 h 31"/>
                <a:gd name="T2" fmla="*/ 32 w 32"/>
                <a:gd name="T3" fmla="*/ 15 h 31"/>
                <a:gd name="T4" fmla="*/ 0 w 32"/>
                <a:gd name="T5" fmla="*/ 31 h 31"/>
                <a:gd name="T6" fmla="*/ 0 w 32"/>
                <a:gd name="T7" fmla="*/ 0 h 3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2"/>
                <a:gd name="T13" fmla="*/ 0 h 31"/>
                <a:gd name="T14" fmla="*/ 32 w 32"/>
                <a:gd name="T15" fmla="*/ 31 h 3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2" h="31">
                  <a:moveTo>
                    <a:pt x="0" y="0"/>
                  </a:moveTo>
                  <a:lnTo>
                    <a:pt x="32" y="15"/>
                  </a:lnTo>
                  <a:lnTo>
                    <a:pt x="0" y="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25" name="Rectangle 92"/>
            <p:cNvSpPr>
              <a:spLocks noChangeArrowheads="1"/>
            </p:cNvSpPr>
            <p:nvPr/>
          </p:nvSpPr>
          <p:spPr bwMode="auto">
            <a:xfrm>
              <a:off x="4978" y="1541"/>
              <a:ext cx="611" cy="1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300">
                  <a:solidFill>
                    <a:srgbClr val="0000FF"/>
                  </a:solidFill>
                  <a:latin typeface="Arial" charset="0"/>
                </a:rPr>
                <a:t>final answer</a:t>
              </a:r>
              <a:endParaRPr lang="en-US"/>
            </a:p>
          </p:txBody>
        </p:sp>
        <p:sp>
          <p:nvSpPr>
            <p:cNvPr id="14426" name="Line 93"/>
            <p:cNvSpPr>
              <a:spLocks noChangeShapeType="1"/>
            </p:cNvSpPr>
            <p:nvPr/>
          </p:nvSpPr>
          <p:spPr bwMode="auto">
            <a:xfrm flipV="1">
              <a:off x="4794" y="2971"/>
              <a:ext cx="1" cy="257"/>
            </a:xfrm>
            <a:prstGeom prst="line">
              <a:avLst/>
            </a:prstGeom>
            <a:noFill/>
            <a:ln w="6350" cap="rnd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27" name="Freeform 94"/>
            <p:cNvSpPr>
              <a:spLocks/>
            </p:cNvSpPr>
            <p:nvPr/>
          </p:nvSpPr>
          <p:spPr bwMode="auto">
            <a:xfrm>
              <a:off x="4776" y="2939"/>
              <a:ext cx="36" cy="37"/>
            </a:xfrm>
            <a:custGeom>
              <a:avLst/>
              <a:gdLst>
                <a:gd name="T0" fmla="*/ 0 w 36"/>
                <a:gd name="T1" fmla="*/ 37 h 37"/>
                <a:gd name="T2" fmla="*/ 18 w 36"/>
                <a:gd name="T3" fmla="*/ 0 h 37"/>
                <a:gd name="T4" fmla="*/ 36 w 36"/>
                <a:gd name="T5" fmla="*/ 37 h 37"/>
                <a:gd name="T6" fmla="*/ 0 w 36"/>
                <a:gd name="T7" fmla="*/ 37 h 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6"/>
                <a:gd name="T13" fmla="*/ 0 h 37"/>
                <a:gd name="T14" fmla="*/ 36 w 36"/>
                <a:gd name="T15" fmla="*/ 37 h 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6" h="37">
                  <a:moveTo>
                    <a:pt x="0" y="37"/>
                  </a:moveTo>
                  <a:lnTo>
                    <a:pt x="18" y="0"/>
                  </a:lnTo>
                  <a:lnTo>
                    <a:pt x="36" y="37"/>
                  </a:lnTo>
                  <a:lnTo>
                    <a:pt x="0" y="37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28" name="Line 95"/>
            <p:cNvSpPr>
              <a:spLocks noChangeShapeType="1"/>
            </p:cNvSpPr>
            <p:nvPr/>
          </p:nvSpPr>
          <p:spPr bwMode="auto">
            <a:xfrm flipH="1" flipV="1">
              <a:off x="4736" y="2558"/>
              <a:ext cx="185" cy="268"/>
            </a:xfrm>
            <a:prstGeom prst="line">
              <a:avLst/>
            </a:prstGeom>
            <a:noFill/>
            <a:ln w="6350" cap="rnd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29" name="Freeform 96"/>
            <p:cNvSpPr>
              <a:spLocks/>
            </p:cNvSpPr>
            <p:nvPr/>
          </p:nvSpPr>
          <p:spPr bwMode="auto">
            <a:xfrm>
              <a:off x="4717" y="2532"/>
              <a:ext cx="36" cy="40"/>
            </a:xfrm>
            <a:custGeom>
              <a:avLst/>
              <a:gdLst>
                <a:gd name="T0" fmla="*/ 6 w 36"/>
                <a:gd name="T1" fmla="*/ 40 h 40"/>
                <a:gd name="T2" fmla="*/ 0 w 36"/>
                <a:gd name="T3" fmla="*/ 0 h 40"/>
                <a:gd name="T4" fmla="*/ 36 w 36"/>
                <a:gd name="T5" fmla="*/ 19 h 40"/>
                <a:gd name="T6" fmla="*/ 6 w 36"/>
                <a:gd name="T7" fmla="*/ 40 h 4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6"/>
                <a:gd name="T13" fmla="*/ 0 h 40"/>
                <a:gd name="T14" fmla="*/ 36 w 36"/>
                <a:gd name="T15" fmla="*/ 40 h 4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6" h="40">
                  <a:moveTo>
                    <a:pt x="6" y="40"/>
                  </a:moveTo>
                  <a:lnTo>
                    <a:pt x="0" y="0"/>
                  </a:lnTo>
                  <a:lnTo>
                    <a:pt x="36" y="19"/>
                  </a:lnTo>
                  <a:lnTo>
                    <a:pt x="6" y="40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30" name="Line 97"/>
            <p:cNvSpPr>
              <a:spLocks noChangeShapeType="1"/>
            </p:cNvSpPr>
            <p:nvPr/>
          </p:nvSpPr>
          <p:spPr bwMode="auto">
            <a:xfrm flipH="1" flipV="1">
              <a:off x="4611" y="2148"/>
              <a:ext cx="234" cy="270"/>
            </a:xfrm>
            <a:prstGeom prst="line">
              <a:avLst/>
            </a:prstGeom>
            <a:noFill/>
            <a:ln w="6350" cap="rnd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31" name="Freeform 98"/>
            <p:cNvSpPr>
              <a:spLocks/>
            </p:cNvSpPr>
            <p:nvPr/>
          </p:nvSpPr>
          <p:spPr bwMode="auto">
            <a:xfrm>
              <a:off x="4590" y="2124"/>
              <a:ext cx="38" cy="40"/>
            </a:xfrm>
            <a:custGeom>
              <a:avLst/>
              <a:gdLst>
                <a:gd name="T0" fmla="*/ 10 w 38"/>
                <a:gd name="T1" fmla="*/ 40 h 40"/>
                <a:gd name="T2" fmla="*/ 0 w 38"/>
                <a:gd name="T3" fmla="*/ 0 h 40"/>
                <a:gd name="T4" fmla="*/ 38 w 38"/>
                <a:gd name="T5" fmla="*/ 16 h 40"/>
                <a:gd name="T6" fmla="*/ 10 w 38"/>
                <a:gd name="T7" fmla="*/ 40 h 4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8"/>
                <a:gd name="T13" fmla="*/ 0 h 40"/>
                <a:gd name="T14" fmla="*/ 38 w 38"/>
                <a:gd name="T15" fmla="*/ 40 h 4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8" h="40">
                  <a:moveTo>
                    <a:pt x="10" y="40"/>
                  </a:moveTo>
                  <a:lnTo>
                    <a:pt x="0" y="0"/>
                  </a:lnTo>
                  <a:lnTo>
                    <a:pt x="38" y="16"/>
                  </a:lnTo>
                  <a:lnTo>
                    <a:pt x="10" y="40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32" name="Line 99"/>
            <p:cNvSpPr>
              <a:spLocks noChangeShapeType="1"/>
            </p:cNvSpPr>
            <p:nvPr/>
          </p:nvSpPr>
          <p:spPr bwMode="auto">
            <a:xfrm flipH="1" flipV="1">
              <a:off x="4335" y="1675"/>
              <a:ext cx="408" cy="336"/>
            </a:xfrm>
            <a:prstGeom prst="line">
              <a:avLst/>
            </a:prstGeom>
            <a:noFill/>
            <a:ln w="6350" cap="rnd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33" name="Freeform 100"/>
            <p:cNvSpPr>
              <a:spLocks/>
            </p:cNvSpPr>
            <p:nvPr/>
          </p:nvSpPr>
          <p:spPr bwMode="auto">
            <a:xfrm>
              <a:off x="4310" y="1654"/>
              <a:ext cx="40" cy="38"/>
            </a:xfrm>
            <a:custGeom>
              <a:avLst/>
              <a:gdLst>
                <a:gd name="T0" fmla="*/ 17 w 40"/>
                <a:gd name="T1" fmla="*/ 38 h 38"/>
                <a:gd name="T2" fmla="*/ 0 w 40"/>
                <a:gd name="T3" fmla="*/ 0 h 38"/>
                <a:gd name="T4" fmla="*/ 40 w 40"/>
                <a:gd name="T5" fmla="*/ 10 h 38"/>
                <a:gd name="T6" fmla="*/ 17 w 40"/>
                <a:gd name="T7" fmla="*/ 38 h 3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0"/>
                <a:gd name="T13" fmla="*/ 0 h 38"/>
                <a:gd name="T14" fmla="*/ 40 w 40"/>
                <a:gd name="T15" fmla="*/ 38 h 3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0" h="38">
                  <a:moveTo>
                    <a:pt x="17" y="38"/>
                  </a:moveTo>
                  <a:lnTo>
                    <a:pt x="0" y="0"/>
                  </a:lnTo>
                  <a:lnTo>
                    <a:pt x="40" y="10"/>
                  </a:lnTo>
                  <a:lnTo>
                    <a:pt x="17" y="38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34" name="Line 101"/>
            <p:cNvSpPr>
              <a:spLocks noChangeShapeType="1"/>
            </p:cNvSpPr>
            <p:nvPr/>
          </p:nvSpPr>
          <p:spPr bwMode="auto">
            <a:xfrm>
              <a:off x="3368" y="1552"/>
              <a:ext cx="44" cy="178"/>
            </a:xfrm>
            <a:prstGeom prst="line">
              <a:avLst/>
            </a:prstGeom>
            <a:noFill/>
            <a:ln w="1588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35" name="Freeform 102"/>
            <p:cNvSpPr>
              <a:spLocks/>
            </p:cNvSpPr>
            <p:nvPr/>
          </p:nvSpPr>
          <p:spPr bwMode="auto">
            <a:xfrm>
              <a:off x="3396" y="1722"/>
              <a:ext cx="30" cy="34"/>
            </a:xfrm>
            <a:custGeom>
              <a:avLst/>
              <a:gdLst>
                <a:gd name="T0" fmla="*/ 30 w 30"/>
                <a:gd name="T1" fmla="*/ 0 h 34"/>
                <a:gd name="T2" fmla="*/ 23 w 30"/>
                <a:gd name="T3" fmla="*/ 34 h 34"/>
                <a:gd name="T4" fmla="*/ 0 w 30"/>
                <a:gd name="T5" fmla="*/ 8 h 34"/>
                <a:gd name="T6" fmla="*/ 30 w 30"/>
                <a:gd name="T7" fmla="*/ 0 h 3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0"/>
                <a:gd name="T13" fmla="*/ 0 h 34"/>
                <a:gd name="T14" fmla="*/ 30 w 30"/>
                <a:gd name="T15" fmla="*/ 34 h 3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0" h="34">
                  <a:moveTo>
                    <a:pt x="30" y="0"/>
                  </a:moveTo>
                  <a:lnTo>
                    <a:pt x="23" y="34"/>
                  </a:lnTo>
                  <a:lnTo>
                    <a:pt x="0" y="8"/>
                  </a:lnTo>
                  <a:lnTo>
                    <a:pt x="3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36" name="Rectangle 103"/>
            <p:cNvSpPr>
              <a:spLocks noChangeArrowheads="1"/>
            </p:cNvSpPr>
            <p:nvPr/>
          </p:nvSpPr>
          <p:spPr bwMode="auto">
            <a:xfrm>
              <a:off x="3421" y="1600"/>
              <a:ext cx="174" cy="1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000">
                  <a:solidFill>
                    <a:srgbClr val="0000FF"/>
                  </a:solidFill>
                  <a:latin typeface="Arial" charset="0"/>
                </a:rPr>
                <a:t>call</a:t>
              </a:r>
              <a:endParaRPr lang="en-US"/>
            </a:p>
          </p:txBody>
        </p:sp>
      </p:grpSp>
      <p:sp>
        <p:nvSpPr>
          <p:cNvPr id="14343" name="Date Placeholder 103"/>
          <p:cNvSpPr>
            <a:spLocks noGrp="1"/>
          </p:cNvSpPr>
          <p:nvPr>
            <p:ph type="dt" sz="quarter" idx="10"/>
          </p:nvPr>
        </p:nvSpPr>
        <p:spPr>
          <a:xfrm>
            <a:off x="3124200" y="6248400"/>
            <a:ext cx="2895600" cy="457200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sz="1200" smtClean="0"/>
              <a:t>© 2014 Goodrich, Tamassia, Goldwasser</a:t>
            </a:r>
            <a:endParaRPr lang="en-US" sz="12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057400"/>
            <a:ext cx="8105825" cy="4395986"/>
          </a:xfrm>
          <a:prstGeom prst="rect">
            <a:avLst/>
          </a:prstGeom>
        </p:spPr>
      </p:pic>
      <p:sp>
        <p:nvSpPr>
          <p:cNvPr id="4505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Tahoma" charset="0"/>
              </a:rPr>
              <a:t>Binary Search</a:t>
            </a:r>
          </a:p>
        </p:txBody>
      </p:sp>
      <p:sp>
        <p:nvSpPr>
          <p:cNvPr id="45058" name="Content Placeholder 2" descr="Rectangle: Click to edit Master text styles&#10;Second level&#10;Third level&#10;Fourth level&#10;Fifth level"/>
          <p:cNvSpPr>
            <a:spLocks noGrp="1"/>
          </p:cNvSpPr>
          <p:nvPr>
            <p:ph idx="1"/>
          </p:nvPr>
        </p:nvSpPr>
        <p:spPr>
          <a:xfrm>
            <a:off x="685800" y="1600200"/>
            <a:ext cx="7772400" cy="381000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>
                <a:latin typeface="Tahoma" charset="0"/>
              </a:rPr>
              <a:t>Search for an </a:t>
            </a:r>
            <a:r>
              <a:rPr lang="en-US" dirty="0" smtClean="0">
                <a:latin typeface="Tahoma" charset="0"/>
              </a:rPr>
              <a:t>integer in </a:t>
            </a:r>
            <a:r>
              <a:rPr lang="en-US" dirty="0">
                <a:latin typeface="Tahoma" charset="0"/>
              </a:rPr>
              <a:t>an ordered </a:t>
            </a:r>
            <a:r>
              <a:rPr lang="en-US" dirty="0" smtClean="0">
                <a:latin typeface="Tahoma" charset="0"/>
              </a:rPr>
              <a:t>list</a:t>
            </a:r>
            <a:endParaRPr lang="en-US" dirty="0">
              <a:latin typeface="Tahoma" charset="0"/>
            </a:endParaRPr>
          </a:p>
        </p:txBody>
      </p:sp>
      <p:sp>
        <p:nvSpPr>
          <p:cNvPr id="45059" name="Date Placeholder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 smtClean="0"/>
              <a:t>© 2014 Goodrich, Tamassia, Goldwasser</a:t>
            </a:r>
            <a:endParaRPr lang="en-US" sz="1400"/>
          </a:p>
        </p:txBody>
      </p:sp>
      <p:sp>
        <p:nvSpPr>
          <p:cNvPr id="45060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fld id="{7D9A72E1-57E3-084E-9D01-E4ED51A3D46E}" type="slidenum">
              <a:rPr lang="en-US" sz="1400"/>
              <a:pPr eaLnBrk="1" hangingPunct="1"/>
              <a:t>5</a:t>
            </a:fld>
            <a:endParaRPr lang="en-US" sz="140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Recursion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Tahoma" charset="0"/>
              </a:rPr>
              <a:t>Visualizing Binary Search</a:t>
            </a:r>
          </a:p>
        </p:txBody>
      </p:sp>
      <p:sp>
        <p:nvSpPr>
          <p:cNvPr id="46082" name="Content Placeholder 2" descr="Rectangle: Click to edit Master text styles&#10;Second level&#10;Third level&#10;Fourth level&#10;Fifth level"/>
          <p:cNvSpPr>
            <a:spLocks noGrp="1"/>
          </p:cNvSpPr>
          <p:nvPr>
            <p:ph idx="1"/>
          </p:nvPr>
        </p:nvSpPr>
        <p:spPr>
          <a:xfrm>
            <a:off x="609600" y="1524000"/>
            <a:ext cx="8229600" cy="4495800"/>
          </a:xfrm>
        </p:spPr>
        <p:txBody>
          <a:bodyPr/>
          <a:lstStyle/>
          <a:p>
            <a:r>
              <a:rPr lang="en-US" sz="2400">
                <a:latin typeface="Tahoma" charset="0"/>
              </a:rPr>
              <a:t>We consider three cases:</a:t>
            </a:r>
          </a:p>
          <a:p>
            <a:pPr lvl="1"/>
            <a:r>
              <a:rPr lang="en-US" sz="2000">
                <a:latin typeface="Tahoma" charset="0"/>
              </a:rPr>
              <a:t>If the target equals data[mid], then we have found the target.</a:t>
            </a:r>
          </a:p>
          <a:p>
            <a:pPr lvl="1"/>
            <a:r>
              <a:rPr lang="en-US" sz="2000">
                <a:latin typeface="Tahoma" charset="0"/>
              </a:rPr>
              <a:t>If target &lt; data[mid], then we recur on the first half of the sequence.</a:t>
            </a:r>
          </a:p>
          <a:p>
            <a:pPr lvl="1"/>
            <a:r>
              <a:rPr lang="en-US" sz="2000">
                <a:latin typeface="Tahoma" charset="0"/>
              </a:rPr>
              <a:t>If target &gt; data[mid], then we recur on the second half of the sequence.</a:t>
            </a:r>
          </a:p>
        </p:txBody>
      </p:sp>
      <p:sp>
        <p:nvSpPr>
          <p:cNvPr id="46083" name="Date Placeholder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 smtClean="0"/>
              <a:t>© 2014 Goodrich, Tamassia, Goldwasser</a:t>
            </a:r>
            <a:endParaRPr lang="en-US" sz="1400"/>
          </a:p>
        </p:txBody>
      </p:sp>
      <p:sp>
        <p:nvSpPr>
          <p:cNvPr id="46084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fld id="{FB1E9D9C-F009-924E-901E-BCCFB2FD8961}" type="slidenum">
              <a:rPr lang="en-US" sz="1400"/>
              <a:pPr eaLnBrk="1" hangingPunct="1"/>
              <a:t>6</a:t>
            </a:fld>
            <a:endParaRPr lang="en-US" sz="140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Recursion</a:t>
            </a:r>
          </a:p>
        </p:txBody>
      </p:sp>
      <p:pic>
        <p:nvPicPr>
          <p:cNvPr id="46086" name="Picture 6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0" y="3505200"/>
            <a:ext cx="4505325" cy="297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Tahoma" charset="0"/>
              </a:rPr>
              <a:t>Analyzing Binary Search</a:t>
            </a:r>
          </a:p>
        </p:txBody>
      </p:sp>
      <p:sp>
        <p:nvSpPr>
          <p:cNvPr id="47106" name="Content Placeholder 2" descr="Rectangle: Click to edit Master text styles&#10;Second level&#10;Third level&#10;Fourth level&#10;Fifth level"/>
          <p:cNvSpPr>
            <a:spLocks noGrp="1"/>
          </p:cNvSpPr>
          <p:nvPr>
            <p:ph idx="1"/>
          </p:nvPr>
        </p:nvSpPr>
        <p:spPr>
          <a:xfrm>
            <a:off x="1143000" y="1447800"/>
            <a:ext cx="7010400" cy="4876800"/>
          </a:xfrm>
        </p:spPr>
        <p:txBody>
          <a:bodyPr/>
          <a:lstStyle/>
          <a:p>
            <a:r>
              <a:rPr lang="en-US" sz="2800" dirty="0">
                <a:latin typeface="Tahoma" charset="0"/>
              </a:rPr>
              <a:t>Runs in O(log n) time.</a:t>
            </a:r>
          </a:p>
          <a:p>
            <a:pPr lvl="1"/>
            <a:r>
              <a:rPr lang="en-US" sz="2400" dirty="0">
                <a:latin typeface="Tahoma" charset="0"/>
              </a:rPr>
              <a:t>The remaining portion of the list is of size high – low + </a:t>
            </a:r>
            <a:r>
              <a:rPr lang="en-US" sz="2400" dirty="0" smtClean="0">
                <a:latin typeface="Tahoma" charset="0"/>
              </a:rPr>
              <a:t>1</a:t>
            </a:r>
            <a:endParaRPr lang="en-US" sz="2400" dirty="0">
              <a:latin typeface="Tahoma" charset="0"/>
            </a:endParaRPr>
          </a:p>
          <a:p>
            <a:pPr lvl="1"/>
            <a:r>
              <a:rPr lang="en-US" sz="2400" dirty="0">
                <a:latin typeface="Tahoma" charset="0"/>
              </a:rPr>
              <a:t>After one comparison, this becomes one of the following:</a:t>
            </a:r>
          </a:p>
          <a:p>
            <a:pPr lvl="1"/>
            <a:endParaRPr lang="en-US" sz="2400" dirty="0">
              <a:latin typeface="Tahoma" charset="0"/>
            </a:endParaRPr>
          </a:p>
          <a:p>
            <a:pPr lvl="1"/>
            <a:endParaRPr lang="en-US" sz="2400" dirty="0">
              <a:latin typeface="Tahoma" charset="0"/>
            </a:endParaRPr>
          </a:p>
          <a:p>
            <a:pPr lvl="1"/>
            <a:endParaRPr lang="en-US" sz="2400" dirty="0">
              <a:latin typeface="Tahoma" charset="0"/>
            </a:endParaRPr>
          </a:p>
          <a:p>
            <a:pPr lvl="1"/>
            <a:endParaRPr lang="en-US" sz="2400" dirty="0">
              <a:latin typeface="Tahoma" charset="0"/>
            </a:endParaRPr>
          </a:p>
          <a:p>
            <a:pPr lvl="1"/>
            <a:r>
              <a:rPr lang="en-US" sz="2400" dirty="0">
                <a:latin typeface="Tahoma" charset="0"/>
              </a:rPr>
              <a:t>Thus, each recursive call divides the search region in half; hence, there can be at most log n </a:t>
            </a:r>
            <a:r>
              <a:rPr lang="en-US" sz="2400" dirty="0" smtClean="0">
                <a:latin typeface="Tahoma" charset="0"/>
              </a:rPr>
              <a:t>levels</a:t>
            </a:r>
            <a:endParaRPr lang="en-US" sz="2400" dirty="0">
              <a:latin typeface="Tahoma" charset="0"/>
            </a:endParaRPr>
          </a:p>
        </p:txBody>
      </p:sp>
      <p:sp>
        <p:nvSpPr>
          <p:cNvPr id="47107" name="Date Placeholder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 smtClean="0"/>
              <a:t>© 2014 Goodrich, Tamassia, Goldwasser</a:t>
            </a:r>
            <a:endParaRPr lang="en-US" sz="1400"/>
          </a:p>
        </p:txBody>
      </p:sp>
      <p:sp>
        <p:nvSpPr>
          <p:cNvPr id="47108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fld id="{E1F3D6B7-56BE-2049-A6AF-AFF134446C9C}" type="slidenum">
              <a:rPr lang="en-US" sz="1400"/>
              <a:pPr eaLnBrk="1" hangingPunct="1"/>
              <a:t>7</a:t>
            </a:fld>
            <a:endParaRPr lang="en-US" sz="140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Recursion</a:t>
            </a:r>
          </a:p>
        </p:txBody>
      </p:sp>
      <p:pic>
        <p:nvPicPr>
          <p:cNvPr id="47110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8182" y="3570287"/>
            <a:ext cx="6547618" cy="1687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Footer Placeholder 4"/>
          <p:cNvSpPr>
            <a:spLocks noGrp="1"/>
          </p:cNvSpPr>
          <p:nvPr>
            <p:ph type="ftr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/>
              <a:t>Recursion</a:t>
            </a:r>
          </a:p>
        </p:txBody>
      </p:sp>
      <p:sp>
        <p:nvSpPr>
          <p:cNvPr id="20482" name="Slide Number Placeholder 5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fld id="{9FDEA54B-737E-E042-9CAD-971A094AD5CD}" type="slidenum">
              <a:rPr lang="en-US" sz="1400"/>
              <a:pPr eaLnBrk="1" hangingPunct="1"/>
              <a:t>8</a:t>
            </a:fld>
            <a:endParaRPr lang="en-US" sz="1400"/>
          </a:p>
        </p:txBody>
      </p:sp>
      <p:sp>
        <p:nvSpPr>
          <p:cNvPr id="20483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153400" cy="1143000"/>
          </a:xfrm>
        </p:spPr>
        <p:txBody>
          <a:bodyPr/>
          <a:lstStyle/>
          <a:p>
            <a:pPr eaLnBrk="1" hangingPunct="1"/>
            <a:r>
              <a:rPr lang="en-US">
                <a:latin typeface="Tahoma" charset="0"/>
              </a:rPr>
              <a:t>Linear Recursion</a:t>
            </a:r>
            <a:endParaRPr lang="en-US">
              <a:latin typeface="Tahoma" charset="0"/>
              <a:cs typeface="Tahoma" charset="0"/>
            </a:endParaRPr>
          </a:p>
        </p:txBody>
      </p:sp>
      <p:sp>
        <p:nvSpPr>
          <p:cNvPr id="7173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685800" y="1676400"/>
            <a:ext cx="8077200" cy="4724400"/>
          </a:xfrm>
        </p:spPr>
        <p:txBody>
          <a:bodyPr>
            <a:normAutofit fontScale="92500" lnSpcReduction="20000"/>
          </a:bodyPr>
          <a:lstStyle/>
          <a:p>
            <a:pPr eaLnBrk="1" hangingPunct="1">
              <a:lnSpc>
                <a:spcPct val="110000"/>
              </a:lnSpc>
              <a:buFont typeface="Wingdings" pitchFamily="2" charset="2"/>
              <a:buChar char="q"/>
              <a:defRPr/>
            </a:pPr>
            <a:r>
              <a:rPr lang="en-US" sz="2800" dirty="0" smtClean="0">
                <a:solidFill>
                  <a:schemeClr val="tx2"/>
                </a:solidFill>
                <a:ea typeface="+mn-ea"/>
                <a:cs typeface="+mn-cs"/>
              </a:rPr>
              <a:t>Test for base cases</a:t>
            </a:r>
            <a:endParaRPr lang="en-US" sz="2800" i="1" dirty="0" smtClean="0">
              <a:solidFill>
                <a:schemeClr val="tx2"/>
              </a:solidFill>
              <a:ea typeface="+mn-ea"/>
              <a:cs typeface="+mn-cs"/>
            </a:endParaRPr>
          </a:p>
          <a:p>
            <a:pPr lvl="1" eaLnBrk="1" hangingPunct="1">
              <a:lnSpc>
                <a:spcPct val="110000"/>
              </a:lnSpc>
              <a:buFont typeface="Wingdings" pitchFamily="2" charset="2"/>
              <a:buChar char="n"/>
              <a:defRPr/>
            </a:pPr>
            <a:r>
              <a:rPr lang="en-US" sz="2400" dirty="0" smtClean="0"/>
              <a:t>Begin by testing for a set of base cases (there should be at least one). </a:t>
            </a:r>
          </a:p>
          <a:p>
            <a:pPr lvl="1" eaLnBrk="1" hangingPunct="1">
              <a:lnSpc>
                <a:spcPct val="110000"/>
              </a:lnSpc>
              <a:buFont typeface="Wingdings" pitchFamily="2" charset="2"/>
              <a:buChar char="n"/>
              <a:defRPr/>
            </a:pPr>
            <a:r>
              <a:rPr lang="en-US" sz="2400" dirty="0" smtClean="0"/>
              <a:t>Every possible chain of recursive calls </a:t>
            </a:r>
            <a:r>
              <a:rPr lang="en-US" sz="2400" dirty="0" smtClean="0">
                <a:solidFill>
                  <a:schemeClr val="tx2"/>
                </a:solidFill>
              </a:rPr>
              <a:t>must</a:t>
            </a:r>
            <a:r>
              <a:rPr lang="en-US" sz="2400" dirty="0" smtClean="0"/>
              <a:t> eventually reach a base case, and the handling of each base case should not use recursion.</a:t>
            </a:r>
          </a:p>
          <a:p>
            <a:pPr eaLnBrk="1" hangingPunct="1">
              <a:lnSpc>
                <a:spcPct val="110000"/>
              </a:lnSpc>
              <a:buFont typeface="Wingdings" pitchFamily="2" charset="2"/>
              <a:buChar char="q"/>
              <a:defRPr/>
            </a:pPr>
            <a:r>
              <a:rPr lang="en-US" sz="2800" dirty="0" smtClean="0">
                <a:solidFill>
                  <a:schemeClr val="tx2"/>
                </a:solidFill>
                <a:ea typeface="+mn-ea"/>
                <a:cs typeface="+mn-cs"/>
              </a:rPr>
              <a:t>Recur once</a:t>
            </a:r>
          </a:p>
          <a:p>
            <a:pPr lvl="1" eaLnBrk="1" hangingPunct="1">
              <a:lnSpc>
                <a:spcPct val="110000"/>
              </a:lnSpc>
              <a:buFont typeface="Wingdings" pitchFamily="2" charset="2"/>
              <a:buChar char="n"/>
              <a:defRPr/>
            </a:pPr>
            <a:r>
              <a:rPr lang="en-US" sz="2400" dirty="0" smtClean="0"/>
              <a:t>Perform a single recursive call</a:t>
            </a:r>
          </a:p>
          <a:p>
            <a:pPr lvl="1" eaLnBrk="1" hangingPunct="1">
              <a:lnSpc>
                <a:spcPct val="110000"/>
              </a:lnSpc>
              <a:buFont typeface="Wingdings" pitchFamily="2" charset="2"/>
              <a:buChar char="n"/>
              <a:defRPr/>
            </a:pPr>
            <a:r>
              <a:rPr lang="en-US" sz="2400" dirty="0" smtClean="0"/>
              <a:t>This step may have a test that decides which of several possible recursive calls to make, but it should ultimately make just one of these calls</a:t>
            </a:r>
          </a:p>
          <a:p>
            <a:pPr lvl="1" eaLnBrk="1" hangingPunct="1">
              <a:lnSpc>
                <a:spcPct val="110000"/>
              </a:lnSpc>
              <a:buFont typeface="Wingdings" pitchFamily="2" charset="2"/>
              <a:buChar char="n"/>
              <a:defRPr/>
            </a:pPr>
            <a:r>
              <a:rPr lang="en-US" sz="2400" dirty="0" smtClean="0"/>
              <a:t>Define each possible recursive call so that it makes progress towards a base case.</a:t>
            </a:r>
            <a:endParaRPr lang="en-US" dirty="0" smtClean="0"/>
          </a:p>
        </p:txBody>
      </p:sp>
      <p:sp>
        <p:nvSpPr>
          <p:cNvPr id="20485" name="Date Placeholder 5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 smtClean="0"/>
              <a:t>© 2014 Goodrich, Tamassia, Goldwasser</a:t>
            </a:r>
            <a:endParaRPr lang="en-US" sz="1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Footer Placeholder 6"/>
          <p:cNvSpPr>
            <a:spLocks noGrp="1"/>
          </p:cNvSpPr>
          <p:nvPr>
            <p:ph type="ftr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/>
              <a:t>Recursion</a:t>
            </a:r>
          </a:p>
        </p:txBody>
      </p:sp>
      <p:sp>
        <p:nvSpPr>
          <p:cNvPr id="21506" name="Slide Number Placeholder 7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fld id="{95066F1D-4C91-2144-AB64-9A3FE94192D4}" type="slidenum">
              <a:rPr lang="en-US" sz="1400"/>
              <a:pPr eaLnBrk="1" hangingPunct="1"/>
              <a:t>9</a:t>
            </a:fld>
            <a:endParaRPr lang="en-US" sz="1400"/>
          </a:p>
        </p:txBody>
      </p:sp>
      <p:sp>
        <p:nvSpPr>
          <p:cNvPr id="2150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 dirty="0">
                <a:latin typeface="Tahoma" charset="0"/>
              </a:rPr>
              <a:t>Example of Linear Recursion</a:t>
            </a:r>
          </a:p>
        </p:txBody>
      </p:sp>
      <p:sp>
        <p:nvSpPr>
          <p:cNvPr id="21511" name="Date Placeholder 135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 smtClean="0"/>
              <a:t>© 2014 Goodrich, Tamassia, Goldwasser</a:t>
            </a:r>
            <a:endParaRPr lang="en-US" sz="14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2451"/>
          <a:stretch/>
        </p:blipFill>
        <p:spPr>
          <a:xfrm>
            <a:off x="3222190" y="2209801"/>
            <a:ext cx="5921810" cy="4114800"/>
          </a:xfrm>
          <a:prstGeom prst="rect">
            <a:avLst/>
          </a:prstGeom>
        </p:spPr>
      </p:pic>
      <p:sp>
        <p:nvSpPr>
          <p:cNvPr id="21508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sz="half" idx="1"/>
          </p:nvPr>
        </p:nvSpPr>
        <p:spPr>
          <a:xfrm>
            <a:off x="609600" y="1752600"/>
            <a:ext cx="3733800" cy="4572000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en-US" sz="2000" dirty="0">
                <a:solidFill>
                  <a:srgbClr val="000000"/>
                </a:solidFill>
                <a:latin typeface="Tahoma" charset="0"/>
              </a:rPr>
              <a:t>Algorithm</a:t>
            </a:r>
            <a:r>
              <a:rPr lang="en-US" sz="2000" dirty="0">
                <a:latin typeface="Tahoma" charset="0"/>
              </a:rPr>
              <a:t> </a:t>
            </a:r>
            <a:r>
              <a:rPr lang="en-US" sz="2000" dirty="0" err="1">
                <a:solidFill>
                  <a:schemeClr val="tx2"/>
                </a:solidFill>
                <a:latin typeface="Tahoma" charset="0"/>
              </a:rPr>
              <a:t>l</a:t>
            </a:r>
            <a:r>
              <a:rPr lang="en-US" sz="2000" dirty="0" err="1" smtClean="0">
                <a:solidFill>
                  <a:schemeClr val="tx2"/>
                </a:solidFill>
                <a:latin typeface="Tahoma" charset="0"/>
              </a:rPr>
              <a:t>inearSum</a:t>
            </a:r>
            <a:r>
              <a:rPr lang="en-US" sz="2000" dirty="0">
                <a:latin typeface="Tahoma" charset="0"/>
              </a:rPr>
              <a:t>(A, n):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en-US" sz="2000" dirty="0">
                <a:solidFill>
                  <a:srgbClr val="000000"/>
                </a:solidFill>
                <a:latin typeface="Tahoma" charset="0"/>
              </a:rPr>
              <a:t>Input: 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en-US" sz="2000" dirty="0">
                <a:latin typeface="Tahoma" charset="0"/>
              </a:rPr>
              <a:t> </a:t>
            </a:r>
            <a:r>
              <a:rPr lang="en-US" sz="2000" dirty="0" smtClean="0">
                <a:latin typeface="Tahoma" charset="0"/>
              </a:rPr>
              <a:t> Array, A, of integers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en-US" sz="2000" dirty="0">
                <a:latin typeface="Tahoma" charset="0"/>
              </a:rPr>
              <a:t> </a:t>
            </a:r>
            <a:r>
              <a:rPr lang="en-US" sz="2000" dirty="0" smtClean="0">
                <a:latin typeface="Tahoma" charset="0"/>
              </a:rPr>
              <a:t> Integer n such that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en-US" sz="2000" dirty="0" smtClean="0">
                <a:latin typeface="Tahoma" charset="0"/>
              </a:rPr>
              <a:t>	0 ≤ n ≤ |A|</a:t>
            </a:r>
            <a:endParaRPr lang="en-US" sz="2000" dirty="0">
              <a:latin typeface="Tahoma" charset="0"/>
            </a:endParaRP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en-US" sz="2000" dirty="0">
                <a:solidFill>
                  <a:srgbClr val="000000"/>
                </a:solidFill>
                <a:latin typeface="Tahoma" charset="0"/>
              </a:rPr>
              <a:t>Output: 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en-US" sz="2000" dirty="0" smtClean="0">
                <a:latin typeface="Tahoma" charset="0"/>
              </a:rPr>
              <a:t>	Sum </a:t>
            </a:r>
            <a:r>
              <a:rPr lang="en-US" sz="2000" dirty="0">
                <a:latin typeface="Tahoma" charset="0"/>
              </a:rPr>
              <a:t>of the first n </a:t>
            </a:r>
            <a:r>
              <a:rPr lang="en-US" sz="2000" dirty="0" smtClean="0">
                <a:latin typeface="Tahoma" charset="0"/>
              </a:rPr>
              <a:t/>
            </a:r>
            <a:br>
              <a:rPr lang="en-US" sz="2000" dirty="0" smtClean="0">
                <a:latin typeface="Tahoma" charset="0"/>
              </a:rPr>
            </a:br>
            <a:r>
              <a:rPr lang="en-US" sz="2000" dirty="0" smtClean="0">
                <a:latin typeface="Tahoma" charset="0"/>
              </a:rPr>
              <a:t>integers </a:t>
            </a:r>
            <a:r>
              <a:rPr lang="en-US" sz="2000" dirty="0">
                <a:latin typeface="Tahoma" charset="0"/>
              </a:rPr>
              <a:t>in A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endParaRPr lang="en-US" sz="2000" dirty="0" smtClean="0">
              <a:solidFill>
                <a:srgbClr val="000000"/>
              </a:solidFill>
              <a:latin typeface="Tahoma" charset="0"/>
            </a:endParaRP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en-US" sz="2000" dirty="0" smtClean="0">
                <a:solidFill>
                  <a:srgbClr val="000000"/>
                </a:solidFill>
                <a:latin typeface="Tahoma" charset="0"/>
              </a:rPr>
              <a:t>if</a:t>
            </a:r>
            <a:r>
              <a:rPr lang="en-US" sz="2000" dirty="0" smtClean="0">
                <a:latin typeface="Tahoma" charset="0"/>
              </a:rPr>
              <a:t> </a:t>
            </a:r>
            <a:r>
              <a:rPr lang="en-US" sz="2000" dirty="0">
                <a:latin typeface="Tahoma" charset="0"/>
              </a:rPr>
              <a:t>n = </a:t>
            </a:r>
            <a:r>
              <a:rPr lang="en-US" sz="2000" dirty="0" smtClean="0">
                <a:latin typeface="Tahoma" charset="0"/>
              </a:rPr>
              <a:t>0 </a:t>
            </a:r>
            <a:r>
              <a:rPr lang="en-US" sz="2000" dirty="0">
                <a:solidFill>
                  <a:srgbClr val="000000"/>
                </a:solidFill>
                <a:latin typeface="Tahoma" charset="0"/>
              </a:rPr>
              <a:t>then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en-US" sz="2000" dirty="0">
                <a:latin typeface="Tahoma" charset="0"/>
              </a:rPr>
              <a:t>  </a:t>
            </a:r>
            <a:r>
              <a:rPr lang="en-US" sz="2000" dirty="0" smtClean="0">
                <a:solidFill>
                  <a:srgbClr val="000000"/>
                </a:solidFill>
                <a:latin typeface="Tahoma" charset="0"/>
              </a:rPr>
              <a:t>return</a:t>
            </a:r>
            <a:r>
              <a:rPr lang="en-US" sz="2000" dirty="0" smtClean="0">
                <a:latin typeface="Tahoma" charset="0"/>
              </a:rPr>
              <a:t> 0</a:t>
            </a:r>
            <a:endParaRPr lang="en-US" sz="2000" dirty="0">
              <a:latin typeface="Tahoma" charset="0"/>
            </a:endParaRP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en-US" sz="2000" dirty="0">
                <a:solidFill>
                  <a:srgbClr val="000000"/>
                </a:solidFill>
                <a:latin typeface="Tahoma" charset="0"/>
              </a:rPr>
              <a:t>else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en-US" sz="2000" dirty="0">
                <a:solidFill>
                  <a:srgbClr val="000000"/>
                </a:solidFill>
                <a:latin typeface="Tahoma" charset="0"/>
              </a:rPr>
              <a:t>  return </a:t>
            </a:r>
            <a:endParaRPr lang="en-US" sz="2000" dirty="0" smtClean="0">
              <a:solidFill>
                <a:srgbClr val="000000"/>
              </a:solidFill>
              <a:latin typeface="Tahoma" charset="0"/>
            </a:endParaRP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en-US" sz="2000" dirty="0" err="1" smtClean="0">
                <a:solidFill>
                  <a:srgbClr val="BE2D00"/>
                </a:solidFill>
                <a:latin typeface="Tahoma" charset="0"/>
              </a:rPr>
              <a:t>linearSum</a:t>
            </a:r>
            <a:r>
              <a:rPr lang="en-US" sz="2000" dirty="0">
                <a:latin typeface="Tahoma" charset="0"/>
              </a:rPr>
              <a:t>(A, n - 1) + A[n - 1]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endParaRPr lang="en-US" sz="2000" dirty="0">
              <a:latin typeface="Tahoma" charset="0"/>
            </a:endParaRPr>
          </a:p>
          <a:p>
            <a:pPr eaLnBrk="1" hangingPunct="1">
              <a:lnSpc>
                <a:spcPct val="80000"/>
              </a:lnSpc>
            </a:pPr>
            <a:endParaRPr lang="en-US" sz="2000" dirty="0">
              <a:latin typeface="Tahoma" charset="0"/>
            </a:endParaRPr>
          </a:p>
        </p:txBody>
      </p:sp>
      <p:sp>
        <p:nvSpPr>
          <p:cNvPr id="21509" name="Text Box 8"/>
          <p:cNvSpPr txBox="1">
            <a:spLocks noChangeArrowheads="1"/>
          </p:cNvSpPr>
          <p:nvPr/>
        </p:nvSpPr>
        <p:spPr bwMode="auto">
          <a:xfrm>
            <a:off x="4343400" y="1447800"/>
            <a:ext cx="441960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000" dirty="0" smtClean="0"/>
              <a:t>Recursion trace of </a:t>
            </a:r>
            <a:r>
              <a:rPr lang="en-US" sz="2000" dirty="0" err="1" smtClean="0">
                <a:solidFill>
                  <a:schemeClr val="tx2"/>
                </a:solidFill>
              </a:rPr>
              <a:t>linearSum</a:t>
            </a:r>
            <a:r>
              <a:rPr lang="en-US" sz="2000" dirty="0" smtClean="0"/>
              <a:t>(data, 5) called on array data = [4, 3, 6, 2, 8]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Footer Placeholder 4"/>
          <p:cNvSpPr>
            <a:spLocks noGrp="1"/>
          </p:cNvSpPr>
          <p:nvPr>
            <p:ph type="ftr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/>
              <a:t>Recursion</a:t>
            </a:r>
          </a:p>
        </p:txBody>
      </p:sp>
      <p:sp>
        <p:nvSpPr>
          <p:cNvPr id="22530" name="Slide Number Placeholder 5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fld id="{D7A0A9FD-C67D-DA4E-B3E3-2F1484597457}" type="slidenum">
              <a:rPr lang="en-US" sz="1400"/>
              <a:pPr eaLnBrk="1" hangingPunct="1"/>
              <a:t>10</a:t>
            </a:fld>
            <a:endParaRPr lang="en-US" sz="1400"/>
          </a:p>
        </p:txBody>
      </p:sp>
      <p:sp>
        <p:nvSpPr>
          <p:cNvPr id="2253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Tahoma" charset="0"/>
              </a:rPr>
              <a:t>Reversing an Array</a:t>
            </a:r>
          </a:p>
        </p:txBody>
      </p:sp>
      <p:sp>
        <p:nvSpPr>
          <p:cNvPr id="22532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838200" y="1600200"/>
            <a:ext cx="7772400" cy="44196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charset="0"/>
              <a:buNone/>
            </a:pPr>
            <a:r>
              <a:rPr lang="en-US" sz="2800" dirty="0">
                <a:solidFill>
                  <a:srgbClr val="000000"/>
                </a:solidFill>
                <a:latin typeface="Tahoma" charset="0"/>
              </a:rPr>
              <a:t>Algorithm</a:t>
            </a:r>
            <a:r>
              <a:rPr lang="en-US" sz="2800" b="1" dirty="0">
                <a:latin typeface="Tahoma" charset="0"/>
              </a:rPr>
              <a:t> </a:t>
            </a:r>
            <a:r>
              <a:rPr lang="en-US" sz="2800" dirty="0" err="1" smtClean="0">
                <a:solidFill>
                  <a:srgbClr val="BE2D00"/>
                </a:solidFill>
                <a:latin typeface="Tahoma" charset="0"/>
              </a:rPr>
              <a:t>reverseArray</a:t>
            </a:r>
            <a:r>
              <a:rPr lang="en-US" sz="2800" dirty="0">
                <a:latin typeface="Tahoma" charset="0"/>
              </a:rPr>
              <a:t>(A, </a:t>
            </a:r>
            <a:r>
              <a:rPr lang="en-US" sz="2800" dirty="0" err="1">
                <a:latin typeface="Tahoma" charset="0"/>
              </a:rPr>
              <a:t>i</a:t>
            </a:r>
            <a:r>
              <a:rPr lang="en-US" sz="2800" dirty="0">
                <a:latin typeface="Tahoma" charset="0"/>
              </a:rPr>
              <a:t>,  j):</a:t>
            </a:r>
          </a:p>
          <a:p>
            <a:pPr eaLnBrk="1" hangingPunct="1">
              <a:lnSpc>
                <a:spcPct val="90000"/>
              </a:lnSpc>
              <a:buFont typeface="Wingdings" charset="0"/>
              <a:buNone/>
            </a:pPr>
            <a:r>
              <a:rPr lang="en-US" sz="2800" dirty="0" smtClean="0">
                <a:solidFill>
                  <a:srgbClr val="000000"/>
                </a:solidFill>
                <a:latin typeface="Tahoma" charset="0"/>
              </a:rPr>
              <a:t>Input</a:t>
            </a:r>
            <a:r>
              <a:rPr lang="en-US" sz="2800" dirty="0">
                <a:solidFill>
                  <a:srgbClr val="000000"/>
                </a:solidFill>
                <a:latin typeface="Tahoma" charset="0"/>
              </a:rPr>
              <a:t>: </a:t>
            </a:r>
            <a:r>
              <a:rPr lang="en-US" sz="2800" dirty="0">
                <a:latin typeface="Tahoma" charset="0"/>
              </a:rPr>
              <a:t>An array A and nonnegative integer indices </a:t>
            </a:r>
            <a:r>
              <a:rPr lang="en-US" sz="2800" dirty="0" err="1">
                <a:latin typeface="Tahoma" charset="0"/>
              </a:rPr>
              <a:t>i</a:t>
            </a:r>
            <a:r>
              <a:rPr lang="en-US" sz="2800" dirty="0">
                <a:latin typeface="Tahoma" charset="0"/>
              </a:rPr>
              <a:t> and  </a:t>
            </a:r>
            <a:r>
              <a:rPr lang="en-US" sz="2800" dirty="0" smtClean="0">
                <a:latin typeface="Tahoma" charset="0"/>
              </a:rPr>
              <a:t>j</a:t>
            </a:r>
          </a:p>
          <a:p>
            <a:pPr eaLnBrk="1" hangingPunct="1">
              <a:lnSpc>
                <a:spcPct val="90000"/>
              </a:lnSpc>
              <a:buFont typeface="Wingdings" charset="0"/>
              <a:buNone/>
            </a:pPr>
            <a:r>
              <a:rPr lang="en-US" sz="2800" dirty="0" smtClean="0">
                <a:solidFill>
                  <a:srgbClr val="000000"/>
                </a:solidFill>
                <a:latin typeface="Tahoma" charset="0"/>
              </a:rPr>
              <a:t>Output: </a:t>
            </a:r>
            <a:r>
              <a:rPr lang="en-US" sz="2800" dirty="0" smtClean="0">
                <a:latin typeface="Tahoma" charset="0"/>
              </a:rPr>
              <a:t>The reversal of the elements in A starting at index </a:t>
            </a:r>
            <a:r>
              <a:rPr lang="en-US" sz="2800" dirty="0" err="1" smtClean="0">
                <a:latin typeface="Tahoma" charset="0"/>
              </a:rPr>
              <a:t>i</a:t>
            </a:r>
            <a:r>
              <a:rPr lang="en-US" sz="2800" dirty="0" smtClean="0">
                <a:latin typeface="Tahoma" charset="0"/>
              </a:rPr>
              <a:t> and ending at  </a:t>
            </a:r>
            <a:endParaRPr lang="en-US" sz="2800" dirty="0">
              <a:latin typeface="Tahoma" charset="0"/>
            </a:endParaRPr>
          </a:p>
          <a:p>
            <a:pPr eaLnBrk="1" hangingPunct="1">
              <a:lnSpc>
                <a:spcPct val="90000"/>
              </a:lnSpc>
              <a:buFont typeface="Wingdings" charset="0"/>
              <a:buNone/>
            </a:pPr>
            <a:endParaRPr lang="en-US" sz="2800" dirty="0" smtClean="0">
              <a:solidFill>
                <a:srgbClr val="000000"/>
              </a:solidFill>
              <a:latin typeface="Tahoma" charset="0"/>
            </a:endParaRPr>
          </a:p>
          <a:p>
            <a:pPr eaLnBrk="1" hangingPunct="1">
              <a:lnSpc>
                <a:spcPct val="90000"/>
              </a:lnSpc>
              <a:buFont typeface="Wingdings" charset="0"/>
              <a:buNone/>
            </a:pPr>
            <a:r>
              <a:rPr lang="en-US" sz="2800" dirty="0" smtClean="0">
                <a:solidFill>
                  <a:srgbClr val="000000"/>
                </a:solidFill>
                <a:latin typeface="Tahoma" charset="0"/>
              </a:rPr>
              <a:t>if</a:t>
            </a:r>
            <a:r>
              <a:rPr lang="en-US" sz="2800" b="1" dirty="0" smtClean="0">
                <a:solidFill>
                  <a:srgbClr val="000000"/>
                </a:solidFill>
                <a:latin typeface="Tahoma" charset="0"/>
              </a:rPr>
              <a:t> </a:t>
            </a:r>
            <a:r>
              <a:rPr lang="en-US" sz="2800" dirty="0" err="1">
                <a:latin typeface="Tahoma" charset="0"/>
              </a:rPr>
              <a:t>i</a:t>
            </a:r>
            <a:r>
              <a:rPr lang="en-US" sz="2800" dirty="0">
                <a:latin typeface="Tahoma" charset="0"/>
              </a:rPr>
              <a:t> &lt;  j </a:t>
            </a:r>
            <a:r>
              <a:rPr lang="en-US" sz="2800" dirty="0" smtClean="0">
                <a:solidFill>
                  <a:srgbClr val="000000"/>
                </a:solidFill>
                <a:latin typeface="Tahoma" charset="0"/>
              </a:rPr>
              <a:t>then</a:t>
            </a:r>
            <a:endParaRPr lang="en-US" sz="2800" dirty="0">
              <a:solidFill>
                <a:srgbClr val="000000"/>
              </a:solidFill>
              <a:latin typeface="Tahoma" charset="0"/>
            </a:endParaRPr>
          </a:p>
          <a:p>
            <a:pPr eaLnBrk="1" hangingPunct="1">
              <a:lnSpc>
                <a:spcPct val="90000"/>
              </a:lnSpc>
              <a:buFont typeface="Wingdings" charset="0"/>
              <a:buNone/>
            </a:pPr>
            <a:r>
              <a:rPr lang="en-US" sz="2800" dirty="0">
                <a:latin typeface="Tahoma" charset="0"/>
              </a:rPr>
              <a:t>		Swap A[</a:t>
            </a:r>
            <a:r>
              <a:rPr lang="en-US" sz="2800" dirty="0" err="1">
                <a:latin typeface="Tahoma" charset="0"/>
              </a:rPr>
              <a:t>i</a:t>
            </a:r>
            <a:r>
              <a:rPr lang="en-US" sz="2800" dirty="0">
                <a:latin typeface="Tahoma" charset="0"/>
              </a:rPr>
              <a:t>] and A[ j]</a:t>
            </a:r>
          </a:p>
          <a:p>
            <a:pPr eaLnBrk="1" hangingPunct="1">
              <a:lnSpc>
                <a:spcPct val="90000"/>
              </a:lnSpc>
              <a:buFont typeface="Wingdings" charset="0"/>
              <a:buNone/>
            </a:pPr>
            <a:r>
              <a:rPr lang="en-US" sz="2800" dirty="0">
                <a:latin typeface="Tahoma" charset="0"/>
              </a:rPr>
              <a:t>		</a:t>
            </a:r>
            <a:r>
              <a:rPr lang="en-US" sz="2800" dirty="0" err="1" smtClean="0">
                <a:latin typeface="Tahoma" charset="0"/>
              </a:rPr>
              <a:t>reverseArray</a:t>
            </a:r>
            <a:r>
              <a:rPr lang="en-US" sz="2800" dirty="0">
                <a:latin typeface="Tahoma" charset="0"/>
              </a:rPr>
              <a:t>(A, </a:t>
            </a:r>
            <a:r>
              <a:rPr lang="en-US" sz="2800" dirty="0" err="1">
                <a:latin typeface="Tahoma" charset="0"/>
              </a:rPr>
              <a:t>i</a:t>
            </a:r>
            <a:r>
              <a:rPr lang="en-US" sz="2800" dirty="0">
                <a:latin typeface="Tahoma" charset="0"/>
              </a:rPr>
              <a:t> + 1,  j </a:t>
            </a:r>
            <a:r>
              <a:rPr lang="en-US" sz="2800" dirty="0">
                <a:latin typeface="Symbol" charset="2"/>
                <a:cs typeface="Symbol" charset="2"/>
              </a:rPr>
              <a:t>-</a:t>
            </a:r>
            <a:r>
              <a:rPr lang="en-US" sz="2800" dirty="0">
                <a:latin typeface="Tahoma" charset="0"/>
              </a:rPr>
              <a:t> 1)</a:t>
            </a:r>
          </a:p>
          <a:p>
            <a:pPr eaLnBrk="1" hangingPunct="1">
              <a:lnSpc>
                <a:spcPct val="90000"/>
              </a:lnSpc>
              <a:buFont typeface="Wingdings" charset="0"/>
              <a:buNone/>
            </a:pPr>
            <a:r>
              <a:rPr lang="en-US" sz="2800" dirty="0" smtClean="0">
                <a:solidFill>
                  <a:srgbClr val="000000"/>
                </a:solidFill>
                <a:latin typeface="Tahoma" charset="0"/>
              </a:rPr>
              <a:t>return</a:t>
            </a:r>
            <a:endParaRPr lang="en-US" sz="2800" dirty="0">
              <a:solidFill>
                <a:srgbClr val="000000"/>
              </a:solidFill>
              <a:latin typeface="Tahoma" charset="0"/>
            </a:endParaRPr>
          </a:p>
        </p:txBody>
      </p:sp>
      <p:sp>
        <p:nvSpPr>
          <p:cNvPr id="22533" name="Date Placeholder 5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 smtClean="0"/>
              <a:t>© 2014 Goodrich, Tamassia, Goldwasser</a:t>
            </a:r>
            <a:endParaRPr lang="en-US" sz="1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Footer Placeholder 4"/>
          <p:cNvSpPr>
            <a:spLocks noGrp="1"/>
          </p:cNvSpPr>
          <p:nvPr>
            <p:ph type="ftr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/>
              <a:t>Recursion</a:t>
            </a:r>
          </a:p>
        </p:txBody>
      </p:sp>
      <p:sp>
        <p:nvSpPr>
          <p:cNvPr id="23554" name="Slide Number Placeholder 5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fld id="{9326BB66-2E46-3647-8828-3C96E3886EDF}" type="slidenum">
              <a:rPr lang="en-US" sz="1400"/>
              <a:pPr eaLnBrk="1" hangingPunct="1"/>
              <a:t>11</a:t>
            </a:fld>
            <a:endParaRPr lang="en-US" sz="1400"/>
          </a:p>
        </p:txBody>
      </p:sp>
      <p:sp>
        <p:nvSpPr>
          <p:cNvPr id="2355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>
                <a:latin typeface="Tahoma" charset="0"/>
              </a:rPr>
              <a:t>Defining Arguments for Recursion</a:t>
            </a:r>
          </a:p>
        </p:txBody>
      </p:sp>
      <p:sp>
        <p:nvSpPr>
          <p:cNvPr id="23556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685800" y="1524000"/>
            <a:ext cx="8001000" cy="2057400"/>
          </a:xfrm>
        </p:spPr>
        <p:txBody>
          <a:bodyPr>
            <a:normAutofit fontScale="92500" lnSpcReduction="10000"/>
          </a:bodyPr>
          <a:lstStyle/>
          <a:p>
            <a:pPr eaLnBrk="1" hangingPunct="1"/>
            <a:r>
              <a:rPr lang="en-US" sz="2400" dirty="0">
                <a:latin typeface="Tahoma" charset="0"/>
              </a:rPr>
              <a:t>In creating recursive methods, it is important to define the methods in ways that facilitate recursion.</a:t>
            </a:r>
          </a:p>
          <a:p>
            <a:pPr eaLnBrk="1" hangingPunct="1"/>
            <a:r>
              <a:rPr lang="en-US" sz="2400" dirty="0">
                <a:latin typeface="Tahoma" charset="0"/>
              </a:rPr>
              <a:t>This sometimes requires we define additional </a:t>
            </a:r>
            <a:r>
              <a:rPr lang="en-US" sz="2400" dirty="0" smtClean="0">
                <a:latin typeface="Tahoma" charset="0"/>
              </a:rPr>
              <a:t>parameters </a:t>
            </a:r>
            <a:r>
              <a:rPr lang="en-US" sz="2400" dirty="0">
                <a:latin typeface="Tahoma" charset="0"/>
              </a:rPr>
              <a:t>that are passed to the method.</a:t>
            </a:r>
          </a:p>
          <a:p>
            <a:pPr eaLnBrk="1" hangingPunct="1"/>
            <a:r>
              <a:rPr lang="en-US" sz="2400" dirty="0">
                <a:latin typeface="Tahoma" charset="0"/>
              </a:rPr>
              <a:t>For example, we defined the array reversal method as </a:t>
            </a:r>
            <a:r>
              <a:rPr lang="en-US" sz="2400" dirty="0" err="1">
                <a:solidFill>
                  <a:srgbClr val="BE2D00"/>
                </a:solidFill>
                <a:latin typeface="Tahoma" charset="0"/>
              </a:rPr>
              <a:t>r</a:t>
            </a:r>
            <a:r>
              <a:rPr lang="en-US" sz="2400" dirty="0" err="1" smtClean="0">
                <a:solidFill>
                  <a:srgbClr val="BE2D00"/>
                </a:solidFill>
                <a:latin typeface="Tahoma" charset="0"/>
              </a:rPr>
              <a:t>everseArray</a:t>
            </a:r>
            <a:r>
              <a:rPr lang="en-US" sz="2400" dirty="0">
                <a:latin typeface="Tahoma" charset="0"/>
              </a:rPr>
              <a:t>(A, </a:t>
            </a:r>
            <a:r>
              <a:rPr lang="en-US" sz="2400" dirty="0" err="1">
                <a:latin typeface="Tahoma" charset="0"/>
              </a:rPr>
              <a:t>i</a:t>
            </a:r>
            <a:r>
              <a:rPr lang="en-US" sz="2400" dirty="0">
                <a:latin typeface="Tahoma" charset="0"/>
              </a:rPr>
              <a:t>,  j), not </a:t>
            </a:r>
            <a:r>
              <a:rPr lang="en-US" sz="2400" dirty="0" err="1">
                <a:solidFill>
                  <a:srgbClr val="BE2D00"/>
                </a:solidFill>
                <a:latin typeface="Tahoma" charset="0"/>
              </a:rPr>
              <a:t>r</a:t>
            </a:r>
            <a:r>
              <a:rPr lang="en-US" sz="2400" dirty="0" err="1" smtClean="0">
                <a:solidFill>
                  <a:srgbClr val="BE2D00"/>
                </a:solidFill>
                <a:latin typeface="Tahoma" charset="0"/>
              </a:rPr>
              <a:t>everseArray</a:t>
            </a:r>
            <a:r>
              <a:rPr lang="en-US" sz="2400" dirty="0" smtClean="0">
                <a:latin typeface="Tahoma" charset="0"/>
              </a:rPr>
              <a:t>(</a:t>
            </a:r>
            <a:r>
              <a:rPr lang="en-US" sz="2400" dirty="0">
                <a:latin typeface="Tahoma" charset="0"/>
              </a:rPr>
              <a:t>A</a:t>
            </a:r>
            <a:r>
              <a:rPr lang="en-US" sz="2400" dirty="0" smtClean="0">
                <a:latin typeface="Tahoma" charset="0"/>
              </a:rPr>
              <a:t>)</a:t>
            </a:r>
          </a:p>
        </p:txBody>
      </p:sp>
      <p:sp>
        <p:nvSpPr>
          <p:cNvPr id="23557" name="Date Placeholder 5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 smtClean="0"/>
              <a:t>© 2014 Goodrich, Tamassia, Goldwasser</a:t>
            </a:r>
            <a:endParaRPr lang="en-US" sz="140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1313" r="1291"/>
          <a:stretch/>
        </p:blipFill>
        <p:spPr>
          <a:xfrm>
            <a:off x="152400" y="3657600"/>
            <a:ext cx="8950011" cy="2667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Footer Placeholder 4"/>
          <p:cNvSpPr>
            <a:spLocks noGrp="1"/>
          </p:cNvSpPr>
          <p:nvPr>
            <p:ph type="ftr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/>
              <a:t>Recursion</a:t>
            </a:r>
          </a:p>
        </p:txBody>
      </p:sp>
      <p:sp>
        <p:nvSpPr>
          <p:cNvPr id="28674" name="Slide Number Placeholder 5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fld id="{B9AE0F45-B480-744D-95CA-E7336005D694}" type="slidenum">
              <a:rPr lang="en-US" sz="1400"/>
              <a:pPr eaLnBrk="1" hangingPunct="1"/>
              <a:t>12</a:t>
            </a:fld>
            <a:endParaRPr lang="en-US" sz="1400"/>
          </a:p>
        </p:txBody>
      </p:sp>
      <p:sp>
        <p:nvSpPr>
          <p:cNvPr id="286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latin typeface="Tahoma" charset="0"/>
              </a:rPr>
              <a:t>Tail Recursion</a:t>
            </a:r>
          </a:p>
        </p:txBody>
      </p:sp>
      <p:sp>
        <p:nvSpPr>
          <p:cNvPr id="28676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838200" y="1600200"/>
            <a:ext cx="7772400" cy="48006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sz="2400" dirty="0">
                <a:latin typeface="Tahoma" charset="0"/>
              </a:rPr>
              <a:t>Tail recursion occurs when a linearly recursive method makes its recursive call as its last step.</a:t>
            </a:r>
          </a:p>
          <a:p>
            <a:pPr eaLnBrk="1" hangingPunct="1">
              <a:lnSpc>
                <a:spcPct val="80000"/>
              </a:lnSpc>
            </a:pPr>
            <a:r>
              <a:rPr lang="en-US" sz="2400" dirty="0">
                <a:latin typeface="Tahoma" charset="0"/>
              </a:rPr>
              <a:t>The array reversal method is an example.</a:t>
            </a:r>
          </a:p>
          <a:p>
            <a:pPr eaLnBrk="1" hangingPunct="1">
              <a:lnSpc>
                <a:spcPct val="80000"/>
              </a:lnSpc>
            </a:pPr>
            <a:r>
              <a:rPr lang="en-US" sz="2400" dirty="0">
                <a:latin typeface="Tahoma" charset="0"/>
              </a:rPr>
              <a:t>Such methods can be easily converted to non-recursive methods (which saves on some resources).</a:t>
            </a:r>
          </a:p>
          <a:p>
            <a:pPr eaLnBrk="1" hangingPunct="1">
              <a:lnSpc>
                <a:spcPct val="80000"/>
              </a:lnSpc>
            </a:pPr>
            <a:r>
              <a:rPr lang="en-US" sz="2400" dirty="0">
                <a:latin typeface="Tahoma" charset="0"/>
              </a:rPr>
              <a:t>Example:</a:t>
            </a:r>
          </a:p>
          <a:p>
            <a:pPr lvl="1" eaLnBrk="1" hangingPunct="1">
              <a:lnSpc>
                <a:spcPct val="80000"/>
              </a:lnSpc>
              <a:buFont typeface="Wingdings" charset="0"/>
              <a:buNone/>
            </a:pPr>
            <a:r>
              <a:rPr lang="en-US" sz="2000" b="1" dirty="0">
                <a:latin typeface="Tahoma" charset="0"/>
              </a:rPr>
              <a:t>Algorithm </a:t>
            </a:r>
            <a:r>
              <a:rPr lang="en-US" sz="2000" dirty="0" err="1">
                <a:solidFill>
                  <a:srgbClr val="BE2D00"/>
                </a:solidFill>
                <a:latin typeface="Tahoma" charset="0"/>
              </a:rPr>
              <a:t>IterativeReverseArray</a:t>
            </a:r>
            <a:r>
              <a:rPr lang="en-US" sz="2000" dirty="0">
                <a:latin typeface="Tahoma" charset="0"/>
              </a:rPr>
              <a:t>(A, </a:t>
            </a:r>
            <a:r>
              <a:rPr lang="en-US" sz="2000" dirty="0" err="1">
                <a:latin typeface="Tahoma" charset="0"/>
              </a:rPr>
              <a:t>i</a:t>
            </a:r>
            <a:r>
              <a:rPr lang="en-US" sz="2000" dirty="0">
                <a:latin typeface="Tahoma" charset="0"/>
              </a:rPr>
              <a:t>, j ):</a:t>
            </a:r>
          </a:p>
          <a:p>
            <a:pPr lvl="1" eaLnBrk="1" hangingPunct="1">
              <a:lnSpc>
                <a:spcPct val="80000"/>
              </a:lnSpc>
              <a:buFont typeface="Wingdings" charset="0"/>
              <a:buNone/>
            </a:pPr>
            <a:r>
              <a:rPr lang="en-US" sz="2000" b="1" dirty="0">
                <a:latin typeface="Tahoma" charset="0"/>
              </a:rPr>
              <a:t>      Input: </a:t>
            </a:r>
            <a:r>
              <a:rPr lang="en-US" sz="2000" dirty="0">
                <a:latin typeface="Tahoma" charset="0"/>
              </a:rPr>
              <a:t>An array A and nonnegative integer indices </a:t>
            </a:r>
            <a:r>
              <a:rPr lang="en-US" sz="2000" dirty="0" err="1">
                <a:latin typeface="Tahoma" charset="0"/>
              </a:rPr>
              <a:t>i</a:t>
            </a:r>
            <a:r>
              <a:rPr lang="en-US" sz="2000" dirty="0">
                <a:latin typeface="Tahoma" charset="0"/>
              </a:rPr>
              <a:t> and j</a:t>
            </a:r>
          </a:p>
          <a:p>
            <a:pPr lvl="1" eaLnBrk="1" hangingPunct="1">
              <a:lnSpc>
                <a:spcPct val="80000"/>
              </a:lnSpc>
              <a:buFont typeface="Wingdings" charset="0"/>
              <a:buNone/>
            </a:pPr>
            <a:r>
              <a:rPr lang="en-US" sz="2000" b="1" dirty="0">
                <a:latin typeface="Tahoma" charset="0"/>
              </a:rPr>
              <a:t>      Output: </a:t>
            </a:r>
            <a:r>
              <a:rPr lang="en-US" sz="2000" dirty="0">
                <a:latin typeface="Tahoma" charset="0"/>
              </a:rPr>
              <a:t>The reversal of the elements in A starting at index </a:t>
            </a:r>
            <a:r>
              <a:rPr lang="en-US" sz="2000" dirty="0" err="1">
                <a:latin typeface="Tahoma" charset="0"/>
              </a:rPr>
              <a:t>i</a:t>
            </a:r>
            <a:r>
              <a:rPr lang="en-US" sz="2000" dirty="0">
                <a:latin typeface="Tahoma" charset="0"/>
              </a:rPr>
              <a:t> and ending at j</a:t>
            </a:r>
          </a:p>
          <a:p>
            <a:pPr lvl="1" eaLnBrk="1" hangingPunct="1">
              <a:lnSpc>
                <a:spcPct val="80000"/>
              </a:lnSpc>
              <a:buFont typeface="Wingdings" charset="0"/>
              <a:buNone/>
            </a:pPr>
            <a:r>
              <a:rPr lang="en-US" sz="2000" b="1" dirty="0">
                <a:latin typeface="Tahoma" charset="0"/>
              </a:rPr>
              <a:t>     while </a:t>
            </a:r>
            <a:r>
              <a:rPr lang="en-US" sz="2000" dirty="0" err="1">
                <a:latin typeface="Tahoma" charset="0"/>
              </a:rPr>
              <a:t>i</a:t>
            </a:r>
            <a:r>
              <a:rPr lang="en-US" sz="2000" dirty="0">
                <a:latin typeface="Tahoma" charset="0"/>
              </a:rPr>
              <a:t> &lt;  j </a:t>
            </a:r>
            <a:r>
              <a:rPr lang="en-US" sz="2000" b="1" dirty="0">
                <a:latin typeface="Tahoma" charset="0"/>
              </a:rPr>
              <a:t>do</a:t>
            </a:r>
          </a:p>
          <a:p>
            <a:pPr lvl="2" eaLnBrk="1" hangingPunct="1">
              <a:lnSpc>
                <a:spcPct val="80000"/>
              </a:lnSpc>
              <a:buFont typeface="Wingdings" charset="0"/>
              <a:buNone/>
            </a:pPr>
            <a:r>
              <a:rPr lang="en-US" sz="1800" dirty="0">
                <a:latin typeface="Tahoma" charset="0"/>
              </a:rPr>
              <a:t>	Swap A[</a:t>
            </a:r>
            <a:r>
              <a:rPr lang="en-US" sz="1800" dirty="0" err="1">
                <a:latin typeface="Tahoma" charset="0"/>
              </a:rPr>
              <a:t>i</a:t>
            </a:r>
            <a:r>
              <a:rPr lang="en-US" sz="1800" dirty="0">
                <a:latin typeface="Tahoma" charset="0"/>
              </a:rPr>
              <a:t> ] and A[ j ]</a:t>
            </a:r>
          </a:p>
          <a:p>
            <a:pPr lvl="2" eaLnBrk="1" hangingPunct="1">
              <a:lnSpc>
                <a:spcPct val="80000"/>
              </a:lnSpc>
              <a:buFont typeface="Wingdings" charset="0"/>
              <a:buNone/>
            </a:pPr>
            <a:r>
              <a:rPr lang="en-US" sz="1800" dirty="0">
                <a:latin typeface="Tahoma" charset="0"/>
              </a:rPr>
              <a:t>	</a:t>
            </a:r>
            <a:r>
              <a:rPr lang="en-US" sz="1800" dirty="0" err="1">
                <a:latin typeface="Tahoma" charset="0"/>
              </a:rPr>
              <a:t>i</a:t>
            </a:r>
            <a:r>
              <a:rPr lang="en-US" sz="1800" dirty="0">
                <a:latin typeface="Tahoma" charset="0"/>
              </a:rPr>
              <a:t>  = </a:t>
            </a:r>
            <a:r>
              <a:rPr lang="en-US" sz="1800" dirty="0" err="1">
                <a:latin typeface="Tahoma" charset="0"/>
              </a:rPr>
              <a:t>i</a:t>
            </a:r>
            <a:r>
              <a:rPr lang="en-US" sz="1800" dirty="0">
                <a:latin typeface="Tahoma" charset="0"/>
              </a:rPr>
              <a:t> + 1</a:t>
            </a:r>
          </a:p>
          <a:p>
            <a:pPr lvl="2" eaLnBrk="1" hangingPunct="1">
              <a:lnSpc>
                <a:spcPct val="80000"/>
              </a:lnSpc>
              <a:buFont typeface="Wingdings" charset="0"/>
              <a:buNone/>
            </a:pPr>
            <a:r>
              <a:rPr lang="en-US" sz="1800" dirty="0">
                <a:latin typeface="Tahoma" charset="0"/>
              </a:rPr>
              <a:t>	j  = j - 1</a:t>
            </a:r>
          </a:p>
          <a:p>
            <a:pPr lvl="1" eaLnBrk="1" hangingPunct="1">
              <a:lnSpc>
                <a:spcPct val="80000"/>
              </a:lnSpc>
              <a:buFont typeface="Wingdings" charset="0"/>
              <a:buNone/>
            </a:pPr>
            <a:r>
              <a:rPr lang="en-US" sz="2000" b="1" dirty="0">
                <a:latin typeface="Tahoma" charset="0"/>
              </a:rPr>
              <a:t>     return</a:t>
            </a:r>
            <a:endParaRPr lang="en-US" sz="2000" dirty="0">
              <a:latin typeface="Tahoma" charset="0"/>
            </a:endParaRPr>
          </a:p>
        </p:txBody>
      </p:sp>
      <p:sp>
        <p:nvSpPr>
          <p:cNvPr id="28677" name="Date Placeholder 5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 smtClean="0"/>
              <a:t>© 2014 Goodrich, Tamassia, Goldwasser</a:t>
            </a:r>
            <a:endParaRPr lang="en-US" sz="1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Footer Placeholder 4"/>
          <p:cNvSpPr>
            <a:spLocks noGrp="1"/>
          </p:cNvSpPr>
          <p:nvPr>
            <p:ph type="ftr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/>
              <a:t>Recursion</a:t>
            </a:r>
          </a:p>
        </p:txBody>
      </p:sp>
      <p:sp>
        <p:nvSpPr>
          <p:cNvPr id="29698" name="Slide Number Placeholder 5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fld id="{F14BAA06-83A4-DF47-A6E0-317BFBDE83ED}" type="slidenum">
              <a:rPr lang="en-US" sz="1400"/>
              <a:pPr eaLnBrk="1" hangingPunct="1"/>
              <a:t>13</a:t>
            </a:fld>
            <a:endParaRPr lang="en-US" sz="1400"/>
          </a:p>
        </p:txBody>
      </p:sp>
      <p:sp>
        <p:nvSpPr>
          <p:cNvPr id="296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latin typeface="Tahoma" charset="0"/>
              </a:rPr>
              <a:t>Binary Recursion</a:t>
            </a:r>
            <a:endParaRPr lang="en-US" dirty="0">
              <a:latin typeface="Tahoma" charset="0"/>
              <a:cs typeface="Tahoma" charset="0"/>
            </a:endParaRPr>
          </a:p>
        </p:txBody>
      </p:sp>
      <p:sp>
        <p:nvSpPr>
          <p:cNvPr id="14341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838200" y="1600200"/>
            <a:ext cx="7772400" cy="1676400"/>
          </a:xfrm>
        </p:spPr>
        <p:txBody>
          <a:bodyPr>
            <a:normAutofit/>
          </a:bodyPr>
          <a:lstStyle/>
          <a:p>
            <a:pPr eaLnBrk="1" hangingPunct="1">
              <a:buFont typeface="Wingdings" pitchFamily="2" charset="2"/>
              <a:buChar char="q"/>
              <a:defRPr/>
            </a:pPr>
            <a:r>
              <a:rPr lang="en-US" sz="2800" dirty="0" smtClean="0">
                <a:ea typeface="+mn-ea"/>
                <a:cs typeface="+mn-cs"/>
              </a:rPr>
              <a:t>Binary recursion occurs whenever there are </a:t>
            </a:r>
            <a:r>
              <a:rPr lang="en-US" sz="2800" b="1" dirty="0" smtClean="0">
                <a:ea typeface="+mn-ea"/>
                <a:cs typeface="+mn-cs"/>
              </a:rPr>
              <a:t>two</a:t>
            </a:r>
            <a:r>
              <a:rPr lang="en-US" sz="2800" dirty="0" smtClean="0">
                <a:ea typeface="+mn-ea"/>
                <a:cs typeface="+mn-cs"/>
              </a:rPr>
              <a:t> recursive calls for each non-base case</a:t>
            </a:r>
            <a:r>
              <a:rPr lang="en-US" sz="2800" dirty="0" smtClean="0">
                <a:ea typeface="+mn-ea"/>
                <a:cs typeface="+mn-cs"/>
              </a:rPr>
              <a:t>.</a:t>
            </a:r>
            <a:endParaRPr lang="en-US" sz="2800" dirty="0" smtClean="0">
              <a:ea typeface="+mn-ea"/>
              <a:cs typeface="+mn-cs"/>
            </a:endParaRPr>
          </a:p>
        </p:txBody>
      </p:sp>
      <p:sp>
        <p:nvSpPr>
          <p:cNvPr id="29702" name="Date Placeholder 6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 smtClean="0"/>
              <a:t>© 2014 Goodrich, Tamassia, Goldwasser</a:t>
            </a:r>
            <a:endParaRPr lang="en-US" sz="1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Footer Placeholder 5"/>
          <p:cNvSpPr>
            <a:spLocks noGrp="1"/>
          </p:cNvSpPr>
          <p:nvPr>
            <p:ph type="ftr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/>
              <a:t>Recursion</a:t>
            </a:r>
          </a:p>
        </p:txBody>
      </p:sp>
      <p:sp>
        <p:nvSpPr>
          <p:cNvPr id="30722" name="Slide Number Placeholder 6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fld id="{F9B3BEE0-5275-884A-B4C6-7C5F7BDC270B}" type="slidenum">
              <a:rPr lang="en-US" sz="1400"/>
              <a:pPr eaLnBrk="1" hangingPunct="1"/>
              <a:t>14</a:t>
            </a:fld>
            <a:endParaRPr lang="en-US" sz="1400"/>
          </a:p>
        </p:txBody>
      </p:sp>
      <p:sp>
        <p:nvSpPr>
          <p:cNvPr id="307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 u="sng" dirty="0">
                <a:latin typeface="Tahoma" charset="0"/>
              </a:rPr>
              <a:t>Another Binary </a:t>
            </a:r>
            <a:r>
              <a:rPr lang="en-US" sz="4000" u="sng" dirty="0" smtClean="0">
                <a:latin typeface="Tahoma" charset="0"/>
              </a:rPr>
              <a:t>Recursive </a:t>
            </a:r>
            <a:r>
              <a:rPr lang="en-US" sz="4000" u="sng" dirty="0">
                <a:latin typeface="Tahoma" charset="0"/>
              </a:rPr>
              <a:t>Method</a:t>
            </a:r>
          </a:p>
        </p:txBody>
      </p:sp>
      <p:sp>
        <p:nvSpPr>
          <p:cNvPr id="30724" name="Rectangle 4" descr="Rectangle: Click to edit Master text styles&#10;Second level&#10;Third level&#10;Fourth level&#10;Fifth level"/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600200"/>
            <a:ext cx="7772400" cy="25908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sz="2400" dirty="0">
                <a:latin typeface="Tahoma" charset="0"/>
              </a:rPr>
              <a:t>Problem: add all the numbers in an integer array A:</a:t>
            </a:r>
          </a:p>
          <a:p>
            <a:pPr lvl="1" eaLnBrk="1" hangingPunct="1">
              <a:lnSpc>
                <a:spcPct val="80000"/>
              </a:lnSpc>
              <a:buFont typeface="Wingdings" charset="0"/>
              <a:buNone/>
            </a:pPr>
            <a:r>
              <a:rPr lang="en-US" sz="1600" b="1" dirty="0">
                <a:latin typeface="Tahoma" charset="0"/>
              </a:rPr>
              <a:t>Algorithm </a:t>
            </a:r>
            <a:r>
              <a:rPr lang="en-US" sz="1600" dirty="0" err="1">
                <a:solidFill>
                  <a:srgbClr val="BE2D00"/>
                </a:solidFill>
                <a:latin typeface="Tahoma" charset="0"/>
              </a:rPr>
              <a:t>BinarySum</a:t>
            </a:r>
            <a:r>
              <a:rPr lang="en-US" sz="1600" dirty="0">
                <a:latin typeface="Tahoma" charset="0"/>
              </a:rPr>
              <a:t>(A, </a:t>
            </a:r>
            <a:r>
              <a:rPr lang="en-US" sz="1600" dirty="0" err="1">
                <a:latin typeface="Tahoma" charset="0"/>
              </a:rPr>
              <a:t>i</a:t>
            </a:r>
            <a:r>
              <a:rPr lang="en-US" sz="1600" dirty="0">
                <a:latin typeface="Tahoma" charset="0"/>
              </a:rPr>
              <a:t>, n):</a:t>
            </a:r>
          </a:p>
          <a:p>
            <a:pPr lvl="1" eaLnBrk="1" hangingPunct="1">
              <a:lnSpc>
                <a:spcPct val="80000"/>
              </a:lnSpc>
              <a:buFont typeface="Wingdings" charset="0"/>
              <a:buNone/>
            </a:pPr>
            <a:r>
              <a:rPr lang="en-US" sz="1600" b="1" dirty="0">
                <a:latin typeface="Tahoma" charset="0"/>
              </a:rPr>
              <a:t>      Input: </a:t>
            </a:r>
            <a:r>
              <a:rPr lang="en-US" sz="1600" dirty="0">
                <a:latin typeface="Tahoma" charset="0"/>
              </a:rPr>
              <a:t>An array A and integers </a:t>
            </a:r>
            <a:r>
              <a:rPr lang="en-US" sz="1600" dirty="0" err="1">
                <a:latin typeface="Tahoma" charset="0"/>
              </a:rPr>
              <a:t>i</a:t>
            </a:r>
            <a:r>
              <a:rPr lang="en-US" sz="1600" dirty="0">
                <a:latin typeface="Tahoma" charset="0"/>
              </a:rPr>
              <a:t> and n</a:t>
            </a:r>
          </a:p>
          <a:p>
            <a:pPr lvl="1" eaLnBrk="1" hangingPunct="1">
              <a:lnSpc>
                <a:spcPct val="80000"/>
              </a:lnSpc>
              <a:buFont typeface="Wingdings" charset="0"/>
              <a:buNone/>
            </a:pPr>
            <a:r>
              <a:rPr lang="en-US" sz="1600" b="1" dirty="0">
                <a:latin typeface="Tahoma" charset="0"/>
              </a:rPr>
              <a:t>      Output: </a:t>
            </a:r>
            <a:r>
              <a:rPr lang="en-US" sz="1600" dirty="0">
                <a:latin typeface="Tahoma" charset="0"/>
              </a:rPr>
              <a:t>The sum of the n integers in A starting at index </a:t>
            </a:r>
            <a:r>
              <a:rPr lang="en-US" sz="1600" dirty="0" err="1">
                <a:latin typeface="Tahoma" charset="0"/>
              </a:rPr>
              <a:t>i</a:t>
            </a:r>
            <a:endParaRPr lang="en-US" sz="1600" dirty="0">
              <a:latin typeface="Tahoma" charset="0"/>
            </a:endParaRPr>
          </a:p>
          <a:p>
            <a:pPr lvl="1" eaLnBrk="1" hangingPunct="1">
              <a:lnSpc>
                <a:spcPct val="80000"/>
              </a:lnSpc>
              <a:buFont typeface="Wingdings" charset="0"/>
              <a:buNone/>
            </a:pPr>
            <a:r>
              <a:rPr lang="en-US" sz="1600" b="1" dirty="0">
                <a:latin typeface="Tahoma" charset="0"/>
              </a:rPr>
              <a:t>     if </a:t>
            </a:r>
            <a:r>
              <a:rPr lang="en-US" sz="1600" dirty="0">
                <a:latin typeface="Tahoma" charset="0"/>
              </a:rPr>
              <a:t>n = 1 </a:t>
            </a:r>
            <a:r>
              <a:rPr lang="en-US" sz="1600" b="1" dirty="0">
                <a:latin typeface="Tahoma" charset="0"/>
              </a:rPr>
              <a:t>then</a:t>
            </a:r>
          </a:p>
          <a:p>
            <a:pPr lvl="1" eaLnBrk="1" hangingPunct="1">
              <a:lnSpc>
                <a:spcPct val="80000"/>
              </a:lnSpc>
              <a:buFont typeface="Wingdings" charset="0"/>
              <a:buNone/>
            </a:pPr>
            <a:r>
              <a:rPr lang="en-US" sz="1600" b="1" dirty="0">
                <a:latin typeface="Tahoma" charset="0"/>
              </a:rPr>
              <a:t>	return </a:t>
            </a:r>
            <a:r>
              <a:rPr lang="en-US" sz="1600" dirty="0">
                <a:latin typeface="Tahoma" charset="0"/>
              </a:rPr>
              <a:t>A[</a:t>
            </a:r>
            <a:r>
              <a:rPr lang="en-US" sz="1600" dirty="0" err="1" smtClean="0">
                <a:latin typeface="Tahoma" charset="0"/>
              </a:rPr>
              <a:t>i</a:t>
            </a:r>
            <a:r>
              <a:rPr lang="en-US" sz="1600" dirty="0" smtClean="0">
                <a:latin typeface="Tahoma" charset="0"/>
              </a:rPr>
              <a:t>]</a:t>
            </a:r>
            <a:endParaRPr lang="en-US" sz="1600" dirty="0">
              <a:latin typeface="Tahoma" charset="0"/>
            </a:endParaRPr>
          </a:p>
          <a:p>
            <a:pPr lvl="1" eaLnBrk="1" hangingPunct="1">
              <a:lnSpc>
                <a:spcPct val="80000"/>
              </a:lnSpc>
              <a:buFont typeface="Wingdings" charset="0"/>
              <a:buNone/>
            </a:pPr>
            <a:r>
              <a:rPr lang="en-US" sz="1600" b="1" dirty="0">
                <a:latin typeface="Tahoma" charset="0"/>
              </a:rPr>
              <a:t>     return </a:t>
            </a:r>
            <a:r>
              <a:rPr lang="en-US" sz="1600" dirty="0" err="1">
                <a:latin typeface="Tahoma" charset="0"/>
              </a:rPr>
              <a:t>BinarySum</a:t>
            </a:r>
            <a:r>
              <a:rPr lang="en-US" sz="1600" dirty="0">
                <a:latin typeface="Tahoma" charset="0"/>
              </a:rPr>
              <a:t>(A, </a:t>
            </a:r>
            <a:r>
              <a:rPr lang="en-US" sz="1600" dirty="0" err="1">
                <a:latin typeface="Tahoma" charset="0"/>
              </a:rPr>
              <a:t>i</a:t>
            </a:r>
            <a:r>
              <a:rPr lang="en-US" sz="1600" dirty="0">
                <a:latin typeface="Tahoma" charset="0"/>
              </a:rPr>
              <a:t>, n/ 2) + </a:t>
            </a:r>
            <a:r>
              <a:rPr lang="en-US" sz="1600" dirty="0" err="1">
                <a:latin typeface="Tahoma" charset="0"/>
              </a:rPr>
              <a:t>BinarySum</a:t>
            </a:r>
            <a:r>
              <a:rPr lang="en-US" sz="1600" dirty="0">
                <a:latin typeface="Tahoma" charset="0"/>
              </a:rPr>
              <a:t>(A, </a:t>
            </a:r>
            <a:r>
              <a:rPr lang="en-US" sz="1600" dirty="0" err="1">
                <a:latin typeface="Tahoma" charset="0"/>
              </a:rPr>
              <a:t>i</a:t>
            </a:r>
            <a:r>
              <a:rPr lang="en-US" sz="1600" dirty="0">
                <a:latin typeface="Tahoma" charset="0"/>
              </a:rPr>
              <a:t> + n/ 2, n/ 2)</a:t>
            </a:r>
          </a:p>
          <a:p>
            <a:pPr eaLnBrk="1" hangingPunct="1">
              <a:lnSpc>
                <a:spcPct val="80000"/>
              </a:lnSpc>
            </a:pPr>
            <a:endParaRPr lang="en-US" sz="1800" b="1" dirty="0">
              <a:latin typeface="Tahoma" charset="0"/>
            </a:endParaRPr>
          </a:p>
          <a:p>
            <a:pPr eaLnBrk="1" hangingPunct="1">
              <a:lnSpc>
                <a:spcPct val="80000"/>
              </a:lnSpc>
            </a:pPr>
            <a:r>
              <a:rPr lang="en-US" sz="1800" b="1" dirty="0">
                <a:latin typeface="Tahoma" charset="0"/>
              </a:rPr>
              <a:t>Example trace:</a:t>
            </a:r>
          </a:p>
        </p:txBody>
      </p:sp>
      <p:grpSp>
        <p:nvGrpSpPr>
          <p:cNvPr id="30725" name="Group 10"/>
          <p:cNvGrpSpPr>
            <a:grpSpLocks noChangeAspect="1"/>
          </p:cNvGrpSpPr>
          <p:nvPr/>
        </p:nvGrpSpPr>
        <p:grpSpPr bwMode="auto">
          <a:xfrm>
            <a:off x="1296988" y="4038600"/>
            <a:ext cx="6854825" cy="1981200"/>
            <a:chOff x="817" y="2544"/>
            <a:chExt cx="4318" cy="1248"/>
          </a:xfrm>
        </p:grpSpPr>
        <p:sp>
          <p:nvSpPr>
            <p:cNvPr id="30727" name="AutoShape 9"/>
            <p:cNvSpPr>
              <a:spLocks noChangeAspect="1" noChangeArrowheads="1" noTextEdit="1"/>
            </p:cNvSpPr>
            <p:nvPr/>
          </p:nvSpPr>
          <p:spPr bwMode="auto">
            <a:xfrm>
              <a:off x="817" y="2544"/>
              <a:ext cx="4318" cy="12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28" name="Freeform 11"/>
            <p:cNvSpPr>
              <a:spLocks/>
            </p:cNvSpPr>
            <p:nvPr/>
          </p:nvSpPr>
          <p:spPr bwMode="auto">
            <a:xfrm>
              <a:off x="2511" y="3587"/>
              <a:ext cx="372" cy="186"/>
            </a:xfrm>
            <a:custGeom>
              <a:avLst/>
              <a:gdLst>
                <a:gd name="T0" fmla="*/ 135 w 768"/>
                <a:gd name="T1" fmla="*/ 90 h 384"/>
                <a:gd name="T2" fmla="*/ 180 w 768"/>
                <a:gd name="T3" fmla="*/ 45 h 384"/>
                <a:gd name="T4" fmla="*/ 135 w 768"/>
                <a:gd name="T5" fmla="*/ 0 h 384"/>
                <a:gd name="T6" fmla="*/ 135 w 768"/>
                <a:gd name="T7" fmla="*/ 0 h 384"/>
                <a:gd name="T8" fmla="*/ 45 w 768"/>
                <a:gd name="T9" fmla="*/ 0 h 384"/>
                <a:gd name="T10" fmla="*/ 0 w 768"/>
                <a:gd name="T11" fmla="*/ 45 h 384"/>
                <a:gd name="T12" fmla="*/ 45 w 768"/>
                <a:gd name="T13" fmla="*/ 90 h 384"/>
                <a:gd name="T14" fmla="*/ 45 w 768"/>
                <a:gd name="T15" fmla="*/ 90 h 384"/>
                <a:gd name="T16" fmla="*/ 135 w 768"/>
                <a:gd name="T17" fmla="*/ 90 h 38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768"/>
                <a:gd name="T28" fmla="*/ 0 h 384"/>
                <a:gd name="T29" fmla="*/ 768 w 768"/>
                <a:gd name="T30" fmla="*/ 384 h 384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768" h="384">
                  <a:moveTo>
                    <a:pt x="576" y="384"/>
                  </a:moveTo>
                  <a:cubicBezTo>
                    <a:pt x="682" y="384"/>
                    <a:pt x="768" y="298"/>
                    <a:pt x="768" y="192"/>
                  </a:cubicBezTo>
                  <a:cubicBezTo>
                    <a:pt x="768" y="86"/>
                    <a:pt x="682" y="0"/>
                    <a:pt x="576" y="0"/>
                  </a:cubicBezTo>
                  <a:lnTo>
                    <a:pt x="192" y="0"/>
                  </a:lnTo>
                  <a:cubicBezTo>
                    <a:pt x="86" y="0"/>
                    <a:pt x="0" y="86"/>
                    <a:pt x="0" y="192"/>
                  </a:cubicBezTo>
                  <a:cubicBezTo>
                    <a:pt x="0" y="298"/>
                    <a:pt x="86" y="384"/>
                    <a:pt x="192" y="384"/>
                  </a:cubicBezTo>
                  <a:lnTo>
                    <a:pt x="576" y="384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729" name="Freeform 12"/>
            <p:cNvSpPr>
              <a:spLocks/>
            </p:cNvSpPr>
            <p:nvPr/>
          </p:nvSpPr>
          <p:spPr bwMode="auto">
            <a:xfrm>
              <a:off x="2511" y="3587"/>
              <a:ext cx="372" cy="186"/>
            </a:xfrm>
            <a:custGeom>
              <a:avLst/>
              <a:gdLst>
                <a:gd name="T0" fmla="*/ 135 w 768"/>
                <a:gd name="T1" fmla="*/ 90 h 384"/>
                <a:gd name="T2" fmla="*/ 180 w 768"/>
                <a:gd name="T3" fmla="*/ 45 h 384"/>
                <a:gd name="T4" fmla="*/ 135 w 768"/>
                <a:gd name="T5" fmla="*/ 0 h 384"/>
                <a:gd name="T6" fmla="*/ 135 w 768"/>
                <a:gd name="T7" fmla="*/ 0 h 384"/>
                <a:gd name="T8" fmla="*/ 45 w 768"/>
                <a:gd name="T9" fmla="*/ 0 h 384"/>
                <a:gd name="T10" fmla="*/ 0 w 768"/>
                <a:gd name="T11" fmla="*/ 45 h 384"/>
                <a:gd name="T12" fmla="*/ 45 w 768"/>
                <a:gd name="T13" fmla="*/ 90 h 384"/>
                <a:gd name="T14" fmla="*/ 45 w 768"/>
                <a:gd name="T15" fmla="*/ 90 h 384"/>
                <a:gd name="T16" fmla="*/ 135 w 768"/>
                <a:gd name="T17" fmla="*/ 90 h 38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768"/>
                <a:gd name="T28" fmla="*/ 0 h 384"/>
                <a:gd name="T29" fmla="*/ 768 w 768"/>
                <a:gd name="T30" fmla="*/ 384 h 384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768" h="384">
                  <a:moveTo>
                    <a:pt x="576" y="384"/>
                  </a:moveTo>
                  <a:cubicBezTo>
                    <a:pt x="682" y="384"/>
                    <a:pt x="768" y="298"/>
                    <a:pt x="768" y="192"/>
                  </a:cubicBezTo>
                  <a:cubicBezTo>
                    <a:pt x="768" y="86"/>
                    <a:pt x="682" y="0"/>
                    <a:pt x="576" y="0"/>
                  </a:cubicBezTo>
                  <a:lnTo>
                    <a:pt x="192" y="0"/>
                  </a:lnTo>
                  <a:cubicBezTo>
                    <a:pt x="86" y="0"/>
                    <a:pt x="0" y="86"/>
                    <a:pt x="0" y="192"/>
                  </a:cubicBezTo>
                  <a:cubicBezTo>
                    <a:pt x="0" y="298"/>
                    <a:pt x="86" y="384"/>
                    <a:pt x="192" y="384"/>
                  </a:cubicBezTo>
                  <a:lnTo>
                    <a:pt x="576" y="384"/>
                  </a:lnTo>
                  <a:close/>
                </a:path>
              </a:pathLst>
            </a:custGeom>
            <a:noFill/>
            <a:ln w="11113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30" name="Rectangle 13"/>
            <p:cNvSpPr>
              <a:spLocks noChangeArrowheads="1"/>
            </p:cNvSpPr>
            <p:nvPr/>
          </p:nvSpPr>
          <p:spPr bwMode="auto">
            <a:xfrm>
              <a:off x="2577" y="3591"/>
              <a:ext cx="155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800">
                  <a:solidFill>
                    <a:srgbClr val="0000FF"/>
                  </a:solidFill>
                  <a:latin typeface="Arial" charset="0"/>
                </a:rPr>
                <a:t>3</a:t>
              </a:r>
              <a:endParaRPr lang="en-US"/>
            </a:p>
          </p:txBody>
        </p:sp>
        <p:sp>
          <p:nvSpPr>
            <p:cNvPr id="30731" name="Rectangle 14"/>
            <p:cNvSpPr>
              <a:spLocks noChangeArrowheads="1"/>
            </p:cNvSpPr>
            <p:nvPr/>
          </p:nvSpPr>
          <p:spPr bwMode="auto">
            <a:xfrm>
              <a:off x="2655" y="3591"/>
              <a:ext cx="155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800">
                  <a:solidFill>
                    <a:srgbClr val="0000FF"/>
                  </a:solidFill>
                  <a:latin typeface="Arial" charset="0"/>
                </a:rPr>
                <a:t>, </a:t>
              </a:r>
              <a:endParaRPr lang="en-US"/>
            </a:p>
          </p:txBody>
        </p:sp>
        <p:sp>
          <p:nvSpPr>
            <p:cNvPr id="30732" name="Rectangle 15"/>
            <p:cNvSpPr>
              <a:spLocks noChangeArrowheads="1"/>
            </p:cNvSpPr>
            <p:nvPr/>
          </p:nvSpPr>
          <p:spPr bwMode="auto">
            <a:xfrm>
              <a:off x="2740" y="3591"/>
              <a:ext cx="155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800">
                  <a:solidFill>
                    <a:srgbClr val="0000FF"/>
                  </a:solidFill>
                  <a:latin typeface="Arial" charset="0"/>
                </a:rPr>
                <a:t>1</a:t>
              </a:r>
              <a:endParaRPr lang="en-US"/>
            </a:p>
          </p:txBody>
        </p:sp>
        <p:sp>
          <p:nvSpPr>
            <p:cNvPr id="30733" name="Freeform 16"/>
            <p:cNvSpPr>
              <a:spLocks/>
            </p:cNvSpPr>
            <p:nvPr/>
          </p:nvSpPr>
          <p:spPr bwMode="auto">
            <a:xfrm>
              <a:off x="2232" y="3215"/>
              <a:ext cx="372" cy="186"/>
            </a:xfrm>
            <a:custGeom>
              <a:avLst/>
              <a:gdLst>
                <a:gd name="T0" fmla="*/ 135 w 768"/>
                <a:gd name="T1" fmla="*/ 90 h 384"/>
                <a:gd name="T2" fmla="*/ 180 w 768"/>
                <a:gd name="T3" fmla="*/ 45 h 384"/>
                <a:gd name="T4" fmla="*/ 135 w 768"/>
                <a:gd name="T5" fmla="*/ 0 h 384"/>
                <a:gd name="T6" fmla="*/ 135 w 768"/>
                <a:gd name="T7" fmla="*/ 0 h 384"/>
                <a:gd name="T8" fmla="*/ 45 w 768"/>
                <a:gd name="T9" fmla="*/ 0 h 384"/>
                <a:gd name="T10" fmla="*/ 0 w 768"/>
                <a:gd name="T11" fmla="*/ 45 h 384"/>
                <a:gd name="T12" fmla="*/ 45 w 768"/>
                <a:gd name="T13" fmla="*/ 90 h 384"/>
                <a:gd name="T14" fmla="*/ 135 w 768"/>
                <a:gd name="T15" fmla="*/ 90 h 38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768"/>
                <a:gd name="T25" fmla="*/ 0 h 384"/>
                <a:gd name="T26" fmla="*/ 768 w 768"/>
                <a:gd name="T27" fmla="*/ 384 h 384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768" h="384">
                  <a:moveTo>
                    <a:pt x="576" y="384"/>
                  </a:moveTo>
                  <a:cubicBezTo>
                    <a:pt x="682" y="384"/>
                    <a:pt x="768" y="298"/>
                    <a:pt x="768" y="192"/>
                  </a:cubicBezTo>
                  <a:cubicBezTo>
                    <a:pt x="768" y="86"/>
                    <a:pt x="682" y="0"/>
                    <a:pt x="576" y="0"/>
                  </a:cubicBezTo>
                  <a:lnTo>
                    <a:pt x="192" y="0"/>
                  </a:lnTo>
                  <a:cubicBezTo>
                    <a:pt x="86" y="0"/>
                    <a:pt x="0" y="86"/>
                    <a:pt x="0" y="192"/>
                  </a:cubicBezTo>
                  <a:cubicBezTo>
                    <a:pt x="0" y="298"/>
                    <a:pt x="86" y="384"/>
                    <a:pt x="192" y="384"/>
                  </a:cubicBezTo>
                  <a:lnTo>
                    <a:pt x="576" y="384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734" name="Freeform 17"/>
            <p:cNvSpPr>
              <a:spLocks/>
            </p:cNvSpPr>
            <p:nvPr/>
          </p:nvSpPr>
          <p:spPr bwMode="auto">
            <a:xfrm>
              <a:off x="2232" y="3215"/>
              <a:ext cx="372" cy="186"/>
            </a:xfrm>
            <a:custGeom>
              <a:avLst/>
              <a:gdLst>
                <a:gd name="T0" fmla="*/ 135 w 768"/>
                <a:gd name="T1" fmla="*/ 90 h 384"/>
                <a:gd name="T2" fmla="*/ 180 w 768"/>
                <a:gd name="T3" fmla="*/ 45 h 384"/>
                <a:gd name="T4" fmla="*/ 135 w 768"/>
                <a:gd name="T5" fmla="*/ 0 h 384"/>
                <a:gd name="T6" fmla="*/ 135 w 768"/>
                <a:gd name="T7" fmla="*/ 0 h 384"/>
                <a:gd name="T8" fmla="*/ 45 w 768"/>
                <a:gd name="T9" fmla="*/ 0 h 384"/>
                <a:gd name="T10" fmla="*/ 0 w 768"/>
                <a:gd name="T11" fmla="*/ 45 h 384"/>
                <a:gd name="T12" fmla="*/ 45 w 768"/>
                <a:gd name="T13" fmla="*/ 90 h 384"/>
                <a:gd name="T14" fmla="*/ 135 w 768"/>
                <a:gd name="T15" fmla="*/ 90 h 38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768"/>
                <a:gd name="T25" fmla="*/ 0 h 384"/>
                <a:gd name="T26" fmla="*/ 768 w 768"/>
                <a:gd name="T27" fmla="*/ 384 h 384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768" h="384">
                  <a:moveTo>
                    <a:pt x="576" y="384"/>
                  </a:moveTo>
                  <a:cubicBezTo>
                    <a:pt x="682" y="384"/>
                    <a:pt x="768" y="298"/>
                    <a:pt x="768" y="192"/>
                  </a:cubicBezTo>
                  <a:cubicBezTo>
                    <a:pt x="768" y="86"/>
                    <a:pt x="682" y="0"/>
                    <a:pt x="576" y="0"/>
                  </a:cubicBezTo>
                  <a:lnTo>
                    <a:pt x="192" y="0"/>
                  </a:lnTo>
                  <a:cubicBezTo>
                    <a:pt x="86" y="0"/>
                    <a:pt x="0" y="86"/>
                    <a:pt x="0" y="192"/>
                  </a:cubicBezTo>
                  <a:cubicBezTo>
                    <a:pt x="0" y="298"/>
                    <a:pt x="86" y="384"/>
                    <a:pt x="192" y="384"/>
                  </a:cubicBezTo>
                  <a:lnTo>
                    <a:pt x="576" y="384"/>
                  </a:lnTo>
                  <a:close/>
                </a:path>
              </a:pathLst>
            </a:custGeom>
            <a:noFill/>
            <a:ln w="11113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35" name="Rectangle 18"/>
            <p:cNvSpPr>
              <a:spLocks noChangeArrowheads="1"/>
            </p:cNvSpPr>
            <p:nvPr/>
          </p:nvSpPr>
          <p:spPr bwMode="auto">
            <a:xfrm>
              <a:off x="2298" y="3219"/>
              <a:ext cx="155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800">
                  <a:solidFill>
                    <a:srgbClr val="0000FF"/>
                  </a:solidFill>
                  <a:latin typeface="Arial" charset="0"/>
                </a:rPr>
                <a:t>2</a:t>
              </a:r>
              <a:endParaRPr lang="en-US"/>
            </a:p>
          </p:txBody>
        </p:sp>
        <p:sp>
          <p:nvSpPr>
            <p:cNvPr id="30736" name="Rectangle 19"/>
            <p:cNvSpPr>
              <a:spLocks noChangeArrowheads="1"/>
            </p:cNvSpPr>
            <p:nvPr/>
          </p:nvSpPr>
          <p:spPr bwMode="auto">
            <a:xfrm>
              <a:off x="2375" y="3219"/>
              <a:ext cx="155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800">
                  <a:solidFill>
                    <a:srgbClr val="0000FF"/>
                  </a:solidFill>
                  <a:latin typeface="Arial" charset="0"/>
                </a:rPr>
                <a:t>, </a:t>
              </a:r>
              <a:endParaRPr lang="en-US"/>
            </a:p>
          </p:txBody>
        </p:sp>
        <p:sp>
          <p:nvSpPr>
            <p:cNvPr id="30737" name="Rectangle 20"/>
            <p:cNvSpPr>
              <a:spLocks noChangeArrowheads="1"/>
            </p:cNvSpPr>
            <p:nvPr/>
          </p:nvSpPr>
          <p:spPr bwMode="auto">
            <a:xfrm>
              <a:off x="2461" y="3219"/>
              <a:ext cx="155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800">
                  <a:solidFill>
                    <a:srgbClr val="0000FF"/>
                  </a:solidFill>
                  <a:latin typeface="Arial" charset="0"/>
                </a:rPr>
                <a:t>2</a:t>
              </a:r>
              <a:endParaRPr lang="en-US"/>
            </a:p>
          </p:txBody>
        </p:sp>
        <p:sp>
          <p:nvSpPr>
            <p:cNvPr id="30738" name="Freeform 21"/>
            <p:cNvSpPr>
              <a:spLocks/>
            </p:cNvSpPr>
            <p:nvPr/>
          </p:nvSpPr>
          <p:spPr bwMode="auto">
            <a:xfrm>
              <a:off x="1674" y="2936"/>
              <a:ext cx="372" cy="186"/>
            </a:xfrm>
            <a:custGeom>
              <a:avLst/>
              <a:gdLst>
                <a:gd name="T0" fmla="*/ 135 w 768"/>
                <a:gd name="T1" fmla="*/ 90 h 384"/>
                <a:gd name="T2" fmla="*/ 180 w 768"/>
                <a:gd name="T3" fmla="*/ 45 h 384"/>
                <a:gd name="T4" fmla="*/ 135 w 768"/>
                <a:gd name="T5" fmla="*/ 0 h 384"/>
                <a:gd name="T6" fmla="*/ 135 w 768"/>
                <a:gd name="T7" fmla="*/ 0 h 384"/>
                <a:gd name="T8" fmla="*/ 45 w 768"/>
                <a:gd name="T9" fmla="*/ 0 h 384"/>
                <a:gd name="T10" fmla="*/ 0 w 768"/>
                <a:gd name="T11" fmla="*/ 45 h 384"/>
                <a:gd name="T12" fmla="*/ 45 w 768"/>
                <a:gd name="T13" fmla="*/ 90 h 384"/>
                <a:gd name="T14" fmla="*/ 45 w 768"/>
                <a:gd name="T15" fmla="*/ 90 h 384"/>
                <a:gd name="T16" fmla="*/ 135 w 768"/>
                <a:gd name="T17" fmla="*/ 90 h 38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768"/>
                <a:gd name="T28" fmla="*/ 0 h 384"/>
                <a:gd name="T29" fmla="*/ 768 w 768"/>
                <a:gd name="T30" fmla="*/ 384 h 384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768" h="384">
                  <a:moveTo>
                    <a:pt x="576" y="384"/>
                  </a:moveTo>
                  <a:cubicBezTo>
                    <a:pt x="682" y="384"/>
                    <a:pt x="768" y="298"/>
                    <a:pt x="768" y="192"/>
                  </a:cubicBezTo>
                  <a:cubicBezTo>
                    <a:pt x="768" y="86"/>
                    <a:pt x="682" y="0"/>
                    <a:pt x="576" y="0"/>
                  </a:cubicBezTo>
                  <a:lnTo>
                    <a:pt x="192" y="0"/>
                  </a:lnTo>
                  <a:cubicBezTo>
                    <a:pt x="86" y="0"/>
                    <a:pt x="0" y="86"/>
                    <a:pt x="0" y="192"/>
                  </a:cubicBezTo>
                  <a:cubicBezTo>
                    <a:pt x="0" y="298"/>
                    <a:pt x="86" y="384"/>
                    <a:pt x="192" y="384"/>
                  </a:cubicBezTo>
                  <a:lnTo>
                    <a:pt x="576" y="384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739" name="Freeform 22"/>
            <p:cNvSpPr>
              <a:spLocks/>
            </p:cNvSpPr>
            <p:nvPr/>
          </p:nvSpPr>
          <p:spPr bwMode="auto">
            <a:xfrm>
              <a:off x="1674" y="2936"/>
              <a:ext cx="372" cy="186"/>
            </a:xfrm>
            <a:custGeom>
              <a:avLst/>
              <a:gdLst>
                <a:gd name="T0" fmla="*/ 135 w 768"/>
                <a:gd name="T1" fmla="*/ 90 h 384"/>
                <a:gd name="T2" fmla="*/ 180 w 768"/>
                <a:gd name="T3" fmla="*/ 45 h 384"/>
                <a:gd name="T4" fmla="*/ 135 w 768"/>
                <a:gd name="T5" fmla="*/ 0 h 384"/>
                <a:gd name="T6" fmla="*/ 135 w 768"/>
                <a:gd name="T7" fmla="*/ 0 h 384"/>
                <a:gd name="T8" fmla="*/ 45 w 768"/>
                <a:gd name="T9" fmla="*/ 0 h 384"/>
                <a:gd name="T10" fmla="*/ 0 w 768"/>
                <a:gd name="T11" fmla="*/ 45 h 384"/>
                <a:gd name="T12" fmla="*/ 45 w 768"/>
                <a:gd name="T13" fmla="*/ 90 h 384"/>
                <a:gd name="T14" fmla="*/ 45 w 768"/>
                <a:gd name="T15" fmla="*/ 90 h 384"/>
                <a:gd name="T16" fmla="*/ 135 w 768"/>
                <a:gd name="T17" fmla="*/ 90 h 38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768"/>
                <a:gd name="T28" fmla="*/ 0 h 384"/>
                <a:gd name="T29" fmla="*/ 768 w 768"/>
                <a:gd name="T30" fmla="*/ 384 h 384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768" h="384">
                  <a:moveTo>
                    <a:pt x="576" y="384"/>
                  </a:moveTo>
                  <a:cubicBezTo>
                    <a:pt x="682" y="384"/>
                    <a:pt x="768" y="298"/>
                    <a:pt x="768" y="192"/>
                  </a:cubicBezTo>
                  <a:cubicBezTo>
                    <a:pt x="768" y="86"/>
                    <a:pt x="682" y="0"/>
                    <a:pt x="576" y="0"/>
                  </a:cubicBezTo>
                  <a:lnTo>
                    <a:pt x="192" y="0"/>
                  </a:lnTo>
                  <a:cubicBezTo>
                    <a:pt x="86" y="0"/>
                    <a:pt x="0" y="86"/>
                    <a:pt x="0" y="192"/>
                  </a:cubicBezTo>
                  <a:cubicBezTo>
                    <a:pt x="0" y="298"/>
                    <a:pt x="86" y="384"/>
                    <a:pt x="192" y="384"/>
                  </a:cubicBezTo>
                  <a:lnTo>
                    <a:pt x="576" y="384"/>
                  </a:lnTo>
                  <a:close/>
                </a:path>
              </a:pathLst>
            </a:custGeom>
            <a:noFill/>
            <a:ln w="11113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40" name="Rectangle 23"/>
            <p:cNvSpPr>
              <a:spLocks noChangeArrowheads="1"/>
            </p:cNvSpPr>
            <p:nvPr/>
          </p:nvSpPr>
          <p:spPr bwMode="auto">
            <a:xfrm>
              <a:off x="1740" y="2939"/>
              <a:ext cx="155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800">
                  <a:solidFill>
                    <a:srgbClr val="0000FF"/>
                  </a:solidFill>
                  <a:latin typeface="Arial" charset="0"/>
                </a:rPr>
                <a:t>0</a:t>
              </a:r>
              <a:endParaRPr lang="en-US"/>
            </a:p>
          </p:txBody>
        </p:sp>
        <p:sp>
          <p:nvSpPr>
            <p:cNvPr id="30741" name="Rectangle 24"/>
            <p:cNvSpPr>
              <a:spLocks noChangeArrowheads="1"/>
            </p:cNvSpPr>
            <p:nvPr/>
          </p:nvSpPr>
          <p:spPr bwMode="auto">
            <a:xfrm>
              <a:off x="1817" y="2939"/>
              <a:ext cx="155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800" dirty="0">
                  <a:solidFill>
                    <a:srgbClr val="0000FF"/>
                  </a:solidFill>
                  <a:latin typeface="Arial" charset="0"/>
                </a:rPr>
                <a:t>, </a:t>
              </a:r>
              <a:endParaRPr lang="en-US" dirty="0"/>
            </a:p>
          </p:txBody>
        </p:sp>
        <p:sp>
          <p:nvSpPr>
            <p:cNvPr id="30742" name="Rectangle 25"/>
            <p:cNvSpPr>
              <a:spLocks noChangeArrowheads="1"/>
            </p:cNvSpPr>
            <p:nvPr/>
          </p:nvSpPr>
          <p:spPr bwMode="auto">
            <a:xfrm>
              <a:off x="1902" y="2939"/>
              <a:ext cx="155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800">
                  <a:solidFill>
                    <a:srgbClr val="0000FF"/>
                  </a:solidFill>
                  <a:latin typeface="Arial" charset="0"/>
                </a:rPr>
                <a:t>4</a:t>
              </a:r>
              <a:endParaRPr lang="en-US"/>
            </a:p>
          </p:txBody>
        </p:sp>
        <p:sp>
          <p:nvSpPr>
            <p:cNvPr id="30743" name="Line 26"/>
            <p:cNvSpPr>
              <a:spLocks noChangeShapeType="1"/>
            </p:cNvSpPr>
            <p:nvPr/>
          </p:nvSpPr>
          <p:spPr bwMode="auto">
            <a:xfrm>
              <a:off x="2980" y="2750"/>
              <a:ext cx="852" cy="206"/>
            </a:xfrm>
            <a:prstGeom prst="line">
              <a:avLst/>
            </a:prstGeom>
            <a:noFill/>
            <a:ln w="11113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44" name="Freeform 27"/>
            <p:cNvSpPr>
              <a:spLocks/>
            </p:cNvSpPr>
            <p:nvPr/>
          </p:nvSpPr>
          <p:spPr bwMode="auto">
            <a:xfrm>
              <a:off x="3816" y="2922"/>
              <a:ext cx="106" cy="65"/>
            </a:xfrm>
            <a:custGeom>
              <a:avLst/>
              <a:gdLst>
                <a:gd name="T0" fmla="*/ 16 w 106"/>
                <a:gd name="T1" fmla="*/ 0 h 65"/>
                <a:gd name="T2" fmla="*/ 106 w 106"/>
                <a:gd name="T3" fmla="*/ 56 h 65"/>
                <a:gd name="T4" fmla="*/ 0 w 106"/>
                <a:gd name="T5" fmla="*/ 65 h 65"/>
                <a:gd name="T6" fmla="*/ 16 w 106"/>
                <a:gd name="T7" fmla="*/ 0 h 6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6"/>
                <a:gd name="T13" fmla="*/ 0 h 65"/>
                <a:gd name="T14" fmla="*/ 106 w 106"/>
                <a:gd name="T15" fmla="*/ 65 h 6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6" h="65">
                  <a:moveTo>
                    <a:pt x="16" y="0"/>
                  </a:moveTo>
                  <a:lnTo>
                    <a:pt x="106" y="56"/>
                  </a:lnTo>
                  <a:lnTo>
                    <a:pt x="0" y="65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45" name="Line 28"/>
            <p:cNvSpPr>
              <a:spLocks noChangeShapeType="1"/>
            </p:cNvSpPr>
            <p:nvPr/>
          </p:nvSpPr>
          <p:spPr bwMode="auto">
            <a:xfrm flipV="1">
              <a:off x="2120" y="2750"/>
              <a:ext cx="860" cy="205"/>
            </a:xfrm>
            <a:prstGeom prst="line">
              <a:avLst/>
            </a:prstGeom>
            <a:noFill/>
            <a:ln w="11113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46" name="Freeform 29"/>
            <p:cNvSpPr>
              <a:spLocks/>
            </p:cNvSpPr>
            <p:nvPr/>
          </p:nvSpPr>
          <p:spPr bwMode="auto">
            <a:xfrm>
              <a:off x="2030" y="2921"/>
              <a:ext cx="106" cy="65"/>
            </a:xfrm>
            <a:custGeom>
              <a:avLst/>
              <a:gdLst>
                <a:gd name="T0" fmla="*/ 106 w 106"/>
                <a:gd name="T1" fmla="*/ 65 h 65"/>
                <a:gd name="T2" fmla="*/ 0 w 106"/>
                <a:gd name="T3" fmla="*/ 56 h 65"/>
                <a:gd name="T4" fmla="*/ 90 w 106"/>
                <a:gd name="T5" fmla="*/ 0 h 65"/>
                <a:gd name="T6" fmla="*/ 106 w 106"/>
                <a:gd name="T7" fmla="*/ 65 h 6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6"/>
                <a:gd name="T13" fmla="*/ 0 h 65"/>
                <a:gd name="T14" fmla="*/ 106 w 106"/>
                <a:gd name="T15" fmla="*/ 65 h 6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6" h="65">
                  <a:moveTo>
                    <a:pt x="106" y="65"/>
                  </a:moveTo>
                  <a:lnTo>
                    <a:pt x="0" y="56"/>
                  </a:lnTo>
                  <a:lnTo>
                    <a:pt x="90" y="0"/>
                  </a:lnTo>
                  <a:lnTo>
                    <a:pt x="106" y="6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47" name="Line 30"/>
            <p:cNvSpPr>
              <a:spLocks noChangeShapeType="1"/>
            </p:cNvSpPr>
            <p:nvPr/>
          </p:nvSpPr>
          <p:spPr bwMode="auto">
            <a:xfrm>
              <a:off x="1860" y="3122"/>
              <a:ext cx="300" cy="104"/>
            </a:xfrm>
            <a:prstGeom prst="line">
              <a:avLst/>
            </a:prstGeom>
            <a:noFill/>
            <a:ln w="11113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48" name="Freeform 31"/>
            <p:cNvSpPr>
              <a:spLocks/>
            </p:cNvSpPr>
            <p:nvPr/>
          </p:nvSpPr>
          <p:spPr bwMode="auto">
            <a:xfrm>
              <a:off x="2142" y="3192"/>
              <a:ext cx="105" cy="64"/>
            </a:xfrm>
            <a:custGeom>
              <a:avLst/>
              <a:gdLst>
                <a:gd name="T0" fmla="*/ 22 w 105"/>
                <a:gd name="T1" fmla="*/ 0 h 64"/>
                <a:gd name="T2" fmla="*/ 105 w 105"/>
                <a:gd name="T3" fmla="*/ 64 h 64"/>
                <a:gd name="T4" fmla="*/ 0 w 105"/>
                <a:gd name="T5" fmla="*/ 63 h 64"/>
                <a:gd name="T6" fmla="*/ 22 w 105"/>
                <a:gd name="T7" fmla="*/ 0 h 6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5"/>
                <a:gd name="T13" fmla="*/ 0 h 64"/>
                <a:gd name="T14" fmla="*/ 105 w 105"/>
                <a:gd name="T15" fmla="*/ 64 h 6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5" h="64">
                  <a:moveTo>
                    <a:pt x="22" y="0"/>
                  </a:moveTo>
                  <a:lnTo>
                    <a:pt x="105" y="64"/>
                  </a:lnTo>
                  <a:lnTo>
                    <a:pt x="0" y="63"/>
                  </a:lnTo>
                  <a:lnTo>
                    <a:pt x="2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49" name="Line 32"/>
            <p:cNvSpPr>
              <a:spLocks noChangeShapeType="1"/>
            </p:cNvSpPr>
            <p:nvPr/>
          </p:nvSpPr>
          <p:spPr bwMode="auto">
            <a:xfrm>
              <a:off x="2418" y="3401"/>
              <a:ext cx="203" cy="135"/>
            </a:xfrm>
            <a:prstGeom prst="line">
              <a:avLst/>
            </a:prstGeom>
            <a:noFill/>
            <a:ln w="11113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50" name="Freeform 33"/>
            <p:cNvSpPr>
              <a:spLocks/>
            </p:cNvSpPr>
            <p:nvPr/>
          </p:nvSpPr>
          <p:spPr bwMode="auto">
            <a:xfrm>
              <a:off x="2595" y="3503"/>
              <a:ext cx="102" cy="84"/>
            </a:xfrm>
            <a:custGeom>
              <a:avLst/>
              <a:gdLst>
                <a:gd name="T0" fmla="*/ 37 w 102"/>
                <a:gd name="T1" fmla="*/ 0 h 84"/>
                <a:gd name="T2" fmla="*/ 102 w 102"/>
                <a:gd name="T3" fmla="*/ 84 h 84"/>
                <a:gd name="T4" fmla="*/ 0 w 102"/>
                <a:gd name="T5" fmla="*/ 56 h 84"/>
                <a:gd name="T6" fmla="*/ 37 w 102"/>
                <a:gd name="T7" fmla="*/ 0 h 8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2"/>
                <a:gd name="T13" fmla="*/ 0 h 84"/>
                <a:gd name="T14" fmla="*/ 102 w 102"/>
                <a:gd name="T15" fmla="*/ 84 h 8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2" h="84">
                  <a:moveTo>
                    <a:pt x="37" y="0"/>
                  </a:moveTo>
                  <a:lnTo>
                    <a:pt x="102" y="84"/>
                  </a:lnTo>
                  <a:lnTo>
                    <a:pt x="0" y="56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51" name="Freeform 34"/>
            <p:cNvSpPr>
              <a:spLocks/>
            </p:cNvSpPr>
            <p:nvPr/>
          </p:nvSpPr>
          <p:spPr bwMode="auto">
            <a:xfrm>
              <a:off x="1953" y="3587"/>
              <a:ext cx="372" cy="186"/>
            </a:xfrm>
            <a:custGeom>
              <a:avLst/>
              <a:gdLst>
                <a:gd name="T0" fmla="*/ 135 w 768"/>
                <a:gd name="T1" fmla="*/ 90 h 384"/>
                <a:gd name="T2" fmla="*/ 180 w 768"/>
                <a:gd name="T3" fmla="*/ 45 h 384"/>
                <a:gd name="T4" fmla="*/ 135 w 768"/>
                <a:gd name="T5" fmla="*/ 0 h 384"/>
                <a:gd name="T6" fmla="*/ 135 w 768"/>
                <a:gd name="T7" fmla="*/ 0 h 384"/>
                <a:gd name="T8" fmla="*/ 45 w 768"/>
                <a:gd name="T9" fmla="*/ 0 h 384"/>
                <a:gd name="T10" fmla="*/ 0 w 768"/>
                <a:gd name="T11" fmla="*/ 45 h 384"/>
                <a:gd name="T12" fmla="*/ 45 w 768"/>
                <a:gd name="T13" fmla="*/ 90 h 384"/>
                <a:gd name="T14" fmla="*/ 45 w 768"/>
                <a:gd name="T15" fmla="*/ 90 h 384"/>
                <a:gd name="T16" fmla="*/ 135 w 768"/>
                <a:gd name="T17" fmla="*/ 90 h 38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768"/>
                <a:gd name="T28" fmla="*/ 0 h 384"/>
                <a:gd name="T29" fmla="*/ 768 w 768"/>
                <a:gd name="T30" fmla="*/ 384 h 384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768" h="384">
                  <a:moveTo>
                    <a:pt x="576" y="384"/>
                  </a:moveTo>
                  <a:cubicBezTo>
                    <a:pt x="682" y="384"/>
                    <a:pt x="768" y="298"/>
                    <a:pt x="768" y="192"/>
                  </a:cubicBezTo>
                  <a:cubicBezTo>
                    <a:pt x="768" y="86"/>
                    <a:pt x="682" y="0"/>
                    <a:pt x="576" y="0"/>
                  </a:cubicBezTo>
                  <a:lnTo>
                    <a:pt x="192" y="0"/>
                  </a:lnTo>
                  <a:cubicBezTo>
                    <a:pt x="86" y="0"/>
                    <a:pt x="0" y="86"/>
                    <a:pt x="0" y="192"/>
                  </a:cubicBezTo>
                  <a:cubicBezTo>
                    <a:pt x="0" y="298"/>
                    <a:pt x="86" y="384"/>
                    <a:pt x="192" y="384"/>
                  </a:cubicBezTo>
                  <a:lnTo>
                    <a:pt x="576" y="384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752" name="Freeform 35"/>
            <p:cNvSpPr>
              <a:spLocks/>
            </p:cNvSpPr>
            <p:nvPr/>
          </p:nvSpPr>
          <p:spPr bwMode="auto">
            <a:xfrm>
              <a:off x="1953" y="3587"/>
              <a:ext cx="372" cy="186"/>
            </a:xfrm>
            <a:custGeom>
              <a:avLst/>
              <a:gdLst>
                <a:gd name="T0" fmla="*/ 135 w 768"/>
                <a:gd name="T1" fmla="*/ 90 h 384"/>
                <a:gd name="T2" fmla="*/ 180 w 768"/>
                <a:gd name="T3" fmla="*/ 45 h 384"/>
                <a:gd name="T4" fmla="*/ 135 w 768"/>
                <a:gd name="T5" fmla="*/ 0 h 384"/>
                <a:gd name="T6" fmla="*/ 135 w 768"/>
                <a:gd name="T7" fmla="*/ 0 h 384"/>
                <a:gd name="T8" fmla="*/ 45 w 768"/>
                <a:gd name="T9" fmla="*/ 0 h 384"/>
                <a:gd name="T10" fmla="*/ 0 w 768"/>
                <a:gd name="T11" fmla="*/ 45 h 384"/>
                <a:gd name="T12" fmla="*/ 45 w 768"/>
                <a:gd name="T13" fmla="*/ 90 h 384"/>
                <a:gd name="T14" fmla="*/ 45 w 768"/>
                <a:gd name="T15" fmla="*/ 90 h 384"/>
                <a:gd name="T16" fmla="*/ 135 w 768"/>
                <a:gd name="T17" fmla="*/ 90 h 38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768"/>
                <a:gd name="T28" fmla="*/ 0 h 384"/>
                <a:gd name="T29" fmla="*/ 768 w 768"/>
                <a:gd name="T30" fmla="*/ 384 h 384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768" h="384">
                  <a:moveTo>
                    <a:pt x="576" y="384"/>
                  </a:moveTo>
                  <a:cubicBezTo>
                    <a:pt x="682" y="384"/>
                    <a:pt x="768" y="298"/>
                    <a:pt x="768" y="192"/>
                  </a:cubicBezTo>
                  <a:cubicBezTo>
                    <a:pt x="768" y="86"/>
                    <a:pt x="682" y="0"/>
                    <a:pt x="576" y="0"/>
                  </a:cubicBezTo>
                  <a:lnTo>
                    <a:pt x="192" y="0"/>
                  </a:lnTo>
                  <a:cubicBezTo>
                    <a:pt x="86" y="0"/>
                    <a:pt x="0" y="86"/>
                    <a:pt x="0" y="192"/>
                  </a:cubicBezTo>
                  <a:cubicBezTo>
                    <a:pt x="0" y="298"/>
                    <a:pt x="86" y="384"/>
                    <a:pt x="192" y="384"/>
                  </a:cubicBezTo>
                  <a:lnTo>
                    <a:pt x="576" y="384"/>
                  </a:lnTo>
                  <a:close/>
                </a:path>
              </a:pathLst>
            </a:custGeom>
            <a:noFill/>
            <a:ln w="11113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53" name="Rectangle 36"/>
            <p:cNvSpPr>
              <a:spLocks noChangeArrowheads="1"/>
            </p:cNvSpPr>
            <p:nvPr/>
          </p:nvSpPr>
          <p:spPr bwMode="auto">
            <a:xfrm>
              <a:off x="2019" y="3591"/>
              <a:ext cx="155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800">
                  <a:solidFill>
                    <a:srgbClr val="0000FF"/>
                  </a:solidFill>
                  <a:latin typeface="Arial" charset="0"/>
                </a:rPr>
                <a:t>2</a:t>
              </a:r>
              <a:endParaRPr lang="en-US"/>
            </a:p>
          </p:txBody>
        </p:sp>
        <p:sp>
          <p:nvSpPr>
            <p:cNvPr id="30754" name="Rectangle 37"/>
            <p:cNvSpPr>
              <a:spLocks noChangeArrowheads="1"/>
            </p:cNvSpPr>
            <p:nvPr/>
          </p:nvSpPr>
          <p:spPr bwMode="auto">
            <a:xfrm>
              <a:off x="2096" y="3591"/>
              <a:ext cx="155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800">
                  <a:solidFill>
                    <a:srgbClr val="0000FF"/>
                  </a:solidFill>
                  <a:latin typeface="Arial" charset="0"/>
                </a:rPr>
                <a:t>, </a:t>
              </a:r>
              <a:endParaRPr lang="en-US"/>
            </a:p>
          </p:txBody>
        </p:sp>
        <p:sp>
          <p:nvSpPr>
            <p:cNvPr id="30755" name="Rectangle 38"/>
            <p:cNvSpPr>
              <a:spLocks noChangeArrowheads="1"/>
            </p:cNvSpPr>
            <p:nvPr/>
          </p:nvSpPr>
          <p:spPr bwMode="auto">
            <a:xfrm>
              <a:off x="2182" y="3591"/>
              <a:ext cx="155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800">
                  <a:solidFill>
                    <a:srgbClr val="0000FF"/>
                  </a:solidFill>
                  <a:latin typeface="Arial" charset="0"/>
                </a:rPr>
                <a:t>1</a:t>
              </a:r>
              <a:endParaRPr lang="en-US"/>
            </a:p>
          </p:txBody>
        </p:sp>
        <p:sp>
          <p:nvSpPr>
            <p:cNvPr id="30756" name="Freeform 39"/>
            <p:cNvSpPr>
              <a:spLocks/>
            </p:cNvSpPr>
            <p:nvPr/>
          </p:nvSpPr>
          <p:spPr bwMode="auto">
            <a:xfrm>
              <a:off x="1395" y="3587"/>
              <a:ext cx="372" cy="186"/>
            </a:xfrm>
            <a:custGeom>
              <a:avLst/>
              <a:gdLst>
                <a:gd name="T0" fmla="*/ 135 w 768"/>
                <a:gd name="T1" fmla="*/ 90 h 384"/>
                <a:gd name="T2" fmla="*/ 180 w 768"/>
                <a:gd name="T3" fmla="*/ 45 h 384"/>
                <a:gd name="T4" fmla="*/ 135 w 768"/>
                <a:gd name="T5" fmla="*/ 0 h 384"/>
                <a:gd name="T6" fmla="*/ 135 w 768"/>
                <a:gd name="T7" fmla="*/ 0 h 384"/>
                <a:gd name="T8" fmla="*/ 45 w 768"/>
                <a:gd name="T9" fmla="*/ 0 h 384"/>
                <a:gd name="T10" fmla="*/ 0 w 768"/>
                <a:gd name="T11" fmla="*/ 45 h 384"/>
                <a:gd name="T12" fmla="*/ 45 w 768"/>
                <a:gd name="T13" fmla="*/ 90 h 384"/>
                <a:gd name="T14" fmla="*/ 45 w 768"/>
                <a:gd name="T15" fmla="*/ 90 h 384"/>
                <a:gd name="T16" fmla="*/ 135 w 768"/>
                <a:gd name="T17" fmla="*/ 90 h 38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768"/>
                <a:gd name="T28" fmla="*/ 0 h 384"/>
                <a:gd name="T29" fmla="*/ 768 w 768"/>
                <a:gd name="T30" fmla="*/ 384 h 384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768" h="384">
                  <a:moveTo>
                    <a:pt x="576" y="384"/>
                  </a:moveTo>
                  <a:cubicBezTo>
                    <a:pt x="682" y="384"/>
                    <a:pt x="768" y="298"/>
                    <a:pt x="768" y="192"/>
                  </a:cubicBezTo>
                  <a:cubicBezTo>
                    <a:pt x="768" y="86"/>
                    <a:pt x="682" y="0"/>
                    <a:pt x="576" y="0"/>
                  </a:cubicBezTo>
                  <a:lnTo>
                    <a:pt x="192" y="0"/>
                  </a:lnTo>
                  <a:cubicBezTo>
                    <a:pt x="86" y="0"/>
                    <a:pt x="0" y="86"/>
                    <a:pt x="0" y="192"/>
                  </a:cubicBezTo>
                  <a:cubicBezTo>
                    <a:pt x="0" y="298"/>
                    <a:pt x="86" y="384"/>
                    <a:pt x="192" y="384"/>
                  </a:cubicBezTo>
                  <a:lnTo>
                    <a:pt x="576" y="384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757" name="Freeform 40"/>
            <p:cNvSpPr>
              <a:spLocks/>
            </p:cNvSpPr>
            <p:nvPr/>
          </p:nvSpPr>
          <p:spPr bwMode="auto">
            <a:xfrm>
              <a:off x="1395" y="3587"/>
              <a:ext cx="372" cy="186"/>
            </a:xfrm>
            <a:custGeom>
              <a:avLst/>
              <a:gdLst>
                <a:gd name="T0" fmla="*/ 135 w 768"/>
                <a:gd name="T1" fmla="*/ 90 h 384"/>
                <a:gd name="T2" fmla="*/ 180 w 768"/>
                <a:gd name="T3" fmla="*/ 45 h 384"/>
                <a:gd name="T4" fmla="*/ 135 w 768"/>
                <a:gd name="T5" fmla="*/ 0 h 384"/>
                <a:gd name="T6" fmla="*/ 135 w 768"/>
                <a:gd name="T7" fmla="*/ 0 h 384"/>
                <a:gd name="T8" fmla="*/ 45 w 768"/>
                <a:gd name="T9" fmla="*/ 0 h 384"/>
                <a:gd name="T10" fmla="*/ 0 w 768"/>
                <a:gd name="T11" fmla="*/ 45 h 384"/>
                <a:gd name="T12" fmla="*/ 45 w 768"/>
                <a:gd name="T13" fmla="*/ 90 h 384"/>
                <a:gd name="T14" fmla="*/ 45 w 768"/>
                <a:gd name="T15" fmla="*/ 90 h 384"/>
                <a:gd name="T16" fmla="*/ 135 w 768"/>
                <a:gd name="T17" fmla="*/ 90 h 38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768"/>
                <a:gd name="T28" fmla="*/ 0 h 384"/>
                <a:gd name="T29" fmla="*/ 768 w 768"/>
                <a:gd name="T30" fmla="*/ 384 h 384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768" h="384">
                  <a:moveTo>
                    <a:pt x="576" y="384"/>
                  </a:moveTo>
                  <a:cubicBezTo>
                    <a:pt x="682" y="384"/>
                    <a:pt x="768" y="298"/>
                    <a:pt x="768" y="192"/>
                  </a:cubicBezTo>
                  <a:cubicBezTo>
                    <a:pt x="768" y="86"/>
                    <a:pt x="682" y="0"/>
                    <a:pt x="576" y="0"/>
                  </a:cubicBezTo>
                  <a:lnTo>
                    <a:pt x="192" y="0"/>
                  </a:lnTo>
                  <a:cubicBezTo>
                    <a:pt x="86" y="0"/>
                    <a:pt x="0" y="86"/>
                    <a:pt x="0" y="192"/>
                  </a:cubicBezTo>
                  <a:cubicBezTo>
                    <a:pt x="0" y="298"/>
                    <a:pt x="86" y="384"/>
                    <a:pt x="192" y="384"/>
                  </a:cubicBezTo>
                  <a:lnTo>
                    <a:pt x="576" y="384"/>
                  </a:lnTo>
                  <a:close/>
                </a:path>
              </a:pathLst>
            </a:custGeom>
            <a:noFill/>
            <a:ln w="11113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58" name="Rectangle 41"/>
            <p:cNvSpPr>
              <a:spLocks noChangeArrowheads="1"/>
            </p:cNvSpPr>
            <p:nvPr/>
          </p:nvSpPr>
          <p:spPr bwMode="auto">
            <a:xfrm>
              <a:off x="1461" y="3591"/>
              <a:ext cx="155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800">
                  <a:solidFill>
                    <a:srgbClr val="0000FF"/>
                  </a:solidFill>
                  <a:latin typeface="Arial" charset="0"/>
                </a:rPr>
                <a:t>1</a:t>
              </a:r>
              <a:endParaRPr lang="en-US"/>
            </a:p>
          </p:txBody>
        </p:sp>
        <p:sp>
          <p:nvSpPr>
            <p:cNvPr id="30759" name="Rectangle 42"/>
            <p:cNvSpPr>
              <a:spLocks noChangeArrowheads="1"/>
            </p:cNvSpPr>
            <p:nvPr/>
          </p:nvSpPr>
          <p:spPr bwMode="auto">
            <a:xfrm>
              <a:off x="1538" y="3591"/>
              <a:ext cx="155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800">
                  <a:solidFill>
                    <a:srgbClr val="0000FF"/>
                  </a:solidFill>
                  <a:latin typeface="Arial" charset="0"/>
                </a:rPr>
                <a:t>, </a:t>
              </a:r>
              <a:endParaRPr lang="en-US"/>
            </a:p>
          </p:txBody>
        </p:sp>
        <p:sp>
          <p:nvSpPr>
            <p:cNvPr id="30760" name="Rectangle 43"/>
            <p:cNvSpPr>
              <a:spLocks noChangeArrowheads="1"/>
            </p:cNvSpPr>
            <p:nvPr/>
          </p:nvSpPr>
          <p:spPr bwMode="auto">
            <a:xfrm>
              <a:off x="1623" y="3591"/>
              <a:ext cx="155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800">
                  <a:solidFill>
                    <a:srgbClr val="0000FF"/>
                  </a:solidFill>
                  <a:latin typeface="Arial" charset="0"/>
                </a:rPr>
                <a:t>1</a:t>
              </a:r>
              <a:endParaRPr lang="en-US"/>
            </a:p>
          </p:txBody>
        </p:sp>
        <p:sp>
          <p:nvSpPr>
            <p:cNvPr id="30761" name="Freeform 44"/>
            <p:cNvSpPr>
              <a:spLocks/>
            </p:cNvSpPr>
            <p:nvPr/>
          </p:nvSpPr>
          <p:spPr bwMode="auto">
            <a:xfrm>
              <a:off x="836" y="3587"/>
              <a:ext cx="373" cy="186"/>
            </a:xfrm>
            <a:custGeom>
              <a:avLst/>
              <a:gdLst>
                <a:gd name="T0" fmla="*/ 136 w 768"/>
                <a:gd name="T1" fmla="*/ 90 h 384"/>
                <a:gd name="T2" fmla="*/ 181 w 768"/>
                <a:gd name="T3" fmla="*/ 45 h 384"/>
                <a:gd name="T4" fmla="*/ 136 w 768"/>
                <a:gd name="T5" fmla="*/ 0 h 384"/>
                <a:gd name="T6" fmla="*/ 136 w 768"/>
                <a:gd name="T7" fmla="*/ 0 h 384"/>
                <a:gd name="T8" fmla="*/ 45 w 768"/>
                <a:gd name="T9" fmla="*/ 0 h 384"/>
                <a:gd name="T10" fmla="*/ 0 w 768"/>
                <a:gd name="T11" fmla="*/ 45 h 384"/>
                <a:gd name="T12" fmla="*/ 45 w 768"/>
                <a:gd name="T13" fmla="*/ 90 h 384"/>
                <a:gd name="T14" fmla="*/ 45 w 768"/>
                <a:gd name="T15" fmla="*/ 90 h 384"/>
                <a:gd name="T16" fmla="*/ 136 w 768"/>
                <a:gd name="T17" fmla="*/ 90 h 38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768"/>
                <a:gd name="T28" fmla="*/ 0 h 384"/>
                <a:gd name="T29" fmla="*/ 768 w 768"/>
                <a:gd name="T30" fmla="*/ 384 h 384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768" h="384">
                  <a:moveTo>
                    <a:pt x="576" y="384"/>
                  </a:moveTo>
                  <a:cubicBezTo>
                    <a:pt x="682" y="384"/>
                    <a:pt x="768" y="298"/>
                    <a:pt x="768" y="192"/>
                  </a:cubicBezTo>
                  <a:cubicBezTo>
                    <a:pt x="768" y="86"/>
                    <a:pt x="682" y="0"/>
                    <a:pt x="576" y="0"/>
                  </a:cubicBezTo>
                  <a:lnTo>
                    <a:pt x="192" y="0"/>
                  </a:lnTo>
                  <a:cubicBezTo>
                    <a:pt x="86" y="0"/>
                    <a:pt x="0" y="86"/>
                    <a:pt x="0" y="192"/>
                  </a:cubicBezTo>
                  <a:cubicBezTo>
                    <a:pt x="0" y="298"/>
                    <a:pt x="86" y="384"/>
                    <a:pt x="192" y="384"/>
                  </a:cubicBezTo>
                  <a:lnTo>
                    <a:pt x="576" y="384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762" name="Freeform 45"/>
            <p:cNvSpPr>
              <a:spLocks/>
            </p:cNvSpPr>
            <p:nvPr/>
          </p:nvSpPr>
          <p:spPr bwMode="auto">
            <a:xfrm>
              <a:off x="836" y="3587"/>
              <a:ext cx="373" cy="186"/>
            </a:xfrm>
            <a:custGeom>
              <a:avLst/>
              <a:gdLst>
                <a:gd name="T0" fmla="*/ 136 w 768"/>
                <a:gd name="T1" fmla="*/ 90 h 384"/>
                <a:gd name="T2" fmla="*/ 181 w 768"/>
                <a:gd name="T3" fmla="*/ 45 h 384"/>
                <a:gd name="T4" fmla="*/ 136 w 768"/>
                <a:gd name="T5" fmla="*/ 0 h 384"/>
                <a:gd name="T6" fmla="*/ 136 w 768"/>
                <a:gd name="T7" fmla="*/ 0 h 384"/>
                <a:gd name="T8" fmla="*/ 45 w 768"/>
                <a:gd name="T9" fmla="*/ 0 h 384"/>
                <a:gd name="T10" fmla="*/ 0 w 768"/>
                <a:gd name="T11" fmla="*/ 45 h 384"/>
                <a:gd name="T12" fmla="*/ 45 w 768"/>
                <a:gd name="T13" fmla="*/ 90 h 384"/>
                <a:gd name="T14" fmla="*/ 45 w 768"/>
                <a:gd name="T15" fmla="*/ 90 h 384"/>
                <a:gd name="T16" fmla="*/ 136 w 768"/>
                <a:gd name="T17" fmla="*/ 90 h 38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768"/>
                <a:gd name="T28" fmla="*/ 0 h 384"/>
                <a:gd name="T29" fmla="*/ 768 w 768"/>
                <a:gd name="T30" fmla="*/ 384 h 384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768" h="384">
                  <a:moveTo>
                    <a:pt x="576" y="384"/>
                  </a:moveTo>
                  <a:cubicBezTo>
                    <a:pt x="682" y="384"/>
                    <a:pt x="768" y="298"/>
                    <a:pt x="768" y="192"/>
                  </a:cubicBezTo>
                  <a:cubicBezTo>
                    <a:pt x="768" y="86"/>
                    <a:pt x="682" y="0"/>
                    <a:pt x="576" y="0"/>
                  </a:cubicBezTo>
                  <a:lnTo>
                    <a:pt x="192" y="0"/>
                  </a:lnTo>
                  <a:cubicBezTo>
                    <a:pt x="86" y="0"/>
                    <a:pt x="0" y="86"/>
                    <a:pt x="0" y="192"/>
                  </a:cubicBezTo>
                  <a:cubicBezTo>
                    <a:pt x="0" y="298"/>
                    <a:pt x="86" y="384"/>
                    <a:pt x="192" y="384"/>
                  </a:cubicBezTo>
                  <a:lnTo>
                    <a:pt x="576" y="384"/>
                  </a:lnTo>
                  <a:close/>
                </a:path>
              </a:pathLst>
            </a:custGeom>
            <a:noFill/>
            <a:ln w="11113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63" name="Rectangle 46"/>
            <p:cNvSpPr>
              <a:spLocks noChangeArrowheads="1"/>
            </p:cNvSpPr>
            <p:nvPr/>
          </p:nvSpPr>
          <p:spPr bwMode="auto">
            <a:xfrm>
              <a:off x="902" y="3591"/>
              <a:ext cx="155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800">
                  <a:solidFill>
                    <a:srgbClr val="0000FF"/>
                  </a:solidFill>
                  <a:latin typeface="Arial" charset="0"/>
                </a:rPr>
                <a:t>0</a:t>
              </a:r>
              <a:endParaRPr lang="en-US"/>
            </a:p>
          </p:txBody>
        </p:sp>
        <p:sp>
          <p:nvSpPr>
            <p:cNvPr id="30764" name="Rectangle 47"/>
            <p:cNvSpPr>
              <a:spLocks noChangeArrowheads="1"/>
            </p:cNvSpPr>
            <p:nvPr/>
          </p:nvSpPr>
          <p:spPr bwMode="auto">
            <a:xfrm>
              <a:off x="980" y="3591"/>
              <a:ext cx="155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800">
                  <a:solidFill>
                    <a:srgbClr val="0000FF"/>
                  </a:solidFill>
                  <a:latin typeface="Arial" charset="0"/>
                </a:rPr>
                <a:t>, </a:t>
              </a:r>
              <a:endParaRPr lang="en-US"/>
            </a:p>
          </p:txBody>
        </p:sp>
        <p:sp>
          <p:nvSpPr>
            <p:cNvPr id="30765" name="Rectangle 48"/>
            <p:cNvSpPr>
              <a:spLocks noChangeArrowheads="1"/>
            </p:cNvSpPr>
            <p:nvPr/>
          </p:nvSpPr>
          <p:spPr bwMode="auto">
            <a:xfrm>
              <a:off x="1065" y="3591"/>
              <a:ext cx="155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800">
                  <a:solidFill>
                    <a:srgbClr val="0000FF"/>
                  </a:solidFill>
                  <a:latin typeface="Arial" charset="0"/>
                </a:rPr>
                <a:t>1</a:t>
              </a:r>
              <a:endParaRPr lang="en-US"/>
            </a:p>
          </p:txBody>
        </p:sp>
        <p:sp>
          <p:nvSpPr>
            <p:cNvPr id="30766" name="Freeform 49"/>
            <p:cNvSpPr>
              <a:spLocks/>
            </p:cNvSpPr>
            <p:nvPr/>
          </p:nvSpPr>
          <p:spPr bwMode="auto">
            <a:xfrm>
              <a:off x="2794" y="2563"/>
              <a:ext cx="372" cy="187"/>
            </a:xfrm>
            <a:custGeom>
              <a:avLst/>
              <a:gdLst>
                <a:gd name="T0" fmla="*/ 135 w 768"/>
                <a:gd name="T1" fmla="*/ 91 h 384"/>
                <a:gd name="T2" fmla="*/ 180 w 768"/>
                <a:gd name="T3" fmla="*/ 46 h 384"/>
                <a:gd name="T4" fmla="*/ 135 w 768"/>
                <a:gd name="T5" fmla="*/ 0 h 384"/>
                <a:gd name="T6" fmla="*/ 135 w 768"/>
                <a:gd name="T7" fmla="*/ 0 h 384"/>
                <a:gd name="T8" fmla="*/ 45 w 768"/>
                <a:gd name="T9" fmla="*/ 0 h 384"/>
                <a:gd name="T10" fmla="*/ 0 w 768"/>
                <a:gd name="T11" fmla="*/ 46 h 384"/>
                <a:gd name="T12" fmla="*/ 45 w 768"/>
                <a:gd name="T13" fmla="*/ 91 h 384"/>
                <a:gd name="T14" fmla="*/ 135 w 768"/>
                <a:gd name="T15" fmla="*/ 91 h 38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768"/>
                <a:gd name="T25" fmla="*/ 0 h 384"/>
                <a:gd name="T26" fmla="*/ 768 w 768"/>
                <a:gd name="T27" fmla="*/ 384 h 384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768" h="384">
                  <a:moveTo>
                    <a:pt x="576" y="384"/>
                  </a:moveTo>
                  <a:cubicBezTo>
                    <a:pt x="682" y="384"/>
                    <a:pt x="768" y="298"/>
                    <a:pt x="768" y="192"/>
                  </a:cubicBezTo>
                  <a:cubicBezTo>
                    <a:pt x="768" y="86"/>
                    <a:pt x="682" y="0"/>
                    <a:pt x="576" y="0"/>
                  </a:cubicBezTo>
                  <a:lnTo>
                    <a:pt x="192" y="0"/>
                  </a:lnTo>
                  <a:cubicBezTo>
                    <a:pt x="86" y="0"/>
                    <a:pt x="0" y="86"/>
                    <a:pt x="0" y="192"/>
                  </a:cubicBezTo>
                  <a:cubicBezTo>
                    <a:pt x="0" y="298"/>
                    <a:pt x="86" y="384"/>
                    <a:pt x="192" y="384"/>
                  </a:cubicBezTo>
                  <a:lnTo>
                    <a:pt x="576" y="384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767" name="Freeform 50"/>
            <p:cNvSpPr>
              <a:spLocks/>
            </p:cNvSpPr>
            <p:nvPr/>
          </p:nvSpPr>
          <p:spPr bwMode="auto">
            <a:xfrm>
              <a:off x="2794" y="2563"/>
              <a:ext cx="372" cy="187"/>
            </a:xfrm>
            <a:custGeom>
              <a:avLst/>
              <a:gdLst>
                <a:gd name="T0" fmla="*/ 135 w 768"/>
                <a:gd name="T1" fmla="*/ 91 h 384"/>
                <a:gd name="T2" fmla="*/ 180 w 768"/>
                <a:gd name="T3" fmla="*/ 46 h 384"/>
                <a:gd name="T4" fmla="*/ 135 w 768"/>
                <a:gd name="T5" fmla="*/ 0 h 384"/>
                <a:gd name="T6" fmla="*/ 135 w 768"/>
                <a:gd name="T7" fmla="*/ 0 h 384"/>
                <a:gd name="T8" fmla="*/ 45 w 768"/>
                <a:gd name="T9" fmla="*/ 0 h 384"/>
                <a:gd name="T10" fmla="*/ 0 w 768"/>
                <a:gd name="T11" fmla="*/ 46 h 384"/>
                <a:gd name="T12" fmla="*/ 45 w 768"/>
                <a:gd name="T13" fmla="*/ 91 h 384"/>
                <a:gd name="T14" fmla="*/ 135 w 768"/>
                <a:gd name="T15" fmla="*/ 91 h 38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768"/>
                <a:gd name="T25" fmla="*/ 0 h 384"/>
                <a:gd name="T26" fmla="*/ 768 w 768"/>
                <a:gd name="T27" fmla="*/ 384 h 384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768" h="384">
                  <a:moveTo>
                    <a:pt x="576" y="384"/>
                  </a:moveTo>
                  <a:cubicBezTo>
                    <a:pt x="682" y="384"/>
                    <a:pt x="768" y="298"/>
                    <a:pt x="768" y="192"/>
                  </a:cubicBezTo>
                  <a:cubicBezTo>
                    <a:pt x="768" y="86"/>
                    <a:pt x="682" y="0"/>
                    <a:pt x="576" y="0"/>
                  </a:cubicBezTo>
                  <a:lnTo>
                    <a:pt x="192" y="0"/>
                  </a:lnTo>
                  <a:cubicBezTo>
                    <a:pt x="86" y="0"/>
                    <a:pt x="0" y="86"/>
                    <a:pt x="0" y="192"/>
                  </a:cubicBezTo>
                  <a:cubicBezTo>
                    <a:pt x="0" y="298"/>
                    <a:pt x="86" y="384"/>
                    <a:pt x="192" y="384"/>
                  </a:cubicBezTo>
                  <a:lnTo>
                    <a:pt x="576" y="384"/>
                  </a:lnTo>
                  <a:close/>
                </a:path>
              </a:pathLst>
            </a:custGeom>
            <a:noFill/>
            <a:ln w="11113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68" name="Rectangle 51"/>
            <p:cNvSpPr>
              <a:spLocks noChangeArrowheads="1"/>
            </p:cNvSpPr>
            <p:nvPr/>
          </p:nvSpPr>
          <p:spPr bwMode="auto">
            <a:xfrm>
              <a:off x="2856" y="2567"/>
              <a:ext cx="155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800" dirty="0">
                  <a:solidFill>
                    <a:srgbClr val="0000FF"/>
                  </a:solidFill>
                  <a:latin typeface="Arial" charset="0"/>
                </a:rPr>
                <a:t>0</a:t>
              </a:r>
              <a:endParaRPr lang="en-US" dirty="0"/>
            </a:p>
          </p:txBody>
        </p:sp>
        <p:sp>
          <p:nvSpPr>
            <p:cNvPr id="30769" name="Rectangle 52"/>
            <p:cNvSpPr>
              <a:spLocks noChangeArrowheads="1"/>
            </p:cNvSpPr>
            <p:nvPr/>
          </p:nvSpPr>
          <p:spPr bwMode="auto">
            <a:xfrm>
              <a:off x="2941" y="2567"/>
              <a:ext cx="155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800">
                  <a:solidFill>
                    <a:srgbClr val="0000FF"/>
                  </a:solidFill>
                  <a:latin typeface="Arial" charset="0"/>
                </a:rPr>
                <a:t>, </a:t>
              </a:r>
              <a:endParaRPr lang="en-US"/>
            </a:p>
          </p:txBody>
        </p:sp>
        <p:sp>
          <p:nvSpPr>
            <p:cNvPr id="30770" name="Rectangle 53"/>
            <p:cNvSpPr>
              <a:spLocks noChangeArrowheads="1"/>
            </p:cNvSpPr>
            <p:nvPr/>
          </p:nvSpPr>
          <p:spPr bwMode="auto">
            <a:xfrm>
              <a:off x="3019" y="2567"/>
              <a:ext cx="155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800">
                  <a:solidFill>
                    <a:srgbClr val="0000FF"/>
                  </a:solidFill>
                  <a:latin typeface="Arial" charset="0"/>
                </a:rPr>
                <a:t>8</a:t>
              </a:r>
              <a:endParaRPr lang="en-US"/>
            </a:p>
          </p:txBody>
        </p:sp>
        <p:sp>
          <p:nvSpPr>
            <p:cNvPr id="30771" name="Freeform 54"/>
            <p:cNvSpPr>
              <a:spLocks/>
            </p:cNvSpPr>
            <p:nvPr/>
          </p:nvSpPr>
          <p:spPr bwMode="auto">
            <a:xfrm>
              <a:off x="1116" y="3215"/>
              <a:ext cx="372" cy="186"/>
            </a:xfrm>
            <a:custGeom>
              <a:avLst/>
              <a:gdLst>
                <a:gd name="T0" fmla="*/ 135 w 768"/>
                <a:gd name="T1" fmla="*/ 90 h 384"/>
                <a:gd name="T2" fmla="*/ 180 w 768"/>
                <a:gd name="T3" fmla="*/ 45 h 384"/>
                <a:gd name="T4" fmla="*/ 135 w 768"/>
                <a:gd name="T5" fmla="*/ 0 h 384"/>
                <a:gd name="T6" fmla="*/ 135 w 768"/>
                <a:gd name="T7" fmla="*/ 0 h 384"/>
                <a:gd name="T8" fmla="*/ 45 w 768"/>
                <a:gd name="T9" fmla="*/ 0 h 384"/>
                <a:gd name="T10" fmla="*/ 0 w 768"/>
                <a:gd name="T11" fmla="*/ 45 h 384"/>
                <a:gd name="T12" fmla="*/ 45 w 768"/>
                <a:gd name="T13" fmla="*/ 90 h 384"/>
                <a:gd name="T14" fmla="*/ 45 w 768"/>
                <a:gd name="T15" fmla="*/ 90 h 384"/>
                <a:gd name="T16" fmla="*/ 135 w 768"/>
                <a:gd name="T17" fmla="*/ 90 h 38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768"/>
                <a:gd name="T28" fmla="*/ 0 h 384"/>
                <a:gd name="T29" fmla="*/ 768 w 768"/>
                <a:gd name="T30" fmla="*/ 384 h 384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768" h="384">
                  <a:moveTo>
                    <a:pt x="576" y="384"/>
                  </a:moveTo>
                  <a:cubicBezTo>
                    <a:pt x="682" y="384"/>
                    <a:pt x="768" y="298"/>
                    <a:pt x="768" y="192"/>
                  </a:cubicBezTo>
                  <a:cubicBezTo>
                    <a:pt x="768" y="86"/>
                    <a:pt x="682" y="0"/>
                    <a:pt x="576" y="0"/>
                  </a:cubicBezTo>
                  <a:lnTo>
                    <a:pt x="192" y="0"/>
                  </a:lnTo>
                  <a:cubicBezTo>
                    <a:pt x="86" y="0"/>
                    <a:pt x="0" y="86"/>
                    <a:pt x="0" y="192"/>
                  </a:cubicBezTo>
                  <a:cubicBezTo>
                    <a:pt x="0" y="298"/>
                    <a:pt x="86" y="384"/>
                    <a:pt x="192" y="384"/>
                  </a:cubicBezTo>
                  <a:lnTo>
                    <a:pt x="576" y="384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772" name="Freeform 55"/>
            <p:cNvSpPr>
              <a:spLocks/>
            </p:cNvSpPr>
            <p:nvPr/>
          </p:nvSpPr>
          <p:spPr bwMode="auto">
            <a:xfrm>
              <a:off x="1116" y="3215"/>
              <a:ext cx="372" cy="186"/>
            </a:xfrm>
            <a:custGeom>
              <a:avLst/>
              <a:gdLst>
                <a:gd name="T0" fmla="*/ 135 w 768"/>
                <a:gd name="T1" fmla="*/ 90 h 384"/>
                <a:gd name="T2" fmla="*/ 180 w 768"/>
                <a:gd name="T3" fmla="*/ 45 h 384"/>
                <a:gd name="T4" fmla="*/ 135 w 768"/>
                <a:gd name="T5" fmla="*/ 0 h 384"/>
                <a:gd name="T6" fmla="*/ 135 w 768"/>
                <a:gd name="T7" fmla="*/ 0 h 384"/>
                <a:gd name="T8" fmla="*/ 45 w 768"/>
                <a:gd name="T9" fmla="*/ 0 h 384"/>
                <a:gd name="T10" fmla="*/ 0 w 768"/>
                <a:gd name="T11" fmla="*/ 45 h 384"/>
                <a:gd name="T12" fmla="*/ 45 w 768"/>
                <a:gd name="T13" fmla="*/ 90 h 384"/>
                <a:gd name="T14" fmla="*/ 45 w 768"/>
                <a:gd name="T15" fmla="*/ 90 h 384"/>
                <a:gd name="T16" fmla="*/ 135 w 768"/>
                <a:gd name="T17" fmla="*/ 90 h 38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768"/>
                <a:gd name="T28" fmla="*/ 0 h 384"/>
                <a:gd name="T29" fmla="*/ 768 w 768"/>
                <a:gd name="T30" fmla="*/ 384 h 384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768" h="384">
                  <a:moveTo>
                    <a:pt x="576" y="384"/>
                  </a:moveTo>
                  <a:cubicBezTo>
                    <a:pt x="682" y="384"/>
                    <a:pt x="768" y="298"/>
                    <a:pt x="768" y="192"/>
                  </a:cubicBezTo>
                  <a:cubicBezTo>
                    <a:pt x="768" y="86"/>
                    <a:pt x="682" y="0"/>
                    <a:pt x="576" y="0"/>
                  </a:cubicBezTo>
                  <a:lnTo>
                    <a:pt x="192" y="0"/>
                  </a:lnTo>
                  <a:cubicBezTo>
                    <a:pt x="86" y="0"/>
                    <a:pt x="0" y="86"/>
                    <a:pt x="0" y="192"/>
                  </a:cubicBezTo>
                  <a:cubicBezTo>
                    <a:pt x="0" y="298"/>
                    <a:pt x="86" y="384"/>
                    <a:pt x="192" y="384"/>
                  </a:cubicBezTo>
                  <a:lnTo>
                    <a:pt x="576" y="384"/>
                  </a:lnTo>
                  <a:close/>
                </a:path>
              </a:pathLst>
            </a:custGeom>
            <a:noFill/>
            <a:ln w="11113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73" name="Rectangle 56"/>
            <p:cNvSpPr>
              <a:spLocks noChangeArrowheads="1"/>
            </p:cNvSpPr>
            <p:nvPr/>
          </p:nvSpPr>
          <p:spPr bwMode="auto">
            <a:xfrm>
              <a:off x="1181" y="3219"/>
              <a:ext cx="155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800">
                  <a:solidFill>
                    <a:srgbClr val="0000FF"/>
                  </a:solidFill>
                  <a:latin typeface="Arial" charset="0"/>
                </a:rPr>
                <a:t>0</a:t>
              </a:r>
              <a:endParaRPr lang="en-US"/>
            </a:p>
          </p:txBody>
        </p:sp>
        <p:sp>
          <p:nvSpPr>
            <p:cNvPr id="30774" name="Rectangle 57"/>
            <p:cNvSpPr>
              <a:spLocks noChangeArrowheads="1"/>
            </p:cNvSpPr>
            <p:nvPr/>
          </p:nvSpPr>
          <p:spPr bwMode="auto">
            <a:xfrm>
              <a:off x="1259" y="3219"/>
              <a:ext cx="155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800">
                  <a:solidFill>
                    <a:srgbClr val="0000FF"/>
                  </a:solidFill>
                  <a:latin typeface="Arial" charset="0"/>
                </a:rPr>
                <a:t>, </a:t>
              </a:r>
              <a:endParaRPr lang="en-US"/>
            </a:p>
          </p:txBody>
        </p:sp>
        <p:sp>
          <p:nvSpPr>
            <p:cNvPr id="30775" name="Rectangle 58"/>
            <p:cNvSpPr>
              <a:spLocks noChangeArrowheads="1"/>
            </p:cNvSpPr>
            <p:nvPr/>
          </p:nvSpPr>
          <p:spPr bwMode="auto">
            <a:xfrm>
              <a:off x="1344" y="3219"/>
              <a:ext cx="155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800">
                  <a:solidFill>
                    <a:srgbClr val="0000FF"/>
                  </a:solidFill>
                  <a:latin typeface="Arial" charset="0"/>
                </a:rPr>
                <a:t>2</a:t>
              </a:r>
              <a:endParaRPr lang="en-US"/>
            </a:p>
          </p:txBody>
        </p:sp>
        <p:sp>
          <p:nvSpPr>
            <p:cNvPr id="30776" name="Line 59"/>
            <p:cNvSpPr>
              <a:spLocks noChangeShapeType="1"/>
            </p:cNvSpPr>
            <p:nvPr/>
          </p:nvSpPr>
          <p:spPr bwMode="auto">
            <a:xfrm flipV="1">
              <a:off x="2216" y="3401"/>
              <a:ext cx="202" cy="135"/>
            </a:xfrm>
            <a:prstGeom prst="line">
              <a:avLst/>
            </a:prstGeom>
            <a:noFill/>
            <a:ln w="11113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77" name="Freeform 60"/>
            <p:cNvSpPr>
              <a:spLocks/>
            </p:cNvSpPr>
            <p:nvPr/>
          </p:nvSpPr>
          <p:spPr bwMode="auto">
            <a:xfrm>
              <a:off x="2139" y="3503"/>
              <a:ext cx="102" cy="84"/>
            </a:xfrm>
            <a:custGeom>
              <a:avLst/>
              <a:gdLst>
                <a:gd name="T0" fmla="*/ 102 w 102"/>
                <a:gd name="T1" fmla="*/ 56 h 84"/>
                <a:gd name="T2" fmla="*/ 0 w 102"/>
                <a:gd name="T3" fmla="*/ 84 h 84"/>
                <a:gd name="T4" fmla="*/ 65 w 102"/>
                <a:gd name="T5" fmla="*/ 0 h 84"/>
                <a:gd name="T6" fmla="*/ 102 w 102"/>
                <a:gd name="T7" fmla="*/ 56 h 8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2"/>
                <a:gd name="T13" fmla="*/ 0 h 84"/>
                <a:gd name="T14" fmla="*/ 102 w 102"/>
                <a:gd name="T15" fmla="*/ 84 h 8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2" h="84">
                  <a:moveTo>
                    <a:pt x="102" y="56"/>
                  </a:moveTo>
                  <a:lnTo>
                    <a:pt x="0" y="84"/>
                  </a:lnTo>
                  <a:lnTo>
                    <a:pt x="65" y="0"/>
                  </a:lnTo>
                  <a:lnTo>
                    <a:pt x="102" y="5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78" name="Line 61"/>
            <p:cNvSpPr>
              <a:spLocks noChangeShapeType="1"/>
            </p:cNvSpPr>
            <p:nvPr/>
          </p:nvSpPr>
          <p:spPr bwMode="auto">
            <a:xfrm>
              <a:off x="1302" y="3401"/>
              <a:ext cx="202" cy="135"/>
            </a:xfrm>
            <a:prstGeom prst="line">
              <a:avLst/>
            </a:prstGeom>
            <a:noFill/>
            <a:ln w="11113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79" name="Freeform 62"/>
            <p:cNvSpPr>
              <a:spLocks/>
            </p:cNvSpPr>
            <p:nvPr/>
          </p:nvSpPr>
          <p:spPr bwMode="auto">
            <a:xfrm>
              <a:off x="1478" y="3503"/>
              <a:ext cx="103" cy="84"/>
            </a:xfrm>
            <a:custGeom>
              <a:avLst/>
              <a:gdLst>
                <a:gd name="T0" fmla="*/ 38 w 103"/>
                <a:gd name="T1" fmla="*/ 0 h 84"/>
                <a:gd name="T2" fmla="*/ 103 w 103"/>
                <a:gd name="T3" fmla="*/ 84 h 84"/>
                <a:gd name="T4" fmla="*/ 0 w 103"/>
                <a:gd name="T5" fmla="*/ 56 h 84"/>
                <a:gd name="T6" fmla="*/ 38 w 103"/>
                <a:gd name="T7" fmla="*/ 0 h 8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3"/>
                <a:gd name="T13" fmla="*/ 0 h 84"/>
                <a:gd name="T14" fmla="*/ 103 w 103"/>
                <a:gd name="T15" fmla="*/ 84 h 8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3" h="84">
                  <a:moveTo>
                    <a:pt x="38" y="0"/>
                  </a:moveTo>
                  <a:lnTo>
                    <a:pt x="103" y="84"/>
                  </a:lnTo>
                  <a:lnTo>
                    <a:pt x="0" y="56"/>
                  </a:lnTo>
                  <a:lnTo>
                    <a:pt x="3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80" name="Line 63"/>
            <p:cNvSpPr>
              <a:spLocks noChangeShapeType="1"/>
            </p:cNvSpPr>
            <p:nvPr/>
          </p:nvSpPr>
          <p:spPr bwMode="auto">
            <a:xfrm flipV="1">
              <a:off x="1099" y="3401"/>
              <a:ext cx="203" cy="135"/>
            </a:xfrm>
            <a:prstGeom prst="line">
              <a:avLst/>
            </a:prstGeom>
            <a:noFill/>
            <a:ln w="11113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81" name="Freeform 64"/>
            <p:cNvSpPr>
              <a:spLocks/>
            </p:cNvSpPr>
            <p:nvPr/>
          </p:nvSpPr>
          <p:spPr bwMode="auto">
            <a:xfrm>
              <a:off x="1022" y="3503"/>
              <a:ext cx="103" cy="84"/>
            </a:xfrm>
            <a:custGeom>
              <a:avLst/>
              <a:gdLst>
                <a:gd name="T0" fmla="*/ 103 w 103"/>
                <a:gd name="T1" fmla="*/ 56 h 84"/>
                <a:gd name="T2" fmla="*/ 0 w 103"/>
                <a:gd name="T3" fmla="*/ 84 h 84"/>
                <a:gd name="T4" fmla="*/ 65 w 103"/>
                <a:gd name="T5" fmla="*/ 0 h 84"/>
                <a:gd name="T6" fmla="*/ 103 w 103"/>
                <a:gd name="T7" fmla="*/ 56 h 8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3"/>
                <a:gd name="T13" fmla="*/ 0 h 84"/>
                <a:gd name="T14" fmla="*/ 103 w 103"/>
                <a:gd name="T15" fmla="*/ 84 h 8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3" h="84">
                  <a:moveTo>
                    <a:pt x="103" y="56"/>
                  </a:moveTo>
                  <a:lnTo>
                    <a:pt x="0" y="84"/>
                  </a:lnTo>
                  <a:lnTo>
                    <a:pt x="65" y="0"/>
                  </a:lnTo>
                  <a:lnTo>
                    <a:pt x="103" y="5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82" name="Line 65"/>
            <p:cNvSpPr>
              <a:spLocks noChangeShapeType="1"/>
            </p:cNvSpPr>
            <p:nvPr/>
          </p:nvSpPr>
          <p:spPr bwMode="auto">
            <a:xfrm flipV="1">
              <a:off x="1534" y="3122"/>
              <a:ext cx="326" cy="84"/>
            </a:xfrm>
            <a:prstGeom prst="line">
              <a:avLst/>
            </a:prstGeom>
            <a:noFill/>
            <a:ln w="11113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83" name="Freeform 66"/>
            <p:cNvSpPr>
              <a:spLocks/>
            </p:cNvSpPr>
            <p:nvPr/>
          </p:nvSpPr>
          <p:spPr bwMode="auto">
            <a:xfrm>
              <a:off x="1445" y="3172"/>
              <a:ext cx="105" cy="65"/>
            </a:xfrm>
            <a:custGeom>
              <a:avLst/>
              <a:gdLst>
                <a:gd name="T0" fmla="*/ 105 w 105"/>
                <a:gd name="T1" fmla="*/ 65 h 65"/>
                <a:gd name="T2" fmla="*/ 0 w 105"/>
                <a:gd name="T3" fmla="*/ 57 h 65"/>
                <a:gd name="T4" fmla="*/ 88 w 105"/>
                <a:gd name="T5" fmla="*/ 0 h 65"/>
                <a:gd name="T6" fmla="*/ 105 w 105"/>
                <a:gd name="T7" fmla="*/ 65 h 6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5"/>
                <a:gd name="T13" fmla="*/ 0 h 65"/>
                <a:gd name="T14" fmla="*/ 105 w 105"/>
                <a:gd name="T15" fmla="*/ 65 h 6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5" h="65">
                  <a:moveTo>
                    <a:pt x="105" y="65"/>
                  </a:moveTo>
                  <a:lnTo>
                    <a:pt x="0" y="57"/>
                  </a:lnTo>
                  <a:lnTo>
                    <a:pt x="88" y="0"/>
                  </a:lnTo>
                  <a:lnTo>
                    <a:pt x="105" y="6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84" name="Freeform 67"/>
            <p:cNvSpPr>
              <a:spLocks/>
            </p:cNvSpPr>
            <p:nvPr/>
          </p:nvSpPr>
          <p:spPr bwMode="auto">
            <a:xfrm>
              <a:off x="4744" y="3587"/>
              <a:ext cx="372" cy="186"/>
            </a:xfrm>
            <a:custGeom>
              <a:avLst/>
              <a:gdLst>
                <a:gd name="T0" fmla="*/ 135 w 768"/>
                <a:gd name="T1" fmla="*/ 90 h 384"/>
                <a:gd name="T2" fmla="*/ 180 w 768"/>
                <a:gd name="T3" fmla="*/ 45 h 384"/>
                <a:gd name="T4" fmla="*/ 135 w 768"/>
                <a:gd name="T5" fmla="*/ 0 h 384"/>
                <a:gd name="T6" fmla="*/ 45 w 768"/>
                <a:gd name="T7" fmla="*/ 0 h 384"/>
                <a:gd name="T8" fmla="*/ 0 w 768"/>
                <a:gd name="T9" fmla="*/ 45 h 384"/>
                <a:gd name="T10" fmla="*/ 45 w 768"/>
                <a:gd name="T11" fmla="*/ 90 h 384"/>
                <a:gd name="T12" fmla="*/ 45 w 768"/>
                <a:gd name="T13" fmla="*/ 90 h 384"/>
                <a:gd name="T14" fmla="*/ 135 w 768"/>
                <a:gd name="T15" fmla="*/ 90 h 38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768"/>
                <a:gd name="T25" fmla="*/ 0 h 384"/>
                <a:gd name="T26" fmla="*/ 768 w 768"/>
                <a:gd name="T27" fmla="*/ 384 h 384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768" h="384">
                  <a:moveTo>
                    <a:pt x="576" y="384"/>
                  </a:moveTo>
                  <a:cubicBezTo>
                    <a:pt x="682" y="384"/>
                    <a:pt x="768" y="298"/>
                    <a:pt x="768" y="192"/>
                  </a:cubicBezTo>
                  <a:cubicBezTo>
                    <a:pt x="768" y="86"/>
                    <a:pt x="682" y="0"/>
                    <a:pt x="576" y="0"/>
                  </a:cubicBezTo>
                  <a:lnTo>
                    <a:pt x="192" y="0"/>
                  </a:lnTo>
                  <a:cubicBezTo>
                    <a:pt x="86" y="0"/>
                    <a:pt x="0" y="86"/>
                    <a:pt x="0" y="192"/>
                  </a:cubicBezTo>
                  <a:cubicBezTo>
                    <a:pt x="0" y="298"/>
                    <a:pt x="86" y="384"/>
                    <a:pt x="192" y="384"/>
                  </a:cubicBezTo>
                  <a:lnTo>
                    <a:pt x="576" y="384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785" name="Freeform 68"/>
            <p:cNvSpPr>
              <a:spLocks/>
            </p:cNvSpPr>
            <p:nvPr/>
          </p:nvSpPr>
          <p:spPr bwMode="auto">
            <a:xfrm>
              <a:off x="4744" y="3587"/>
              <a:ext cx="372" cy="186"/>
            </a:xfrm>
            <a:custGeom>
              <a:avLst/>
              <a:gdLst>
                <a:gd name="T0" fmla="*/ 135 w 768"/>
                <a:gd name="T1" fmla="*/ 90 h 384"/>
                <a:gd name="T2" fmla="*/ 180 w 768"/>
                <a:gd name="T3" fmla="*/ 45 h 384"/>
                <a:gd name="T4" fmla="*/ 135 w 768"/>
                <a:gd name="T5" fmla="*/ 0 h 384"/>
                <a:gd name="T6" fmla="*/ 45 w 768"/>
                <a:gd name="T7" fmla="*/ 0 h 384"/>
                <a:gd name="T8" fmla="*/ 0 w 768"/>
                <a:gd name="T9" fmla="*/ 45 h 384"/>
                <a:gd name="T10" fmla="*/ 45 w 768"/>
                <a:gd name="T11" fmla="*/ 90 h 384"/>
                <a:gd name="T12" fmla="*/ 45 w 768"/>
                <a:gd name="T13" fmla="*/ 90 h 384"/>
                <a:gd name="T14" fmla="*/ 135 w 768"/>
                <a:gd name="T15" fmla="*/ 90 h 38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768"/>
                <a:gd name="T25" fmla="*/ 0 h 384"/>
                <a:gd name="T26" fmla="*/ 768 w 768"/>
                <a:gd name="T27" fmla="*/ 384 h 384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768" h="384">
                  <a:moveTo>
                    <a:pt x="576" y="384"/>
                  </a:moveTo>
                  <a:cubicBezTo>
                    <a:pt x="682" y="384"/>
                    <a:pt x="768" y="298"/>
                    <a:pt x="768" y="192"/>
                  </a:cubicBezTo>
                  <a:cubicBezTo>
                    <a:pt x="768" y="86"/>
                    <a:pt x="682" y="0"/>
                    <a:pt x="576" y="0"/>
                  </a:cubicBezTo>
                  <a:lnTo>
                    <a:pt x="192" y="0"/>
                  </a:lnTo>
                  <a:cubicBezTo>
                    <a:pt x="86" y="0"/>
                    <a:pt x="0" y="86"/>
                    <a:pt x="0" y="192"/>
                  </a:cubicBezTo>
                  <a:cubicBezTo>
                    <a:pt x="0" y="298"/>
                    <a:pt x="86" y="384"/>
                    <a:pt x="192" y="384"/>
                  </a:cubicBezTo>
                  <a:lnTo>
                    <a:pt x="576" y="384"/>
                  </a:lnTo>
                  <a:close/>
                </a:path>
              </a:pathLst>
            </a:custGeom>
            <a:noFill/>
            <a:ln w="11113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86" name="Rectangle 69"/>
            <p:cNvSpPr>
              <a:spLocks noChangeArrowheads="1"/>
            </p:cNvSpPr>
            <p:nvPr/>
          </p:nvSpPr>
          <p:spPr bwMode="auto">
            <a:xfrm>
              <a:off x="4810" y="3591"/>
              <a:ext cx="155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800">
                  <a:solidFill>
                    <a:srgbClr val="0000FF"/>
                  </a:solidFill>
                  <a:latin typeface="Arial" charset="0"/>
                </a:rPr>
                <a:t>7</a:t>
              </a:r>
              <a:endParaRPr lang="en-US"/>
            </a:p>
          </p:txBody>
        </p:sp>
        <p:sp>
          <p:nvSpPr>
            <p:cNvPr id="30787" name="Rectangle 70"/>
            <p:cNvSpPr>
              <a:spLocks noChangeArrowheads="1"/>
            </p:cNvSpPr>
            <p:nvPr/>
          </p:nvSpPr>
          <p:spPr bwMode="auto">
            <a:xfrm>
              <a:off x="4887" y="3591"/>
              <a:ext cx="155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800">
                  <a:solidFill>
                    <a:srgbClr val="0000FF"/>
                  </a:solidFill>
                  <a:latin typeface="Arial" charset="0"/>
                </a:rPr>
                <a:t>, </a:t>
              </a:r>
              <a:endParaRPr lang="en-US"/>
            </a:p>
          </p:txBody>
        </p:sp>
        <p:sp>
          <p:nvSpPr>
            <p:cNvPr id="30788" name="Rectangle 71"/>
            <p:cNvSpPr>
              <a:spLocks noChangeArrowheads="1"/>
            </p:cNvSpPr>
            <p:nvPr/>
          </p:nvSpPr>
          <p:spPr bwMode="auto">
            <a:xfrm>
              <a:off x="4973" y="3591"/>
              <a:ext cx="155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800">
                  <a:solidFill>
                    <a:srgbClr val="0000FF"/>
                  </a:solidFill>
                  <a:latin typeface="Arial" charset="0"/>
                </a:rPr>
                <a:t>1</a:t>
              </a:r>
              <a:endParaRPr lang="en-US"/>
            </a:p>
          </p:txBody>
        </p:sp>
        <p:sp>
          <p:nvSpPr>
            <p:cNvPr id="30789" name="Freeform 72"/>
            <p:cNvSpPr>
              <a:spLocks/>
            </p:cNvSpPr>
            <p:nvPr/>
          </p:nvSpPr>
          <p:spPr bwMode="auto">
            <a:xfrm>
              <a:off x="4465" y="3215"/>
              <a:ext cx="372" cy="186"/>
            </a:xfrm>
            <a:custGeom>
              <a:avLst/>
              <a:gdLst>
                <a:gd name="T0" fmla="*/ 135 w 768"/>
                <a:gd name="T1" fmla="*/ 90 h 384"/>
                <a:gd name="T2" fmla="*/ 180 w 768"/>
                <a:gd name="T3" fmla="*/ 45 h 384"/>
                <a:gd name="T4" fmla="*/ 135 w 768"/>
                <a:gd name="T5" fmla="*/ 0 h 384"/>
                <a:gd name="T6" fmla="*/ 45 w 768"/>
                <a:gd name="T7" fmla="*/ 0 h 384"/>
                <a:gd name="T8" fmla="*/ 0 w 768"/>
                <a:gd name="T9" fmla="*/ 45 h 384"/>
                <a:gd name="T10" fmla="*/ 45 w 768"/>
                <a:gd name="T11" fmla="*/ 90 h 384"/>
                <a:gd name="T12" fmla="*/ 135 w 768"/>
                <a:gd name="T13" fmla="*/ 90 h 38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768"/>
                <a:gd name="T22" fmla="*/ 0 h 384"/>
                <a:gd name="T23" fmla="*/ 768 w 768"/>
                <a:gd name="T24" fmla="*/ 384 h 38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768" h="384">
                  <a:moveTo>
                    <a:pt x="576" y="384"/>
                  </a:moveTo>
                  <a:cubicBezTo>
                    <a:pt x="682" y="384"/>
                    <a:pt x="768" y="298"/>
                    <a:pt x="768" y="192"/>
                  </a:cubicBezTo>
                  <a:cubicBezTo>
                    <a:pt x="768" y="86"/>
                    <a:pt x="682" y="0"/>
                    <a:pt x="576" y="0"/>
                  </a:cubicBezTo>
                  <a:lnTo>
                    <a:pt x="192" y="0"/>
                  </a:lnTo>
                  <a:cubicBezTo>
                    <a:pt x="86" y="0"/>
                    <a:pt x="0" y="86"/>
                    <a:pt x="0" y="192"/>
                  </a:cubicBezTo>
                  <a:cubicBezTo>
                    <a:pt x="0" y="298"/>
                    <a:pt x="86" y="384"/>
                    <a:pt x="192" y="384"/>
                  </a:cubicBezTo>
                  <a:lnTo>
                    <a:pt x="576" y="384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790" name="Freeform 73"/>
            <p:cNvSpPr>
              <a:spLocks/>
            </p:cNvSpPr>
            <p:nvPr/>
          </p:nvSpPr>
          <p:spPr bwMode="auto">
            <a:xfrm>
              <a:off x="4465" y="3215"/>
              <a:ext cx="372" cy="186"/>
            </a:xfrm>
            <a:custGeom>
              <a:avLst/>
              <a:gdLst>
                <a:gd name="T0" fmla="*/ 135 w 768"/>
                <a:gd name="T1" fmla="*/ 90 h 384"/>
                <a:gd name="T2" fmla="*/ 180 w 768"/>
                <a:gd name="T3" fmla="*/ 45 h 384"/>
                <a:gd name="T4" fmla="*/ 135 w 768"/>
                <a:gd name="T5" fmla="*/ 0 h 384"/>
                <a:gd name="T6" fmla="*/ 45 w 768"/>
                <a:gd name="T7" fmla="*/ 0 h 384"/>
                <a:gd name="T8" fmla="*/ 0 w 768"/>
                <a:gd name="T9" fmla="*/ 45 h 384"/>
                <a:gd name="T10" fmla="*/ 45 w 768"/>
                <a:gd name="T11" fmla="*/ 90 h 384"/>
                <a:gd name="T12" fmla="*/ 135 w 768"/>
                <a:gd name="T13" fmla="*/ 90 h 38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768"/>
                <a:gd name="T22" fmla="*/ 0 h 384"/>
                <a:gd name="T23" fmla="*/ 768 w 768"/>
                <a:gd name="T24" fmla="*/ 384 h 38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768" h="384">
                  <a:moveTo>
                    <a:pt x="576" y="384"/>
                  </a:moveTo>
                  <a:cubicBezTo>
                    <a:pt x="682" y="384"/>
                    <a:pt x="768" y="298"/>
                    <a:pt x="768" y="192"/>
                  </a:cubicBezTo>
                  <a:cubicBezTo>
                    <a:pt x="768" y="86"/>
                    <a:pt x="682" y="0"/>
                    <a:pt x="576" y="0"/>
                  </a:cubicBezTo>
                  <a:lnTo>
                    <a:pt x="192" y="0"/>
                  </a:lnTo>
                  <a:cubicBezTo>
                    <a:pt x="86" y="0"/>
                    <a:pt x="0" y="86"/>
                    <a:pt x="0" y="192"/>
                  </a:cubicBezTo>
                  <a:cubicBezTo>
                    <a:pt x="0" y="298"/>
                    <a:pt x="86" y="384"/>
                    <a:pt x="192" y="384"/>
                  </a:cubicBezTo>
                  <a:lnTo>
                    <a:pt x="576" y="384"/>
                  </a:lnTo>
                  <a:close/>
                </a:path>
              </a:pathLst>
            </a:custGeom>
            <a:noFill/>
            <a:ln w="11113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91" name="Rectangle 74"/>
            <p:cNvSpPr>
              <a:spLocks noChangeArrowheads="1"/>
            </p:cNvSpPr>
            <p:nvPr/>
          </p:nvSpPr>
          <p:spPr bwMode="auto">
            <a:xfrm>
              <a:off x="4531" y="3219"/>
              <a:ext cx="155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800">
                  <a:solidFill>
                    <a:srgbClr val="0000FF"/>
                  </a:solidFill>
                  <a:latin typeface="Arial" charset="0"/>
                </a:rPr>
                <a:t>6</a:t>
              </a:r>
              <a:endParaRPr lang="en-US"/>
            </a:p>
          </p:txBody>
        </p:sp>
        <p:sp>
          <p:nvSpPr>
            <p:cNvPr id="30792" name="Rectangle 75"/>
            <p:cNvSpPr>
              <a:spLocks noChangeArrowheads="1"/>
            </p:cNvSpPr>
            <p:nvPr/>
          </p:nvSpPr>
          <p:spPr bwMode="auto">
            <a:xfrm>
              <a:off x="4608" y="3219"/>
              <a:ext cx="155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800">
                  <a:solidFill>
                    <a:srgbClr val="0000FF"/>
                  </a:solidFill>
                  <a:latin typeface="Arial" charset="0"/>
                </a:rPr>
                <a:t>, </a:t>
              </a:r>
              <a:endParaRPr lang="en-US"/>
            </a:p>
          </p:txBody>
        </p:sp>
        <p:sp>
          <p:nvSpPr>
            <p:cNvPr id="30793" name="Rectangle 76"/>
            <p:cNvSpPr>
              <a:spLocks noChangeArrowheads="1"/>
            </p:cNvSpPr>
            <p:nvPr/>
          </p:nvSpPr>
          <p:spPr bwMode="auto">
            <a:xfrm>
              <a:off x="4694" y="3219"/>
              <a:ext cx="155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800">
                  <a:solidFill>
                    <a:srgbClr val="0000FF"/>
                  </a:solidFill>
                  <a:latin typeface="Arial" charset="0"/>
                </a:rPr>
                <a:t>2</a:t>
              </a:r>
              <a:endParaRPr lang="en-US"/>
            </a:p>
          </p:txBody>
        </p:sp>
        <p:sp>
          <p:nvSpPr>
            <p:cNvPr id="30794" name="Freeform 77"/>
            <p:cNvSpPr>
              <a:spLocks/>
            </p:cNvSpPr>
            <p:nvPr/>
          </p:nvSpPr>
          <p:spPr bwMode="auto">
            <a:xfrm>
              <a:off x="3907" y="2936"/>
              <a:ext cx="372" cy="186"/>
            </a:xfrm>
            <a:custGeom>
              <a:avLst/>
              <a:gdLst>
                <a:gd name="T0" fmla="*/ 135 w 768"/>
                <a:gd name="T1" fmla="*/ 90 h 384"/>
                <a:gd name="T2" fmla="*/ 180 w 768"/>
                <a:gd name="T3" fmla="*/ 45 h 384"/>
                <a:gd name="T4" fmla="*/ 135 w 768"/>
                <a:gd name="T5" fmla="*/ 0 h 384"/>
                <a:gd name="T6" fmla="*/ 135 w 768"/>
                <a:gd name="T7" fmla="*/ 0 h 384"/>
                <a:gd name="T8" fmla="*/ 45 w 768"/>
                <a:gd name="T9" fmla="*/ 0 h 384"/>
                <a:gd name="T10" fmla="*/ 0 w 768"/>
                <a:gd name="T11" fmla="*/ 45 h 384"/>
                <a:gd name="T12" fmla="*/ 45 w 768"/>
                <a:gd name="T13" fmla="*/ 90 h 384"/>
                <a:gd name="T14" fmla="*/ 135 w 768"/>
                <a:gd name="T15" fmla="*/ 90 h 38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768"/>
                <a:gd name="T25" fmla="*/ 0 h 384"/>
                <a:gd name="T26" fmla="*/ 768 w 768"/>
                <a:gd name="T27" fmla="*/ 384 h 384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768" h="384">
                  <a:moveTo>
                    <a:pt x="576" y="384"/>
                  </a:moveTo>
                  <a:cubicBezTo>
                    <a:pt x="682" y="384"/>
                    <a:pt x="768" y="298"/>
                    <a:pt x="768" y="192"/>
                  </a:cubicBezTo>
                  <a:cubicBezTo>
                    <a:pt x="768" y="86"/>
                    <a:pt x="682" y="0"/>
                    <a:pt x="576" y="0"/>
                  </a:cubicBezTo>
                  <a:lnTo>
                    <a:pt x="192" y="0"/>
                  </a:lnTo>
                  <a:cubicBezTo>
                    <a:pt x="86" y="0"/>
                    <a:pt x="0" y="86"/>
                    <a:pt x="0" y="192"/>
                  </a:cubicBezTo>
                  <a:cubicBezTo>
                    <a:pt x="0" y="298"/>
                    <a:pt x="86" y="384"/>
                    <a:pt x="192" y="384"/>
                  </a:cubicBezTo>
                  <a:lnTo>
                    <a:pt x="576" y="384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795" name="Freeform 78"/>
            <p:cNvSpPr>
              <a:spLocks/>
            </p:cNvSpPr>
            <p:nvPr/>
          </p:nvSpPr>
          <p:spPr bwMode="auto">
            <a:xfrm>
              <a:off x="3907" y="2936"/>
              <a:ext cx="372" cy="186"/>
            </a:xfrm>
            <a:custGeom>
              <a:avLst/>
              <a:gdLst>
                <a:gd name="T0" fmla="*/ 135 w 768"/>
                <a:gd name="T1" fmla="*/ 90 h 384"/>
                <a:gd name="T2" fmla="*/ 180 w 768"/>
                <a:gd name="T3" fmla="*/ 45 h 384"/>
                <a:gd name="T4" fmla="*/ 135 w 768"/>
                <a:gd name="T5" fmla="*/ 0 h 384"/>
                <a:gd name="T6" fmla="*/ 135 w 768"/>
                <a:gd name="T7" fmla="*/ 0 h 384"/>
                <a:gd name="T8" fmla="*/ 45 w 768"/>
                <a:gd name="T9" fmla="*/ 0 h 384"/>
                <a:gd name="T10" fmla="*/ 0 w 768"/>
                <a:gd name="T11" fmla="*/ 45 h 384"/>
                <a:gd name="T12" fmla="*/ 45 w 768"/>
                <a:gd name="T13" fmla="*/ 90 h 384"/>
                <a:gd name="T14" fmla="*/ 135 w 768"/>
                <a:gd name="T15" fmla="*/ 90 h 38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768"/>
                <a:gd name="T25" fmla="*/ 0 h 384"/>
                <a:gd name="T26" fmla="*/ 768 w 768"/>
                <a:gd name="T27" fmla="*/ 384 h 384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768" h="384">
                  <a:moveTo>
                    <a:pt x="576" y="384"/>
                  </a:moveTo>
                  <a:cubicBezTo>
                    <a:pt x="682" y="384"/>
                    <a:pt x="768" y="298"/>
                    <a:pt x="768" y="192"/>
                  </a:cubicBezTo>
                  <a:cubicBezTo>
                    <a:pt x="768" y="86"/>
                    <a:pt x="682" y="0"/>
                    <a:pt x="576" y="0"/>
                  </a:cubicBezTo>
                  <a:lnTo>
                    <a:pt x="192" y="0"/>
                  </a:lnTo>
                  <a:cubicBezTo>
                    <a:pt x="86" y="0"/>
                    <a:pt x="0" y="86"/>
                    <a:pt x="0" y="192"/>
                  </a:cubicBezTo>
                  <a:cubicBezTo>
                    <a:pt x="0" y="298"/>
                    <a:pt x="86" y="384"/>
                    <a:pt x="192" y="384"/>
                  </a:cubicBezTo>
                  <a:lnTo>
                    <a:pt x="576" y="384"/>
                  </a:lnTo>
                  <a:close/>
                </a:path>
              </a:pathLst>
            </a:custGeom>
            <a:noFill/>
            <a:ln w="11113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96" name="Rectangle 79"/>
            <p:cNvSpPr>
              <a:spLocks noChangeArrowheads="1"/>
            </p:cNvSpPr>
            <p:nvPr/>
          </p:nvSpPr>
          <p:spPr bwMode="auto">
            <a:xfrm>
              <a:off x="3973" y="2939"/>
              <a:ext cx="155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800">
                  <a:solidFill>
                    <a:srgbClr val="0000FF"/>
                  </a:solidFill>
                  <a:latin typeface="Arial" charset="0"/>
                </a:rPr>
                <a:t>4</a:t>
              </a:r>
              <a:endParaRPr lang="en-US"/>
            </a:p>
          </p:txBody>
        </p:sp>
        <p:sp>
          <p:nvSpPr>
            <p:cNvPr id="30797" name="Rectangle 80"/>
            <p:cNvSpPr>
              <a:spLocks noChangeArrowheads="1"/>
            </p:cNvSpPr>
            <p:nvPr/>
          </p:nvSpPr>
          <p:spPr bwMode="auto">
            <a:xfrm>
              <a:off x="4050" y="2939"/>
              <a:ext cx="155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800">
                  <a:solidFill>
                    <a:srgbClr val="0000FF"/>
                  </a:solidFill>
                  <a:latin typeface="Arial" charset="0"/>
                </a:rPr>
                <a:t>, </a:t>
              </a:r>
              <a:endParaRPr lang="en-US"/>
            </a:p>
          </p:txBody>
        </p:sp>
        <p:sp>
          <p:nvSpPr>
            <p:cNvPr id="30798" name="Rectangle 81"/>
            <p:cNvSpPr>
              <a:spLocks noChangeArrowheads="1"/>
            </p:cNvSpPr>
            <p:nvPr/>
          </p:nvSpPr>
          <p:spPr bwMode="auto">
            <a:xfrm>
              <a:off x="4135" y="2939"/>
              <a:ext cx="155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800">
                  <a:solidFill>
                    <a:srgbClr val="0000FF"/>
                  </a:solidFill>
                  <a:latin typeface="Arial" charset="0"/>
                </a:rPr>
                <a:t>4</a:t>
              </a:r>
              <a:endParaRPr lang="en-US"/>
            </a:p>
          </p:txBody>
        </p:sp>
        <p:sp>
          <p:nvSpPr>
            <p:cNvPr id="30799" name="Line 82"/>
            <p:cNvSpPr>
              <a:spLocks noChangeShapeType="1"/>
            </p:cNvSpPr>
            <p:nvPr/>
          </p:nvSpPr>
          <p:spPr bwMode="auto">
            <a:xfrm>
              <a:off x="4093" y="3122"/>
              <a:ext cx="300" cy="104"/>
            </a:xfrm>
            <a:prstGeom prst="line">
              <a:avLst/>
            </a:prstGeom>
            <a:noFill/>
            <a:ln w="11113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800" name="Freeform 83"/>
            <p:cNvSpPr>
              <a:spLocks/>
            </p:cNvSpPr>
            <p:nvPr/>
          </p:nvSpPr>
          <p:spPr bwMode="auto">
            <a:xfrm>
              <a:off x="4375" y="3192"/>
              <a:ext cx="105" cy="64"/>
            </a:xfrm>
            <a:custGeom>
              <a:avLst/>
              <a:gdLst>
                <a:gd name="T0" fmla="*/ 22 w 105"/>
                <a:gd name="T1" fmla="*/ 0 h 64"/>
                <a:gd name="T2" fmla="*/ 105 w 105"/>
                <a:gd name="T3" fmla="*/ 64 h 64"/>
                <a:gd name="T4" fmla="*/ 0 w 105"/>
                <a:gd name="T5" fmla="*/ 63 h 64"/>
                <a:gd name="T6" fmla="*/ 22 w 105"/>
                <a:gd name="T7" fmla="*/ 0 h 6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5"/>
                <a:gd name="T13" fmla="*/ 0 h 64"/>
                <a:gd name="T14" fmla="*/ 105 w 105"/>
                <a:gd name="T15" fmla="*/ 64 h 6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5" h="64">
                  <a:moveTo>
                    <a:pt x="22" y="0"/>
                  </a:moveTo>
                  <a:lnTo>
                    <a:pt x="105" y="64"/>
                  </a:lnTo>
                  <a:lnTo>
                    <a:pt x="0" y="63"/>
                  </a:lnTo>
                  <a:lnTo>
                    <a:pt x="2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801" name="Line 84"/>
            <p:cNvSpPr>
              <a:spLocks noChangeShapeType="1"/>
            </p:cNvSpPr>
            <p:nvPr/>
          </p:nvSpPr>
          <p:spPr bwMode="auto">
            <a:xfrm>
              <a:off x="4651" y="3401"/>
              <a:ext cx="203" cy="135"/>
            </a:xfrm>
            <a:prstGeom prst="line">
              <a:avLst/>
            </a:prstGeom>
            <a:noFill/>
            <a:ln w="11113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802" name="Freeform 85"/>
            <p:cNvSpPr>
              <a:spLocks/>
            </p:cNvSpPr>
            <p:nvPr/>
          </p:nvSpPr>
          <p:spPr bwMode="auto">
            <a:xfrm>
              <a:off x="4828" y="3503"/>
              <a:ext cx="102" cy="84"/>
            </a:xfrm>
            <a:custGeom>
              <a:avLst/>
              <a:gdLst>
                <a:gd name="T0" fmla="*/ 37 w 102"/>
                <a:gd name="T1" fmla="*/ 0 h 84"/>
                <a:gd name="T2" fmla="*/ 102 w 102"/>
                <a:gd name="T3" fmla="*/ 84 h 84"/>
                <a:gd name="T4" fmla="*/ 0 w 102"/>
                <a:gd name="T5" fmla="*/ 56 h 84"/>
                <a:gd name="T6" fmla="*/ 37 w 102"/>
                <a:gd name="T7" fmla="*/ 0 h 8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2"/>
                <a:gd name="T13" fmla="*/ 0 h 84"/>
                <a:gd name="T14" fmla="*/ 102 w 102"/>
                <a:gd name="T15" fmla="*/ 84 h 8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2" h="84">
                  <a:moveTo>
                    <a:pt x="37" y="0"/>
                  </a:moveTo>
                  <a:lnTo>
                    <a:pt x="102" y="84"/>
                  </a:lnTo>
                  <a:lnTo>
                    <a:pt x="0" y="56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803" name="Freeform 86"/>
            <p:cNvSpPr>
              <a:spLocks/>
            </p:cNvSpPr>
            <p:nvPr/>
          </p:nvSpPr>
          <p:spPr bwMode="auto">
            <a:xfrm>
              <a:off x="4186" y="3587"/>
              <a:ext cx="372" cy="186"/>
            </a:xfrm>
            <a:custGeom>
              <a:avLst/>
              <a:gdLst>
                <a:gd name="T0" fmla="*/ 135 w 768"/>
                <a:gd name="T1" fmla="*/ 90 h 384"/>
                <a:gd name="T2" fmla="*/ 180 w 768"/>
                <a:gd name="T3" fmla="*/ 45 h 384"/>
                <a:gd name="T4" fmla="*/ 135 w 768"/>
                <a:gd name="T5" fmla="*/ 0 h 384"/>
                <a:gd name="T6" fmla="*/ 45 w 768"/>
                <a:gd name="T7" fmla="*/ 0 h 384"/>
                <a:gd name="T8" fmla="*/ 0 w 768"/>
                <a:gd name="T9" fmla="*/ 45 h 384"/>
                <a:gd name="T10" fmla="*/ 45 w 768"/>
                <a:gd name="T11" fmla="*/ 90 h 384"/>
                <a:gd name="T12" fmla="*/ 45 w 768"/>
                <a:gd name="T13" fmla="*/ 90 h 384"/>
                <a:gd name="T14" fmla="*/ 135 w 768"/>
                <a:gd name="T15" fmla="*/ 90 h 38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768"/>
                <a:gd name="T25" fmla="*/ 0 h 384"/>
                <a:gd name="T26" fmla="*/ 768 w 768"/>
                <a:gd name="T27" fmla="*/ 384 h 384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768" h="384">
                  <a:moveTo>
                    <a:pt x="576" y="384"/>
                  </a:moveTo>
                  <a:cubicBezTo>
                    <a:pt x="682" y="384"/>
                    <a:pt x="768" y="298"/>
                    <a:pt x="768" y="192"/>
                  </a:cubicBezTo>
                  <a:cubicBezTo>
                    <a:pt x="768" y="86"/>
                    <a:pt x="682" y="0"/>
                    <a:pt x="576" y="0"/>
                  </a:cubicBezTo>
                  <a:lnTo>
                    <a:pt x="192" y="0"/>
                  </a:lnTo>
                  <a:cubicBezTo>
                    <a:pt x="86" y="0"/>
                    <a:pt x="0" y="86"/>
                    <a:pt x="0" y="192"/>
                  </a:cubicBezTo>
                  <a:cubicBezTo>
                    <a:pt x="0" y="298"/>
                    <a:pt x="86" y="384"/>
                    <a:pt x="192" y="384"/>
                  </a:cubicBezTo>
                  <a:lnTo>
                    <a:pt x="576" y="384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804" name="Freeform 87"/>
            <p:cNvSpPr>
              <a:spLocks/>
            </p:cNvSpPr>
            <p:nvPr/>
          </p:nvSpPr>
          <p:spPr bwMode="auto">
            <a:xfrm>
              <a:off x="4186" y="3587"/>
              <a:ext cx="372" cy="186"/>
            </a:xfrm>
            <a:custGeom>
              <a:avLst/>
              <a:gdLst>
                <a:gd name="T0" fmla="*/ 135 w 768"/>
                <a:gd name="T1" fmla="*/ 90 h 384"/>
                <a:gd name="T2" fmla="*/ 180 w 768"/>
                <a:gd name="T3" fmla="*/ 45 h 384"/>
                <a:gd name="T4" fmla="*/ 135 w 768"/>
                <a:gd name="T5" fmla="*/ 0 h 384"/>
                <a:gd name="T6" fmla="*/ 45 w 768"/>
                <a:gd name="T7" fmla="*/ 0 h 384"/>
                <a:gd name="T8" fmla="*/ 0 w 768"/>
                <a:gd name="T9" fmla="*/ 45 h 384"/>
                <a:gd name="T10" fmla="*/ 45 w 768"/>
                <a:gd name="T11" fmla="*/ 90 h 384"/>
                <a:gd name="T12" fmla="*/ 45 w 768"/>
                <a:gd name="T13" fmla="*/ 90 h 384"/>
                <a:gd name="T14" fmla="*/ 135 w 768"/>
                <a:gd name="T15" fmla="*/ 90 h 38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768"/>
                <a:gd name="T25" fmla="*/ 0 h 384"/>
                <a:gd name="T26" fmla="*/ 768 w 768"/>
                <a:gd name="T27" fmla="*/ 384 h 384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768" h="384">
                  <a:moveTo>
                    <a:pt x="576" y="384"/>
                  </a:moveTo>
                  <a:cubicBezTo>
                    <a:pt x="682" y="384"/>
                    <a:pt x="768" y="298"/>
                    <a:pt x="768" y="192"/>
                  </a:cubicBezTo>
                  <a:cubicBezTo>
                    <a:pt x="768" y="86"/>
                    <a:pt x="682" y="0"/>
                    <a:pt x="576" y="0"/>
                  </a:cubicBezTo>
                  <a:lnTo>
                    <a:pt x="192" y="0"/>
                  </a:lnTo>
                  <a:cubicBezTo>
                    <a:pt x="86" y="0"/>
                    <a:pt x="0" y="86"/>
                    <a:pt x="0" y="192"/>
                  </a:cubicBezTo>
                  <a:cubicBezTo>
                    <a:pt x="0" y="298"/>
                    <a:pt x="86" y="384"/>
                    <a:pt x="192" y="384"/>
                  </a:cubicBezTo>
                  <a:lnTo>
                    <a:pt x="576" y="384"/>
                  </a:lnTo>
                  <a:close/>
                </a:path>
              </a:pathLst>
            </a:custGeom>
            <a:noFill/>
            <a:ln w="11113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805" name="Rectangle 88"/>
            <p:cNvSpPr>
              <a:spLocks noChangeArrowheads="1"/>
            </p:cNvSpPr>
            <p:nvPr/>
          </p:nvSpPr>
          <p:spPr bwMode="auto">
            <a:xfrm>
              <a:off x="4252" y="3591"/>
              <a:ext cx="155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800">
                  <a:solidFill>
                    <a:srgbClr val="0000FF"/>
                  </a:solidFill>
                  <a:latin typeface="Arial" charset="0"/>
                </a:rPr>
                <a:t>6</a:t>
              </a:r>
              <a:endParaRPr lang="en-US"/>
            </a:p>
          </p:txBody>
        </p:sp>
        <p:sp>
          <p:nvSpPr>
            <p:cNvPr id="30806" name="Rectangle 89"/>
            <p:cNvSpPr>
              <a:spLocks noChangeArrowheads="1"/>
            </p:cNvSpPr>
            <p:nvPr/>
          </p:nvSpPr>
          <p:spPr bwMode="auto">
            <a:xfrm>
              <a:off x="4329" y="3591"/>
              <a:ext cx="155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800">
                  <a:solidFill>
                    <a:srgbClr val="0000FF"/>
                  </a:solidFill>
                  <a:latin typeface="Arial" charset="0"/>
                </a:rPr>
                <a:t>, </a:t>
              </a:r>
              <a:endParaRPr lang="en-US"/>
            </a:p>
          </p:txBody>
        </p:sp>
        <p:sp>
          <p:nvSpPr>
            <p:cNvPr id="30807" name="Rectangle 90"/>
            <p:cNvSpPr>
              <a:spLocks noChangeArrowheads="1"/>
            </p:cNvSpPr>
            <p:nvPr/>
          </p:nvSpPr>
          <p:spPr bwMode="auto">
            <a:xfrm>
              <a:off x="4415" y="3591"/>
              <a:ext cx="155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800">
                  <a:solidFill>
                    <a:srgbClr val="0000FF"/>
                  </a:solidFill>
                  <a:latin typeface="Arial" charset="0"/>
                </a:rPr>
                <a:t>1</a:t>
              </a:r>
              <a:endParaRPr lang="en-US"/>
            </a:p>
          </p:txBody>
        </p:sp>
        <p:sp>
          <p:nvSpPr>
            <p:cNvPr id="30808" name="Freeform 91"/>
            <p:cNvSpPr>
              <a:spLocks/>
            </p:cNvSpPr>
            <p:nvPr/>
          </p:nvSpPr>
          <p:spPr bwMode="auto">
            <a:xfrm>
              <a:off x="3628" y="3587"/>
              <a:ext cx="372" cy="186"/>
            </a:xfrm>
            <a:custGeom>
              <a:avLst/>
              <a:gdLst>
                <a:gd name="T0" fmla="*/ 135 w 768"/>
                <a:gd name="T1" fmla="*/ 90 h 384"/>
                <a:gd name="T2" fmla="*/ 180 w 768"/>
                <a:gd name="T3" fmla="*/ 45 h 384"/>
                <a:gd name="T4" fmla="*/ 135 w 768"/>
                <a:gd name="T5" fmla="*/ 0 h 384"/>
                <a:gd name="T6" fmla="*/ 45 w 768"/>
                <a:gd name="T7" fmla="*/ 0 h 384"/>
                <a:gd name="T8" fmla="*/ 0 w 768"/>
                <a:gd name="T9" fmla="*/ 45 h 384"/>
                <a:gd name="T10" fmla="*/ 45 w 768"/>
                <a:gd name="T11" fmla="*/ 90 h 384"/>
                <a:gd name="T12" fmla="*/ 45 w 768"/>
                <a:gd name="T13" fmla="*/ 90 h 384"/>
                <a:gd name="T14" fmla="*/ 135 w 768"/>
                <a:gd name="T15" fmla="*/ 90 h 38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768"/>
                <a:gd name="T25" fmla="*/ 0 h 384"/>
                <a:gd name="T26" fmla="*/ 768 w 768"/>
                <a:gd name="T27" fmla="*/ 384 h 384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768" h="384">
                  <a:moveTo>
                    <a:pt x="576" y="384"/>
                  </a:moveTo>
                  <a:cubicBezTo>
                    <a:pt x="682" y="384"/>
                    <a:pt x="768" y="298"/>
                    <a:pt x="768" y="192"/>
                  </a:cubicBezTo>
                  <a:cubicBezTo>
                    <a:pt x="768" y="86"/>
                    <a:pt x="682" y="0"/>
                    <a:pt x="576" y="0"/>
                  </a:cubicBezTo>
                  <a:lnTo>
                    <a:pt x="192" y="0"/>
                  </a:lnTo>
                  <a:cubicBezTo>
                    <a:pt x="86" y="0"/>
                    <a:pt x="0" y="86"/>
                    <a:pt x="0" y="192"/>
                  </a:cubicBezTo>
                  <a:cubicBezTo>
                    <a:pt x="0" y="298"/>
                    <a:pt x="86" y="384"/>
                    <a:pt x="192" y="384"/>
                  </a:cubicBezTo>
                  <a:lnTo>
                    <a:pt x="576" y="384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809" name="Freeform 92"/>
            <p:cNvSpPr>
              <a:spLocks/>
            </p:cNvSpPr>
            <p:nvPr/>
          </p:nvSpPr>
          <p:spPr bwMode="auto">
            <a:xfrm>
              <a:off x="3628" y="3587"/>
              <a:ext cx="372" cy="186"/>
            </a:xfrm>
            <a:custGeom>
              <a:avLst/>
              <a:gdLst>
                <a:gd name="T0" fmla="*/ 135 w 768"/>
                <a:gd name="T1" fmla="*/ 90 h 384"/>
                <a:gd name="T2" fmla="*/ 180 w 768"/>
                <a:gd name="T3" fmla="*/ 45 h 384"/>
                <a:gd name="T4" fmla="*/ 135 w 768"/>
                <a:gd name="T5" fmla="*/ 0 h 384"/>
                <a:gd name="T6" fmla="*/ 45 w 768"/>
                <a:gd name="T7" fmla="*/ 0 h 384"/>
                <a:gd name="T8" fmla="*/ 0 w 768"/>
                <a:gd name="T9" fmla="*/ 45 h 384"/>
                <a:gd name="T10" fmla="*/ 45 w 768"/>
                <a:gd name="T11" fmla="*/ 90 h 384"/>
                <a:gd name="T12" fmla="*/ 45 w 768"/>
                <a:gd name="T13" fmla="*/ 90 h 384"/>
                <a:gd name="T14" fmla="*/ 135 w 768"/>
                <a:gd name="T15" fmla="*/ 90 h 38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768"/>
                <a:gd name="T25" fmla="*/ 0 h 384"/>
                <a:gd name="T26" fmla="*/ 768 w 768"/>
                <a:gd name="T27" fmla="*/ 384 h 384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768" h="384">
                  <a:moveTo>
                    <a:pt x="576" y="384"/>
                  </a:moveTo>
                  <a:cubicBezTo>
                    <a:pt x="682" y="384"/>
                    <a:pt x="768" y="298"/>
                    <a:pt x="768" y="192"/>
                  </a:cubicBezTo>
                  <a:cubicBezTo>
                    <a:pt x="768" y="86"/>
                    <a:pt x="682" y="0"/>
                    <a:pt x="576" y="0"/>
                  </a:cubicBezTo>
                  <a:lnTo>
                    <a:pt x="192" y="0"/>
                  </a:lnTo>
                  <a:cubicBezTo>
                    <a:pt x="86" y="0"/>
                    <a:pt x="0" y="86"/>
                    <a:pt x="0" y="192"/>
                  </a:cubicBezTo>
                  <a:cubicBezTo>
                    <a:pt x="0" y="298"/>
                    <a:pt x="86" y="384"/>
                    <a:pt x="192" y="384"/>
                  </a:cubicBezTo>
                  <a:lnTo>
                    <a:pt x="576" y="384"/>
                  </a:lnTo>
                  <a:close/>
                </a:path>
              </a:pathLst>
            </a:custGeom>
            <a:noFill/>
            <a:ln w="11113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810" name="Rectangle 93"/>
            <p:cNvSpPr>
              <a:spLocks noChangeArrowheads="1"/>
            </p:cNvSpPr>
            <p:nvPr/>
          </p:nvSpPr>
          <p:spPr bwMode="auto">
            <a:xfrm>
              <a:off x="3693" y="3591"/>
              <a:ext cx="155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800">
                  <a:solidFill>
                    <a:srgbClr val="0000FF"/>
                  </a:solidFill>
                  <a:latin typeface="Arial" charset="0"/>
                </a:rPr>
                <a:t>5</a:t>
              </a:r>
              <a:endParaRPr lang="en-US"/>
            </a:p>
          </p:txBody>
        </p:sp>
        <p:sp>
          <p:nvSpPr>
            <p:cNvPr id="30811" name="Rectangle 94"/>
            <p:cNvSpPr>
              <a:spLocks noChangeArrowheads="1"/>
            </p:cNvSpPr>
            <p:nvPr/>
          </p:nvSpPr>
          <p:spPr bwMode="auto">
            <a:xfrm>
              <a:off x="3771" y="3591"/>
              <a:ext cx="155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800">
                  <a:solidFill>
                    <a:srgbClr val="0000FF"/>
                  </a:solidFill>
                  <a:latin typeface="Arial" charset="0"/>
                </a:rPr>
                <a:t>, </a:t>
              </a:r>
              <a:endParaRPr lang="en-US"/>
            </a:p>
          </p:txBody>
        </p:sp>
        <p:sp>
          <p:nvSpPr>
            <p:cNvPr id="30812" name="Rectangle 95"/>
            <p:cNvSpPr>
              <a:spLocks noChangeArrowheads="1"/>
            </p:cNvSpPr>
            <p:nvPr/>
          </p:nvSpPr>
          <p:spPr bwMode="auto">
            <a:xfrm>
              <a:off x="3856" y="3591"/>
              <a:ext cx="155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800">
                  <a:solidFill>
                    <a:srgbClr val="0000FF"/>
                  </a:solidFill>
                  <a:latin typeface="Arial" charset="0"/>
                </a:rPr>
                <a:t>1</a:t>
              </a:r>
              <a:endParaRPr lang="en-US"/>
            </a:p>
          </p:txBody>
        </p:sp>
        <p:sp>
          <p:nvSpPr>
            <p:cNvPr id="30813" name="Freeform 96"/>
            <p:cNvSpPr>
              <a:spLocks/>
            </p:cNvSpPr>
            <p:nvPr/>
          </p:nvSpPr>
          <p:spPr bwMode="auto">
            <a:xfrm>
              <a:off x="3348" y="3215"/>
              <a:ext cx="373" cy="186"/>
            </a:xfrm>
            <a:custGeom>
              <a:avLst/>
              <a:gdLst>
                <a:gd name="T0" fmla="*/ 136 w 768"/>
                <a:gd name="T1" fmla="*/ 90 h 384"/>
                <a:gd name="T2" fmla="*/ 181 w 768"/>
                <a:gd name="T3" fmla="*/ 45 h 384"/>
                <a:gd name="T4" fmla="*/ 136 w 768"/>
                <a:gd name="T5" fmla="*/ 0 h 384"/>
                <a:gd name="T6" fmla="*/ 45 w 768"/>
                <a:gd name="T7" fmla="*/ 0 h 384"/>
                <a:gd name="T8" fmla="*/ 0 w 768"/>
                <a:gd name="T9" fmla="*/ 45 h 384"/>
                <a:gd name="T10" fmla="*/ 45 w 768"/>
                <a:gd name="T11" fmla="*/ 90 h 384"/>
                <a:gd name="T12" fmla="*/ 136 w 768"/>
                <a:gd name="T13" fmla="*/ 90 h 38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768"/>
                <a:gd name="T22" fmla="*/ 0 h 384"/>
                <a:gd name="T23" fmla="*/ 768 w 768"/>
                <a:gd name="T24" fmla="*/ 384 h 38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768" h="384">
                  <a:moveTo>
                    <a:pt x="576" y="384"/>
                  </a:moveTo>
                  <a:cubicBezTo>
                    <a:pt x="682" y="384"/>
                    <a:pt x="768" y="298"/>
                    <a:pt x="768" y="192"/>
                  </a:cubicBezTo>
                  <a:cubicBezTo>
                    <a:pt x="768" y="86"/>
                    <a:pt x="682" y="0"/>
                    <a:pt x="576" y="0"/>
                  </a:cubicBezTo>
                  <a:lnTo>
                    <a:pt x="192" y="0"/>
                  </a:lnTo>
                  <a:cubicBezTo>
                    <a:pt x="86" y="0"/>
                    <a:pt x="0" y="86"/>
                    <a:pt x="0" y="192"/>
                  </a:cubicBezTo>
                  <a:cubicBezTo>
                    <a:pt x="0" y="298"/>
                    <a:pt x="86" y="384"/>
                    <a:pt x="192" y="384"/>
                  </a:cubicBezTo>
                  <a:lnTo>
                    <a:pt x="576" y="384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814" name="Freeform 97"/>
            <p:cNvSpPr>
              <a:spLocks/>
            </p:cNvSpPr>
            <p:nvPr/>
          </p:nvSpPr>
          <p:spPr bwMode="auto">
            <a:xfrm>
              <a:off x="3348" y="3215"/>
              <a:ext cx="373" cy="186"/>
            </a:xfrm>
            <a:custGeom>
              <a:avLst/>
              <a:gdLst>
                <a:gd name="T0" fmla="*/ 136 w 768"/>
                <a:gd name="T1" fmla="*/ 90 h 384"/>
                <a:gd name="T2" fmla="*/ 181 w 768"/>
                <a:gd name="T3" fmla="*/ 45 h 384"/>
                <a:gd name="T4" fmla="*/ 136 w 768"/>
                <a:gd name="T5" fmla="*/ 0 h 384"/>
                <a:gd name="T6" fmla="*/ 45 w 768"/>
                <a:gd name="T7" fmla="*/ 0 h 384"/>
                <a:gd name="T8" fmla="*/ 0 w 768"/>
                <a:gd name="T9" fmla="*/ 45 h 384"/>
                <a:gd name="T10" fmla="*/ 45 w 768"/>
                <a:gd name="T11" fmla="*/ 90 h 384"/>
                <a:gd name="T12" fmla="*/ 136 w 768"/>
                <a:gd name="T13" fmla="*/ 90 h 38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768"/>
                <a:gd name="T22" fmla="*/ 0 h 384"/>
                <a:gd name="T23" fmla="*/ 768 w 768"/>
                <a:gd name="T24" fmla="*/ 384 h 38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768" h="384">
                  <a:moveTo>
                    <a:pt x="576" y="384"/>
                  </a:moveTo>
                  <a:cubicBezTo>
                    <a:pt x="682" y="384"/>
                    <a:pt x="768" y="298"/>
                    <a:pt x="768" y="192"/>
                  </a:cubicBezTo>
                  <a:cubicBezTo>
                    <a:pt x="768" y="86"/>
                    <a:pt x="682" y="0"/>
                    <a:pt x="576" y="0"/>
                  </a:cubicBezTo>
                  <a:lnTo>
                    <a:pt x="192" y="0"/>
                  </a:lnTo>
                  <a:cubicBezTo>
                    <a:pt x="86" y="0"/>
                    <a:pt x="0" y="86"/>
                    <a:pt x="0" y="192"/>
                  </a:cubicBezTo>
                  <a:cubicBezTo>
                    <a:pt x="0" y="298"/>
                    <a:pt x="86" y="384"/>
                    <a:pt x="192" y="384"/>
                  </a:cubicBezTo>
                  <a:lnTo>
                    <a:pt x="576" y="384"/>
                  </a:lnTo>
                  <a:close/>
                </a:path>
              </a:pathLst>
            </a:custGeom>
            <a:noFill/>
            <a:ln w="11113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815" name="Rectangle 98"/>
            <p:cNvSpPr>
              <a:spLocks noChangeArrowheads="1"/>
            </p:cNvSpPr>
            <p:nvPr/>
          </p:nvSpPr>
          <p:spPr bwMode="auto">
            <a:xfrm>
              <a:off x="3414" y="3219"/>
              <a:ext cx="155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800">
                  <a:solidFill>
                    <a:srgbClr val="0000FF"/>
                  </a:solidFill>
                  <a:latin typeface="Arial" charset="0"/>
                </a:rPr>
                <a:t>4</a:t>
              </a:r>
              <a:endParaRPr lang="en-US"/>
            </a:p>
          </p:txBody>
        </p:sp>
        <p:sp>
          <p:nvSpPr>
            <p:cNvPr id="30816" name="Rectangle 99"/>
            <p:cNvSpPr>
              <a:spLocks noChangeArrowheads="1"/>
            </p:cNvSpPr>
            <p:nvPr/>
          </p:nvSpPr>
          <p:spPr bwMode="auto">
            <a:xfrm>
              <a:off x="3492" y="3219"/>
              <a:ext cx="155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800">
                  <a:solidFill>
                    <a:srgbClr val="0000FF"/>
                  </a:solidFill>
                  <a:latin typeface="Arial" charset="0"/>
                </a:rPr>
                <a:t>, </a:t>
              </a:r>
              <a:endParaRPr lang="en-US"/>
            </a:p>
          </p:txBody>
        </p:sp>
        <p:sp>
          <p:nvSpPr>
            <p:cNvPr id="30817" name="Rectangle 100"/>
            <p:cNvSpPr>
              <a:spLocks noChangeArrowheads="1"/>
            </p:cNvSpPr>
            <p:nvPr/>
          </p:nvSpPr>
          <p:spPr bwMode="auto">
            <a:xfrm>
              <a:off x="3577" y="3219"/>
              <a:ext cx="155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800">
                  <a:solidFill>
                    <a:srgbClr val="0000FF"/>
                  </a:solidFill>
                  <a:latin typeface="Arial" charset="0"/>
                </a:rPr>
                <a:t>2</a:t>
              </a:r>
              <a:endParaRPr lang="en-US"/>
            </a:p>
          </p:txBody>
        </p:sp>
        <p:sp>
          <p:nvSpPr>
            <p:cNvPr id="30818" name="Line 101"/>
            <p:cNvSpPr>
              <a:spLocks noChangeShapeType="1"/>
            </p:cNvSpPr>
            <p:nvPr/>
          </p:nvSpPr>
          <p:spPr bwMode="auto">
            <a:xfrm flipV="1">
              <a:off x="4448" y="3401"/>
              <a:ext cx="203" cy="135"/>
            </a:xfrm>
            <a:prstGeom prst="line">
              <a:avLst/>
            </a:prstGeom>
            <a:noFill/>
            <a:ln w="11113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819" name="Freeform 102"/>
            <p:cNvSpPr>
              <a:spLocks/>
            </p:cNvSpPr>
            <p:nvPr/>
          </p:nvSpPr>
          <p:spPr bwMode="auto">
            <a:xfrm>
              <a:off x="4372" y="3503"/>
              <a:ext cx="102" cy="84"/>
            </a:xfrm>
            <a:custGeom>
              <a:avLst/>
              <a:gdLst>
                <a:gd name="T0" fmla="*/ 102 w 102"/>
                <a:gd name="T1" fmla="*/ 56 h 84"/>
                <a:gd name="T2" fmla="*/ 0 w 102"/>
                <a:gd name="T3" fmla="*/ 84 h 84"/>
                <a:gd name="T4" fmla="*/ 65 w 102"/>
                <a:gd name="T5" fmla="*/ 0 h 84"/>
                <a:gd name="T6" fmla="*/ 102 w 102"/>
                <a:gd name="T7" fmla="*/ 56 h 8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2"/>
                <a:gd name="T13" fmla="*/ 0 h 84"/>
                <a:gd name="T14" fmla="*/ 102 w 102"/>
                <a:gd name="T15" fmla="*/ 84 h 8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2" h="84">
                  <a:moveTo>
                    <a:pt x="102" y="56"/>
                  </a:moveTo>
                  <a:lnTo>
                    <a:pt x="0" y="84"/>
                  </a:lnTo>
                  <a:lnTo>
                    <a:pt x="65" y="0"/>
                  </a:lnTo>
                  <a:lnTo>
                    <a:pt x="102" y="5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820" name="Line 103"/>
            <p:cNvSpPr>
              <a:spLocks noChangeShapeType="1"/>
            </p:cNvSpPr>
            <p:nvPr/>
          </p:nvSpPr>
          <p:spPr bwMode="auto">
            <a:xfrm>
              <a:off x="3535" y="3401"/>
              <a:ext cx="202" cy="135"/>
            </a:xfrm>
            <a:prstGeom prst="line">
              <a:avLst/>
            </a:prstGeom>
            <a:noFill/>
            <a:ln w="11113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821" name="Freeform 104"/>
            <p:cNvSpPr>
              <a:spLocks/>
            </p:cNvSpPr>
            <p:nvPr/>
          </p:nvSpPr>
          <p:spPr bwMode="auto">
            <a:xfrm>
              <a:off x="3711" y="3503"/>
              <a:ext cx="103" cy="84"/>
            </a:xfrm>
            <a:custGeom>
              <a:avLst/>
              <a:gdLst>
                <a:gd name="T0" fmla="*/ 38 w 103"/>
                <a:gd name="T1" fmla="*/ 0 h 84"/>
                <a:gd name="T2" fmla="*/ 103 w 103"/>
                <a:gd name="T3" fmla="*/ 84 h 84"/>
                <a:gd name="T4" fmla="*/ 0 w 103"/>
                <a:gd name="T5" fmla="*/ 56 h 84"/>
                <a:gd name="T6" fmla="*/ 38 w 103"/>
                <a:gd name="T7" fmla="*/ 0 h 8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3"/>
                <a:gd name="T13" fmla="*/ 0 h 84"/>
                <a:gd name="T14" fmla="*/ 103 w 103"/>
                <a:gd name="T15" fmla="*/ 84 h 8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3" h="84">
                  <a:moveTo>
                    <a:pt x="38" y="0"/>
                  </a:moveTo>
                  <a:lnTo>
                    <a:pt x="103" y="84"/>
                  </a:lnTo>
                  <a:lnTo>
                    <a:pt x="0" y="56"/>
                  </a:lnTo>
                  <a:lnTo>
                    <a:pt x="3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822" name="Line 105"/>
            <p:cNvSpPr>
              <a:spLocks noChangeShapeType="1"/>
            </p:cNvSpPr>
            <p:nvPr/>
          </p:nvSpPr>
          <p:spPr bwMode="auto">
            <a:xfrm flipV="1">
              <a:off x="3332" y="3401"/>
              <a:ext cx="203" cy="135"/>
            </a:xfrm>
            <a:prstGeom prst="line">
              <a:avLst/>
            </a:prstGeom>
            <a:noFill/>
            <a:ln w="11113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823" name="Freeform 106"/>
            <p:cNvSpPr>
              <a:spLocks/>
            </p:cNvSpPr>
            <p:nvPr/>
          </p:nvSpPr>
          <p:spPr bwMode="auto">
            <a:xfrm>
              <a:off x="3255" y="3503"/>
              <a:ext cx="103" cy="84"/>
            </a:xfrm>
            <a:custGeom>
              <a:avLst/>
              <a:gdLst>
                <a:gd name="T0" fmla="*/ 103 w 103"/>
                <a:gd name="T1" fmla="*/ 56 h 84"/>
                <a:gd name="T2" fmla="*/ 0 w 103"/>
                <a:gd name="T3" fmla="*/ 84 h 84"/>
                <a:gd name="T4" fmla="*/ 65 w 103"/>
                <a:gd name="T5" fmla="*/ 0 h 84"/>
                <a:gd name="T6" fmla="*/ 103 w 103"/>
                <a:gd name="T7" fmla="*/ 56 h 8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3"/>
                <a:gd name="T13" fmla="*/ 0 h 84"/>
                <a:gd name="T14" fmla="*/ 103 w 103"/>
                <a:gd name="T15" fmla="*/ 84 h 8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3" h="84">
                  <a:moveTo>
                    <a:pt x="103" y="56"/>
                  </a:moveTo>
                  <a:lnTo>
                    <a:pt x="0" y="84"/>
                  </a:lnTo>
                  <a:lnTo>
                    <a:pt x="65" y="0"/>
                  </a:lnTo>
                  <a:lnTo>
                    <a:pt x="103" y="5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824" name="Line 107"/>
            <p:cNvSpPr>
              <a:spLocks noChangeShapeType="1"/>
            </p:cNvSpPr>
            <p:nvPr/>
          </p:nvSpPr>
          <p:spPr bwMode="auto">
            <a:xfrm flipV="1">
              <a:off x="3767" y="3122"/>
              <a:ext cx="326" cy="84"/>
            </a:xfrm>
            <a:prstGeom prst="line">
              <a:avLst/>
            </a:prstGeom>
            <a:noFill/>
            <a:ln w="11113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825" name="Freeform 108"/>
            <p:cNvSpPr>
              <a:spLocks/>
            </p:cNvSpPr>
            <p:nvPr/>
          </p:nvSpPr>
          <p:spPr bwMode="auto">
            <a:xfrm>
              <a:off x="3677" y="3172"/>
              <a:ext cx="106" cy="65"/>
            </a:xfrm>
            <a:custGeom>
              <a:avLst/>
              <a:gdLst>
                <a:gd name="T0" fmla="*/ 106 w 106"/>
                <a:gd name="T1" fmla="*/ 65 h 65"/>
                <a:gd name="T2" fmla="*/ 0 w 106"/>
                <a:gd name="T3" fmla="*/ 57 h 65"/>
                <a:gd name="T4" fmla="*/ 89 w 106"/>
                <a:gd name="T5" fmla="*/ 0 h 65"/>
                <a:gd name="T6" fmla="*/ 106 w 106"/>
                <a:gd name="T7" fmla="*/ 65 h 6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6"/>
                <a:gd name="T13" fmla="*/ 0 h 65"/>
                <a:gd name="T14" fmla="*/ 106 w 106"/>
                <a:gd name="T15" fmla="*/ 65 h 6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6" h="65">
                  <a:moveTo>
                    <a:pt x="106" y="65"/>
                  </a:moveTo>
                  <a:lnTo>
                    <a:pt x="0" y="57"/>
                  </a:lnTo>
                  <a:lnTo>
                    <a:pt x="89" y="0"/>
                  </a:lnTo>
                  <a:lnTo>
                    <a:pt x="106" y="6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826" name="Freeform 109"/>
            <p:cNvSpPr>
              <a:spLocks/>
            </p:cNvSpPr>
            <p:nvPr/>
          </p:nvSpPr>
          <p:spPr bwMode="auto">
            <a:xfrm>
              <a:off x="3069" y="3587"/>
              <a:ext cx="372" cy="186"/>
            </a:xfrm>
            <a:custGeom>
              <a:avLst/>
              <a:gdLst>
                <a:gd name="T0" fmla="*/ 135 w 768"/>
                <a:gd name="T1" fmla="*/ 90 h 384"/>
                <a:gd name="T2" fmla="*/ 180 w 768"/>
                <a:gd name="T3" fmla="*/ 45 h 384"/>
                <a:gd name="T4" fmla="*/ 135 w 768"/>
                <a:gd name="T5" fmla="*/ 0 h 384"/>
                <a:gd name="T6" fmla="*/ 45 w 768"/>
                <a:gd name="T7" fmla="*/ 0 h 384"/>
                <a:gd name="T8" fmla="*/ 0 w 768"/>
                <a:gd name="T9" fmla="*/ 45 h 384"/>
                <a:gd name="T10" fmla="*/ 45 w 768"/>
                <a:gd name="T11" fmla="*/ 90 h 384"/>
                <a:gd name="T12" fmla="*/ 45 w 768"/>
                <a:gd name="T13" fmla="*/ 90 h 384"/>
                <a:gd name="T14" fmla="*/ 135 w 768"/>
                <a:gd name="T15" fmla="*/ 90 h 38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768"/>
                <a:gd name="T25" fmla="*/ 0 h 384"/>
                <a:gd name="T26" fmla="*/ 768 w 768"/>
                <a:gd name="T27" fmla="*/ 384 h 384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768" h="384">
                  <a:moveTo>
                    <a:pt x="576" y="384"/>
                  </a:moveTo>
                  <a:cubicBezTo>
                    <a:pt x="682" y="384"/>
                    <a:pt x="768" y="298"/>
                    <a:pt x="768" y="192"/>
                  </a:cubicBezTo>
                  <a:cubicBezTo>
                    <a:pt x="768" y="86"/>
                    <a:pt x="682" y="0"/>
                    <a:pt x="576" y="0"/>
                  </a:cubicBezTo>
                  <a:lnTo>
                    <a:pt x="192" y="0"/>
                  </a:lnTo>
                  <a:cubicBezTo>
                    <a:pt x="86" y="0"/>
                    <a:pt x="0" y="86"/>
                    <a:pt x="0" y="192"/>
                  </a:cubicBezTo>
                  <a:cubicBezTo>
                    <a:pt x="0" y="298"/>
                    <a:pt x="86" y="384"/>
                    <a:pt x="192" y="384"/>
                  </a:cubicBezTo>
                  <a:lnTo>
                    <a:pt x="576" y="384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827" name="Freeform 110"/>
            <p:cNvSpPr>
              <a:spLocks/>
            </p:cNvSpPr>
            <p:nvPr/>
          </p:nvSpPr>
          <p:spPr bwMode="auto">
            <a:xfrm>
              <a:off x="3069" y="3587"/>
              <a:ext cx="372" cy="186"/>
            </a:xfrm>
            <a:custGeom>
              <a:avLst/>
              <a:gdLst>
                <a:gd name="T0" fmla="*/ 135 w 768"/>
                <a:gd name="T1" fmla="*/ 90 h 384"/>
                <a:gd name="T2" fmla="*/ 180 w 768"/>
                <a:gd name="T3" fmla="*/ 45 h 384"/>
                <a:gd name="T4" fmla="*/ 135 w 768"/>
                <a:gd name="T5" fmla="*/ 0 h 384"/>
                <a:gd name="T6" fmla="*/ 45 w 768"/>
                <a:gd name="T7" fmla="*/ 0 h 384"/>
                <a:gd name="T8" fmla="*/ 0 w 768"/>
                <a:gd name="T9" fmla="*/ 45 h 384"/>
                <a:gd name="T10" fmla="*/ 45 w 768"/>
                <a:gd name="T11" fmla="*/ 90 h 384"/>
                <a:gd name="T12" fmla="*/ 45 w 768"/>
                <a:gd name="T13" fmla="*/ 90 h 384"/>
                <a:gd name="T14" fmla="*/ 135 w 768"/>
                <a:gd name="T15" fmla="*/ 90 h 38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768"/>
                <a:gd name="T25" fmla="*/ 0 h 384"/>
                <a:gd name="T26" fmla="*/ 768 w 768"/>
                <a:gd name="T27" fmla="*/ 384 h 384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768" h="384">
                  <a:moveTo>
                    <a:pt x="576" y="384"/>
                  </a:moveTo>
                  <a:cubicBezTo>
                    <a:pt x="682" y="384"/>
                    <a:pt x="768" y="298"/>
                    <a:pt x="768" y="192"/>
                  </a:cubicBezTo>
                  <a:cubicBezTo>
                    <a:pt x="768" y="86"/>
                    <a:pt x="682" y="0"/>
                    <a:pt x="576" y="0"/>
                  </a:cubicBezTo>
                  <a:lnTo>
                    <a:pt x="192" y="0"/>
                  </a:lnTo>
                  <a:cubicBezTo>
                    <a:pt x="86" y="0"/>
                    <a:pt x="0" y="86"/>
                    <a:pt x="0" y="192"/>
                  </a:cubicBezTo>
                  <a:cubicBezTo>
                    <a:pt x="0" y="298"/>
                    <a:pt x="86" y="384"/>
                    <a:pt x="192" y="384"/>
                  </a:cubicBezTo>
                  <a:lnTo>
                    <a:pt x="576" y="384"/>
                  </a:lnTo>
                  <a:close/>
                </a:path>
              </a:pathLst>
            </a:custGeom>
            <a:noFill/>
            <a:ln w="11113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828" name="Rectangle 111"/>
            <p:cNvSpPr>
              <a:spLocks noChangeArrowheads="1"/>
            </p:cNvSpPr>
            <p:nvPr/>
          </p:nvSpPr>
          <p:spPr bwMode="auto">
            <a:xfrm>
              <a:off x="3135" y="3591"/>
              <a:ext cx="155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800">
                  <a:solidFill>
                    <a:srgbClr val="0000FF"/>
                  </a:solidFill>
                  <a:latin typeface="Arial" charset="0"/>
                </a:rPr>
                <a:t>4</a:t>
              </a:r>
              <a:endParaRPr lang="en-US"/>
            </a:p>
          </p:txBody>
        </p:sp>
        <p:sp>
          <p:nvSpPr>
            <p:cNvPr id="30829" name="Rectangle 112"/>
            <p:cNvSpPr>
              <a:spLocks noChangeArrowheads="1"/>
            </p:cNvSpPr>
            <p:nvPr/>
          </p:nvSpPr>
          <p:spPr bwMode="auto">
            <a:xfrm>
              <a:off x="3213" y="3591"/>
              <a:ext cx="155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800">
                  <a:solidFill>
                    <a:srgbClr val="0000FF"/>
                  </a:solidFill>
                  <a:latin typeface="Arial" charset="0"/>
                </a:rPr>
                <a:t>, </a:t>
              </a:r>
              <a:endParaRPr lang="en-US"/>
            </a:p>
          </p:txBody>
        </p:sp>
        <p:sp>
          <p:nvSpPr>
            <p:cNvPr id="30830" name="Rectangle 113"/>
            <p:cNvSpPr>
              <a:spLocks noChangeArrowheads="1"/>
            </p:cNvSpPr>
            <p:nvPr/>
          </p:nvSpPr>
          <p:spPr bwMode="auto">
            <a:xfrm>
              <a:off x="3298" y="3591"/>
              <a:ext cx="155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800">
                  <a:solidFill>
                    <a:srgbClr val="0000FF"/>
                  </a:solidFill>
                  <a:latin typeface="Arial" charset="0"/>
                </a:rPr>
                <a:t>1</a:t>
              </a:r>
              <a:endParaRPr lang="en-US"/>
            </a:p>
          </p:txBody>
        </p:sp>
      </p:grpSp>
      <p:sp>
        <p:nvSpPr>
          <p:cNvPr id="30726" name="Date Placeholder 110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 smtClean="0"/>
              <a:t>© 2014 Goodrich, Tamassia, Goldwasser</a:t>
            </a:r>
            <a:endParaRPr lang="en-US" sz="1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Footer Placeholder 4"/>
          <p:cNvSpPr>
            <a:spLocks noGrp="1"/>
          </p:cNvSpPr>
          <p:nvPr>
            <p:ph type="ftr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/>
              <a:t>Recursion</a:t>
            </a:r>
          </a:p>
        </p:txBody>
      </p:sp>
      <p:sp>
        <p:nvSpPr>
          <p:cNvPr id="31746" name="Slide Number Placeholder 5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fld id="{061D44CD-86CB-8847-9DF7-52ADF6966A80}" type="slidenum">
              <a:rPr lang="en-US" sz="1400"/>
              <a:pPr eaLnBrk="1" hangingPunct="1"/>
              <a:t>15</a:t>
            </a:fld>
            <a:endParaRPr lang="en-US" sz="1400"/>
          </a:p>
        </p:txBody>
      </p:sp>
      <p:sp>
        <p:nvSpPr>
          <p:cNvPr id="317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Tahoma" charset="0"/>
              </a:rPr>
              <a:t>Computing Fibonacci Numbers</a:t>
            </a:r>
          </a:p>
        </p:txBody>
      </p:sp>
      <p:sp>
        <p:nvSpPr>
          <p:cNvPr id="31748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838200" y="1600200"/>
            <a:ext cx="7772400" cy="47244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 dirty="0">
                <a:latin typeface="Tahoma" charset="0"/>
              </a:rPr>
              <a:t>Fibonacci numbers are defined recursively:</a:t>
            </a:r>
          </a:p>
          <a:p>
            <a:pPr lvl="2" eaLnBrk="1" hangingPunct="1">
              <a:lnSpc>
                <a:spcPct val="90000"/>
              </a:lnSpc>
              <a:buFont typeface="Wingdings" charset="0"/>
              <a:buNone/>
            </a:pPr>
            <a:r>
              <a:rPr lang="en-US" sz="2000" i="1" dirty="0">
                <a:solidFill>
                  <a:srgbClr val="000000"/>
                </a:solidFill>
                <a:latin typeface="Times" charset="0"/>
              </a:rPr>
              <a:t>F</a:t>
            </a:r>
            <a:r>
              <a:rPr lang="en-US" sz="2000" baseline="-25000" dirty="0">
                <a:solidFill>
                  <a:srgbClr val="000000"/>
                </a:solidFill>
                <a:latin typeface="Times" charset="0"/>
              </a:rPr>
              <a:t>0</a:t>
            </a:r>
            <a:r>
              <a:rPr lang="en-US" sz="2000" dirty="0">
                <a:solidFill>
                  <a:srgbClr val="000000"/>
                </a:solidFill>
                <a:latin typeface="Times" charset="0"/>
              </a:rPr>
              <a:t> </a:t>
            </a:r>
            <a:r>
              <a:rPr lang="en-US" sz="2000" dirty="0">
                <a:solidFill>
                  <a:srgbClr val="000000"/>
                </a:solidFill>
                <a:latin typeface="CMR10" charset="0"/>
              </a:rPr>
              <a:t>=  </a:t>
            </a:r>
            <a:r>
              <a:rPr lang="en-US" sz="2000" dirty="0">
                <a:solidFill>
                  <a:srgbClr val="000000"/>
                </a:solidFill>
                <a:latin typeface="Times" charset="0"/>
              </a:rPr>
              <a:t>0</a:t>
            </a:r>
          </a:p>
          <a:p>
            <a:pPr lvl="2" eaLnBrk="1" hangingPunct="1">
              <a:lnSpc>
                <a:spcPct val="90000"/>
              </a:lnSpc>
              <a:buFont typeface="Wingdings" charset="0"/>
              <a:buNone/>
            </a:pPr>
            <a:r>
              <a:rPr lang="en-US" sz="2000" i="1" dirty="0">
                <a:solidFill>
                  <a:srgbClr val="000000"/>
                </a:solidFill>
                <a:latin typeface="Times" charset="0"/>
              </a:rPr>
              <a:t>F</a:t>
            </a:r>
            <a:r>
              <a:rPr lang="en-US" sz="2000" baseline="-25000" dirty="0">
                <a:solidFill>
                  <a:srgbClr val="000000"/>
                </a:solidFill>
                <a:latin typeface="Times" charset="0"/>
              </a:rPr>
              <a:t>1</a:t>
            </a:r>
            <a:r>
              <a:rPr lang="en-US" sz="2000" dirty="0">
                <a:solidFill>
                  <a:srgbClr val="000000"/>
                </a:solidFill>
                <a:latin typeface="Times" charset="0"/>
              </a:rPr>
              <a:t> </a:t>
            </a:r>
            <a:r>
              <a:rPr lang="en-US" sz="2000" dirty="0">
                <a:solidFill>
                  <a:srgbClr val="000000"/>
                </a:solidFill>
                <a:latin typeface="CMR10" charset="0"/>
              </a:rPr>
              <a:t>=  </a:t>
            </a:r>
            <a:r>
              <a:rPr lang="en-US" sz="2000" dirty="0">
                <a:solidFill>
                  <a:srgbClr val="000000"/>
                </a:solidFill>
                <a:latin typeface="Times" charset="0"/>
              </a:rPr>
              <a:t>1</a:t>
            </a:r>
          </a:p>
          <a:p>
            <a:pPr lvl="2" eaLnBrk="1" hangingPunct="1">
              <a:lnSpc>
                <a:spcPct val="90000"/>
              </a:lnSpc>
              <a:buFont typeface="Wingdings" charset="0"/>
              <a:buNone/>
            </a:pPr>
            <a:r>
              <a:rPr lang="en-US" sz="2000" i="1" dirty="0">
                <a:solidFill>
                  <a:srgbClr val="000000"/>
                </a:solidFill>
                <a:latin typeface="Times" charset="0"/>
              </a:rPr>
              <a:t>F</a:t>
            </a:r>
            <a:r>
              <a:rPr lang="en-US" sz="2000" i="1" baseline="-25000" dirty="0">
                <a:solidFill>
                  <a:srgbClr val="000000"/>
                </a:solidFill>
                <a:latin typeface="Times" charset="0"/>
              </a:rPr>
              <a:t>i</a:t>
            </a:r>
            <a:r>
              <a:rPr lang="en-US" sz="2000" i="1" dirty="0">
                <a:solidFill>
                  <a:srgbClr val="000000"/>
                </a:solidFill>
                <a:latin typeface="Times" charset="0"/>
              </a:rPr>
              <a:t> </a:t>
            </a:r>
            <a:r>
              <a:rPr lang="en-US" sz="2000" dirty="0">
                <a:solidFill>
                  <a:srgbClr val="000000"/>
                </a:solidFill>
                <a:latin typeface="CMR10" charset="0"/>
              </a:rPr>
              <a:t>=  </a:t>
            </a:r>
            <a:r>
              <a:rPr lang="en-US" sz="2000" i="1" dirty="0">
                <a:solidFill>
                  <a:srgbClr val="000000"/>
                </a:solidFill>
                <a:latin typeface="Times" charset="0"/>
              </a:rPr>
              <a:t>F</a:t>
            </a:r>
            <a:r>
              <a:rPr lang="en-US" sz="2000" i="1" baseline="-25000" dirty="0">
                <a:solidFill>
                  <a:srgbClr val="000000"/>
                </a:solidFill>
                <a:latin typeface="Times" charset="0"/>
              </a:rPr>
              <a:t>i</a:t>
            </a:r>
            <a:r>
              <a:rPr lang="en-US" sz="2000" i="1" baseline="-25000" dirty="0">
                <a:solidFill>
                  <a:srgbClr val="000000"/>
                </a:solidFill>
                <a:latin typeface="CMSY8" charset="0"/>
              </a:rPr>
              <a:t>-</a:t>
            </a:r>
            <a:r>
              <a:rPr lang="en-US" sz="2000" baseline="-25000" dirty="0">
                <a:solidFill>
                  <a:srgbClr val="000000"/>
                </a:solidFill>
                <a:latin typeface="Times" charset="0"/>
              </a:rPr>
              <a:t>1</a:t>
            </a:r>
            <a:r>
              <a:rPr lang="en-US" sz="2000" dirty="0">
                <a:solidFill>
                  <a:srgbClr val="000000"/>
                </a:solidFill>
                <a:latin typeface="Times" charset="0"/>
              </a:rPr>
              <a:t> </a:t>
            </a:r>
            <a:r>
              <a:rPr lang="en-US" sz="2000" baseline="30000" dirty="0">
                <a:solidFill>
                  <a:srgbClr val="000000"/>
                </a:solidFill>
                <a:latin typeface="CMR10" charset="0"/>
              </a:rPr>
              <a:t>+ </a:t>
            </a:r>
            <a:r>
              <a:rPr lang="en-US" sz="2000" i="1" dirty="0">
                <a:solidFill>
                  <a:srgbClr val="000000"/>
                </a:solidFill>
                <a:latin typeface="Times" charset="0"/>
              </a:rPr>
              <a:t>F</a:t>
            </a:r>
            <a:r>
              <a:rPr lang="en-US" sz="2000" i="1" baseline="-25000" dirty="0">
                <a:solidFill>
                  <a:srgbClr val="000000"/>
                </a:solidFill>
                <a:latin typeface="Times" charset="0"/>
              </a:rPr>
              <a:t>i</a:t>
            </a:r>
            <a:r>
              <a:rPr lang="en-US" sz="2000" i="1" baseline="-25000" dirty="0">
                <a:solidFill>
                  <a:srgbClr val="000000"/>
                </a:solidFill>
                <a:latin typeface="CMSY8" charset="0"/>
              </a:rPr>
              <a:t>-</a:t>
            </a:r>
            <a:r>
              <a:rPr lang="en-US" sz="2000" baseline="-25000" dirty="0">
                <a:solidFill>
                  <a:srgbClr val="000000"/>
                </a:solidFill>
                <a:latin typeface="Times" charset="0"/>
              </a:rPr>
              <a:t>2</a:t>
            </a:r>
            <a:r>
              <a:rPr lang="en-US" sz="2000" dirty="0">
                <a:solidFill>
                  <a:srgbClr val="000000"/>
                </a:solidFill>
                <a:latin typeface="Times" charset="0"/>
              </a:rPr>
              <a:t>     for </a:t>
            </a:r>
            <a:r>
              <a:rPr lang="en-US" sz="2000" i="1" dirty="0" err="1">
                <a:solidFill>
                  <a:srgbClr val="000000"/>
                </a:solidFill>
                <a:latin typeface="Times" charset="0"/>
              </a:rPr>
              <a:t>i</a:t>
            </a:r>
            <a:r>
              <a:rPr lang="en-US" sz="2000" i="1" dirty="0">
                <a:solidFill>
                  <a:srgbClr val="000000"/>
                </a:solidFill>
                <a:latin typeface="Times" charset="0"/>
              </a:rPr>
              <a:t> </a:t>
            </a:r>
            <a:r>
              <a:rPr lang="en-US" sz="2000" i="1" dirty="0">
                <a:solidFill>
                  <a:srgbClr val="000000"/>
                </a:solidFill>
                <a:latin typeface="CMMI10" charset="0"/>
              </a:rPr>
              <a:t>&gt; </a:t>
            </a:r>
            <a:r>
              <a:rPr lang="en-US" sz="2000" dirty="0">
                <a:solidFill>
                  <a:srgbClr val="000000"/>
                </a:solidFill>
                <a:latin typeface="Times" charset="0"/>
              </a:rPr>
              <a:t>1.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dirty="0">
                <a:latin typeface="Tahoma" charset="0"/>
              </a:rPr>
              <a:t>Recursive algorithm (first attempt):</a:t>
            </a:r>
          </a:p>
          <a:p>
            <a:pPr lvl="3" eaLnBrk="1" hangingPunct="1">
              <a:lnSpc>
                <a:spcPct val="90000"/>
              </a:lnSpc>
              <a:buFont typeface="Wingdings" charset="0"/>
              <a:buNone/>
            </a:pPr>
            <a:r>
              <a:rPr lang="en-US" sz="2400" b="1" dirty="0">
                <a:solidFill>
                  <a:srgbClr val="000000"/>
                </a:solidFill>
                <a:latin typeface="Times" charset="0"/>
              </a:rPr>
              <a:t>Algorithm </a:t>
            </a:r>
            <a:r>
              <a:rPr lang="en-US" sz="2400" dirty="0" err="1">
                <a:solidFill>
                  <a:schemeClr val="tx2"/>
                </a:solidFill>
                <a:latin typeface="CMSS10" charset="0"/>
              </a:rPr>
              <a:t>BinaryFib</a:t>
            </a:r>
            <a:r>
              <a:rPr lang="en-US" sz="2400" dirty="0">
                <a:solidFill>
                  <a:srgbClr val="000000"/>
                </a:solidFill>
                <a:latin typeface="CMR10" charset="0"/>
              </a:rPr>
              <a:t>(</a:t>
            </a:r>
            <a:r>
              <a:rPr lang="en-US" sz="2400" i="1" dirty="0">
                <a:solidFill>
                  <a:srgbClr val="000000"/>
                </a:solidFill>
                <a:latin typeface="Times" charset="0"/>
              </a:rPr>
              <a:t>k</a:t>
            </a:r>
            <a:r>
              <a:rPr lang="en-US" sz="2400" dirty="0">
                <a:solidFill>
                  <a:srgbClr val="000000"/>
                </a:solidFill>
                <a:latin typeface="CMR10" charset="0"/>
              </a:rPr>
              <a:t>)</a:t>
            </a:r>
            <a:r>
              <a:rPr lang="en-US" sz="2400" dirty="0">
                <a:solidFill>
                  <a:srgbClr val="000000"/>
                </a:solidFill>
                <a:latin typeface="Times" charset="0"/>
              </a:rPr>
              <a:t>:</a:t>
            </a:r>
          </a:p>
          <a:p>
            <a:pPr lvl="3" eaLnBrk="1" hangingPunct="1">
              <a:lnSpc>
                <a:spcPct val="90000"/>
              </a:lnSpc>
              <a:buFont typeface="Wingdings" charset="0"/>
              <a:buNone/>
            </a:pPr>
            <a:r>
              <a:rPr lang="en-US" sz="2400" b="1" i="1" dirty="0">
                <a:solidFill>
                  <a:srgbClr val="000000"/>
                </a:solidFill>
                <a:latin typeface="Times" charset="0"/>
              </a:rPr>
              <a:t>      Input: </a:t>
            </a:r>
            <a:r>
              <a:rPr lang="en-US" sz="2400" dirty="0">
                <a:solidFill>
                  <a:srgbClr val="000000"/>
                </a:solidFill>
                <a:latin typeface="Times" charset="0"/>
              </a:rPr>
              <a:t>Nonnegative integer </a:t>
            </a:r>
            <a:r>
              <a:rPr lang="en-US" sz="2400" i="1" dirty="0">
                <a:solidFill>
                  <a:srgbClr val="000000"/>
                </a:solidFill>
                <a:latin typeface="Times" charset="0"/>
              </a:rPr>
              <a:t>k</a:t>
            </a:r>
          </a:p>
          <a:p>
            <a:pPr lvl="3" eaLnBrk="1" hangingPunct="1">
              <a:lnSpc>
                <a:spcPct val="90000"/>
              </a:lnSpc>
              <a:buFont typeface="Wingdings" charset="0"/>
              <a:buNone/>
            </a:pPr>
            <a:r>
              <a:rPr lang="en-US" sz="2400" b="1" i="1" dirty="0">
                <a:solidFill>
                  <a:srgbClr val="000000"/>
                </a:solidFill>
                <a:latin typeface="Times" charset="0"/>
              </a:rPr>
              <a:t>      Output: </a:t>
            </a:r>
            <a:r>
              <a:rPr lang="en-US" sz="2400" dirty="0">
                <a:solidFill>
                  <a:srgbClr val="000000"/>
                </a:solidFill>
                <a:latin typeface="Times" charset="0"/>
              </a:rPr>
              <a:t>The </a:t>
            </a:r>
            <a:r>
              <a:rPr lang="en-US" sz="2400" i="1" dirty="0" err="1">
                <a:solidFill>
                  <a:srgbClr val="000000"/>
                </a:solidFill>
                <a:latin typeface="Times" charset="0"/>
              </a:rPr>
              <a:t>k</a:t>
            </a:r>
            <a:r>
              <a:rPr lang="en-US" sz="2400" dirty="0" err="1">
                <a:solidFill>
                  <a:srgbClr val="000000"/>
                </a:solidFill>
                <a:latin typeface="Times" charset="0"/>
              </a:rPr>
              <a:t>th</a:t>
            </a:r>
            <a:r>
              <a:rPr lang="en-US" sz="2400" dirty="0">
                <a:solidFill>
                  <a:srgbClr val="000000"/>
                </a:solidFill>
                <a:latin typeface="Times" charset="0"/>
              </a:rPr>
              <a:t> Fibonacci number </a:t>
            </a:r>
            <a:r>
              <a:rPr lang="en-US" sz="2400" i="1" dirty="0" err="1">
                <a:solidFill>
                  <a:srgbClr val="000000"/>
                </a:solidFill>
                <a:latin typeface="Times" charset="0"/>
              </a:rPr>
              <a:t>F</a:t>
            </a:r>
            <a:r>
              <a:rPr lang="en-US" sz="2400" i="1" baseline="-25000" dirty="0" err="1">
                <a:solidFill>
                  <a:srgbClr val="000000"/>
                </a:solidFill>
                <a:latin typeface="Times" charset="0"/>
              </a:rPr>
              <a:t>k</a:t>
            </a:r>
            <a:endParaRPr lang="en-US" sz="2400" i="1" baseline="-25000" dirty="0">
              <a:solidFill>
                <a:srgbClr val="000000"/>
              </a:solidFill>
              <a:latin typeface="Times" charset="0"/>
            </a:endParaRPr>
          </a:p>
          <a:p>
            <a:pPr lvl="3" eaLnBrk="1" hangingPunct="1">
              <a:lnSpc>
                <a:spcPct val="90000"/>
              </a:lnSpc>
              <a:buFont typeface="Wingdings" charset="0"/>
              <a:buNone/>
            </a:pPr>
            <a:r>
              <a:rPr lang="en-US" sz="2400" b="1" dirty="0">
                <a:solidFill>
                  <a:srgbClr val="000000"/>
                </a:solidFill>
                <a:latin typeface="Times" charset="0"/>
              </a:rPr>
              <a:t>     if </a:t>
            </a:r>
            <a:r>
              <a:rPr lang="en-US" sz="2400" i="1" dirty="0">
                <a:solidFill>
                  <a:srgbClr val="000000"/>
                </a:solidFill>
                <a:latin typeface="Times" charset="0"/>
              </a:rPr>
              <a:t>k </a:t>
            </a:r>
            <a:r>
              <a:rPr lang="en-US" sz="2400" i="1" dirty="0">
                <a:solidFill>
                  <a:srgbClr val="000000"/>
                </a:solidFill>
                <a:latin typeface="CMSY10" charset="0"/>
              </a:rPr>
              <a:t>= </a:t>
            </a:r>
            <a:r>
              <a:rPr lang="en-US" sz="2400" dirty="0">
                <a:solidFill>
                  <a:srgbClr val="000000"/>
                </a:solidFill>
                <a:latin typeface="Times" charset="0"/>
              </a:rPr>
              <a:t>1 </a:t>
            </a:r>
            <a:r>
              <a:rPr lang="en-US" sz="2400" b="1" dirty="0">
                <a:solidFill>
                  <a:srgbClr val="000000"/>
                </a:solidFill>
                <a:latin typeface="Times" charset="0"/>
              </a:rPr>
              <a:t>then</a:t>
            </a:r>
          </a:p>
          <a:p>
            <a:pPr lvl="3" eaLnBrk="1" hangingPunct="1">
              <a:lnSpc>
                <a:spcPct val="90000"/>
              </a:lnSpc>
              <a:buFont typeface="Wingdings" charset="0"/>
              <a:buNone/>
            </a:pPr>
            <a:r>
              <a:rPr lang="en-US" sz="2400" b="1" dirty="0">
                <a:solidFill>
                  <a:srgbClr val="000000"/>
                </a:solidFill>
                <a:latin typeface="Times" charset="0"/>
              </a:rPr>
              <a:t>		return </a:t>
            </a:r>
            <a:r>
              <a:rPr lang="en-US" sz="2400" i="1" dirty="0">
                <a:solidFill>
                  <a:srgbClr val="000000"/>
                </a:solidFill>
                <a:latin typeface="Times" charset="0"/>
              </a:rPr>
              <a:t>k</a:t>
            </a:r>
          </a:p>
          <a:p>
            <a:pPr lvl="3" eaLnBrk="1" hangingPunct="1">
              <a:lnSpc>
                <a:spcPct val="90000"/>
              </a:lnSpc>
              <a:buFont typeface="Wingdings" charset="0"/>
              <a:buNone/>
            </a:pPr>
            <a:r>
              <a:rPr lang="en-US" sz="2400" b="1" dirty="0">
                <a:solidFill>
                  <a:srgbClr val="000000"/>
                </a:solidFill>
                <a:latin typeface="Times" charset="0"/>
              </a:rPr>
              <a:t>     else</a:t>
            </a:r>
          </a:p>
          <a:p>
            <a:pPr lvl="3" eaLnBrk="1" hangingPunct="1">
              <a:lnSpc>
                <a:spcPct val="90000"/>
              </a:lnSpc>
              <a:buFont typeface="Wingdings" charset="0"/>
              <a:buNone/>
            </a:pPr>
            <a:r>
              <a:rPr lang="en-US" sz="2400" b="1" dirty="0">
                <a:solidFill>
                  <a:srgbClr val="000000"/>
                </a:solidFill>
                <a:latin typeface="Times" charset="0"/>
              </a:rPr>
              <a:t>		return </a:t>
            </a:r>
            <a:r>
              <a:rPr lang="en-US" sz="2400" dirty="0" err="1">
                <a:solidFill>
                  <a:schemeClr val="tx2"/>
                </a:solidFill>
                <a:latin typeface="CMSS10" charset="0"/>
              </a:rPr>
              <a:t>BinaryFib</a:t>
            </a:r>
            <a:r>
              <a:rPr lang="en-US" sz="2400" dirty="0">
                <a:solidFill>
                  <a:srgbClr val="000000"/>
                </a:solidFill>
                <a:latin typeface="CMR10" charset="0"/>
              </a:rPr>
              <a:t>(</a:t>
            </a:r>
            <a:r>
              <a:rPr lang="en-US" sz="2400" i="1" dirty="0">
                <a:solidFill>
                  <a:srgbClr val="000000"/>
                </a:solidFill>
                <a:latin typeface="Times" charset="0"/>
              </a:rPr>
              <a:t>k </a:t>
            </a:r>
            <a:r>
              <a:rPr lang="en-US" sz="2400" dirty="0">
                <a:solidFill>
                  <a:srgbClr val="000000"/>
                </a:solidFill>
                <a:latin typeface="Symbol" charset="2"/>
                <a:cs typeface="Symbol" charset="2"/>
              </a:rPr>
              <a:t>-</a:t>
            </a:r>
            <a:r>
              <a:rPr lang="en-US" sz="2400" i="1" dirty="0">
                <a:solidFill>
                  <a:srgbClr val="000000"/>
                </a:solidFill>
                <a:latin typeface="CMSY10" charset="0"/>
              </a:rPr>
              <a:t> </a:t>
            </a:r>
            <a:r>
              <a:rPr lang="en-US" sz="2400" dirty="0">
                <a:solidFill>
                  <a:srgbClr val="000000"/>
                </a:solidFill>
                <a:latin typeface="Times" charset="0"/>
              </a:rPr>
              <a:t>1</a:t>
            </a:r>
            <a:r>
              <a:rPr lang="en-US" sz="2400" dirty="0">
                <a:solidFill>
                  <a:srgbClr val="000000"/>
                </a:solidFill>
                <a:latin typeface="CMR10" charset="0"/>
              </a:rPr>
              <a:t>) + </a:t>
            </a:r>
            <a:r>
              <a:rPr lang="en-US" sz="2400" dirty="0" err="1">
                <a:solidFill>
                  <a:schemeClr val="tx2"/>
                </a:solidFill>
                <a:latin typeface="CMSS10" charset="0"/>
              </a:rPr>
              <a:t>BinaryFib</a:t>
            </a:r>
            <a:r>
              <a:rPr lang="en-US" sz="2400" dirty="0">
                <a:solidFill>
                  <a:srgbClr val="000000"/>
                </a:solidFill>
                <a:latin typeface="CMR10" charset="0"/>
              </a:rPr>
              <a:t>(</a:t>
            </a:r>
            <a:r>
              <a:rPr lang="en-US" sz="2400" i="1" dirty="0">
                <a:solidFill>
                  <a:srgbClr val="000000"/>
                </a:solidFill>
                <a:latin typeface="Times" charset="0"/>
              </a:rPr>
              <a:t>k </a:t>
            </a:r>
            <a:r>
              <a:rPr lang="en-US" sz="2400" dirty="0">
                <a:solidFill>
                  <a:srgbClr val="000000"/>
                </a:solidFill>
                <a:latin typeface="Symbol" charset="2"/>
                <a:cs typeface="Symbol" charset="2"/>
              </a:rPr>
              <a:t>-</a:t>
            </a:r>
            <a:r>
              <a:rPr lang="en-US" sz="2400" i="1" dirty="0">
                <a:solidFill>
                  <a:srgbClr val="000000"/>
                </a:solidFill>
                <a:latin typeface="CMSY10" charset="0"/>
              </a:rPr>
              <a:t> </a:t>
            </a:r>
            <a:r>
              <a:rPr lang="en-US" sz="2400" dirty="0">
                <a:solidFill>
                  <a:srgbClr val="000000"/>
                </a:solidFill>
                <a:latin typeface="Times" charset="0"/>
              </a:rPr>
              <a:t>2</a:t>
            </a:r>
            <a:r>
              <a:rPr lang="en-US" sz="2400" dirty="0">
                <a:solidFill>
                  <a:srgbClr val="000000"/>
                </a:solidFill>
                <a:latin typeface="CMR10" charset="0"/>
              </a:rPr>
              <a:t>)</a:t>
            </a:r>
            <a:endParaRPr lang="en-US" sz="2400" dirty="0">
              <a:latin typeface="Tahoma" charset="0"/>
            </a:endParaRPr>
          </a:p>
        </p:txBody>
      </p:sp>
      <p:sp>
        <p:nvSpPr>
          <p:cNvPr id="31749" name="Date Placeholder 5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 smtClean="0"/>
              <a:t>© 2014 Goodrich, Tamassia, Goldwasser</a:t>
            </a:r>
            <a:endParaRPr lang="en-US" sz="1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Footer Placeholder 4"/>
          <p:cNvSpPr>
            <a:spLocks noGrp="1"/>
          </p:cNvSpPr>
          <p:nvPr>
            <p:ph type="ftr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/>
              <a:t>Recursion</a:t>
            </a:r>
          </a:p>
        </p:txBody>
      </p:sp>
      <p:sp>
        <p:nvSpPr>
          <p:cNvPr id="32770" name="Slide Number Placeholder 5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fld id="{A09DE9DB-F24F-FE42-A790-18BD8D233078}" type="slidenum">
              <a:rPr lang="en-US" sz="1400"/>
              <a:pPr eaLnBrk="1" hangingPunct="1"/>
              <a:t>16</a:t>
            </a:fld>
            <a:endParaRPr lang="en-US" sz="1400"/>
          </a:p>
        </p:txBody>
      </p:sp>
      <p:sp>
        <p:nvSpPr>
          <p:cNvPr id="327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>
                <a:latin typeface="Tahoma" charset="0"/>
              </a:rPr>
              <a:t>Analysis</a:t>
            </a:r>
          </a:p>
        </p:txBody>
      </p:sp>
      <p:sp>
        <p:nvSpPr>
          <p:cNvPr id="32772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838200" y="1600200"/>
            <a:ext cx="7924800" cy="4648200"/>
          </a:xfrm>
        </p:spPr>
        <p:txBody>
          <a:bodyPr/>
          <a:lstStyle/>
          <a:p>
            <a:pPr eaLnBrk="1" hangingPunct="1"/>
            <a:r>
              <a:rPr lang="en-US" sz="2400">
                <a:latin typeface="Tahoma" charset="0"/>
              </a:rPr>
              <a:t>Let n</a:t>
            </a:r>
            <a:r>
              <a:rPr lang="en-US" sz="2400" baseline="-25000">
                <a:latin typeface="Tahoma" charset="0"/>
              </a:rPr>
              <a:t>k</a:t>
            </a:r>
            <a:r>
              <a:rPr lang="en-US" sz="2400">
                <a:latin typeface="Tahoma" charset="0"/>
              </a:rPr>
              <a:t> be the number of recursive calls by </a:t>
            </a:r>
            <a:r>
              <a:rPr lang="en-US" sz="2400">
                <a:solidFill>
                  <a:schemeClr val="tx2"/>
                </a:solidFill>
                <a:latin typeface="Tahoma" charset="0"/>
              </a:rPr>
              <a:t>BinaryFib</a:t>
            </a:r>
            <a:r>
              <a:rPr lang="en-US" sz="2400">
                <a:latin typeface="Tahoma" charset="0"/>
              </a:rPr>
              <a:t>(k)</a:t>
            </a:r>
          </a:p>
          <a:p>
            <a:pPr lvl="1" eaLnBrk="1" hangingPunct="1"/>
            <a:r>
              <a:rPr lang="en-US" sz="2000" i="1">
                <a:latin typeface="Tahoma" charset="0"/>
              </a:rPr>
              <a:t>n</a:t>
            </a:r>
            <a:r>
              <a:rPr lang="en-US" sz="2000" baseline="-25000">
                <a:latin typeface="Tahoma" charset="0"/>
              </a:rPr>
              <a:t>0</a:t>
            </a:r>
            <a:r>
              <a:rPr lang="en-US" sz="2000">
                <a:latin typeface="Tahoma" charset="0"/>
              </a:rPr>
              <a:t> = 1	</a:t>
            </a:r>
          </a:p>
          <a:p>
            <a:pPr lvl="1" eaLnBrk="1" hangingPunct="1"/>
            <a:r>
              <a:rPr lang="en-US" sz="2000" i="1">
                <a:latin typeface="Tahoma" charset="0"/>
              </a:rPr>
              <a:t>n</a:t>
            </a:r>
            <a:r>
              <a:rPr lang="en-US" sz="2000" baseline="-25000">
                <a:latin typeface="Tahoma" charset="0"/>
              </a:rPr>
              <a:t>1</a:t>
            </a:r>
            <a:r>
              <a:rPr lang="en-US" sz="2000">
                <a:latin typeface="Tahoma" charset="0"/>
              </a:rPr>
              <a:t> = 1	</a:t>
            </a:r>
          </a:p>
          <a:p>
            <a:pPr lvl="1" eaLnBrk="1" hangingPunct="1"/>
            <a:r>
              <a:rPr lang="en-US" sz="2000" i="1">
                <a:latin typeface="Tahoma" charset="0"/>
              </a:rPr>
              <a:t>n</a:t>
            </a:r>
            <a:r>
              <a:rPr lang="en-US" sz="2000" baseline="-25000">
                <a:latin typeface="Tahoma" charset="0"/>
              </a:rPr>
              <a:t>2</a:t>
            </a:r>
            <a:r>
              <a:rPr lang="en-US" sz="2000">
                <a:latin typeface="Tahoma" charset="0"/>
              </a:rPr>
              <a:t> = </a:t>
            </a:r>
            <a:r>
              <a:rPr lang="en-US" sz="2000" i="1">
                <a:latin typeface="Tahoma" charset="0"/>
              </a:rPr>
              <a:t>n</a:t>
            </a:r>
            <a:r>
              <a:rPr lang="en-US" sz="2000" baseline="-25000">
                <a:latin typeface="Tahoma" charset="0"/>
              </a:rPr>
              <a:t>1</a:t>
            </a:r>
            <a:r>
              <a:rPr lang="en-US" sz="2000">
                <a:latin typeface="Tahoma" charset="0"/>
              </a:rPr>
              <a:t> + </a:t>
            </a:r>
            <a:r>
              <a:rPr lang="en-US" sz="2000" i="1">
                <a:latin typeface="Tahoma" charset="0"/>
              </a:rPr>
              <a:t>n</a:t>
            </a:r>
            <a:r>
              <a:rPr lang="en-US" sz="2000" baseline="-25000">
                <a:latin typeface="Tahoma" charset="0"/>
              </a:rPr>
              <a:t>0</a:t>
            </a:r>
            <a:r>
              <a:rPr lang="en-US" sz="2000">
                <a:latin typeface="Tahoma" charset="0"/>
              </a:rPr>
              <a:t> + 1 = 1 + 1 + 1 = 3	</a:t>
            </a:r>
          </a:p>
          <a:p>
            <a:pPr lvl="1" eaLnBrk="1" hangingPunct="1"/>
            <a:r>
              <a:rPr lang="en-US" sz="2000" i="1">
                <a:latin typeface="Tahoma" charset="0"/>
              </a:rPr>
              <a:t>n</a:t>
            </a:r>
            <a:r>
              <a:rPr lang="en-US" sz="2000" baseline="-25000">
                <a:latin typeface="Tahoma" charset="0"/>
              </a:rPr>
              <a:t>3</a:t>
            </a:r>
            <a:r>
              <a:rPr lang="en-US" sz="2000">
                <a:latin typeface="Tahoma" charset="0"/>
              </a:rPr>
              <a:t> = </a:t>
            </a:r>
            <a:r>
              <a:rPr lang="en-US" sz="2000" i="1">
                <a:latin typeface="Tahoma" charset="0"/>
              </a:rPr>
              <a:t>n</a:t>
            </a:r>
            <a:r>
              <a:rPr lang="en-US" sz="2000" baseline="-25000">
                <a:latin typeface="Tahoma" charset="0"/>
              </a:rPr>
              <a:t>2</a:t>
            </a:r>
            <a:r>
              <a:rPr lang="en-US" sz="2000">
                <a:latin typeface="Tahoma" charset="0"/>
              </a:rPr>
              <a:t> + </a:t>
            </a:r>
            <a:r>
              <a:rPr lang="en-US" sz="2000" i="1">
                <a:latin typeface="Tahoma" charset="0"/>
              </a:rPr>
              <a:t>n</a:t>
            </a:r>
            <a:r>
              <a:rPr lang="en-US" sz="2000" baseline="-25000">
                <a:latin typeface="Tahoma" charset="0"/>
              </a:rPr>
              <a:t>1</a:t>
            </a:r>
            <a:r>
              <a:rPr lang="en-US" sz="2000">
                <a:latin typeface="Tahoma" charset="0"/>
              </a:rPr>
              <a:t> + 1 = 3 + 1 + 1 = 5	</a:t>
            </a:r>
          </a:p>
          <a:p>
            <a:pPr lvl="1" eaLnBrk="1" hangingPunct="1"/>
            <a:r>
              <a:rPr lang="en-US" sz="2000" i="1">
                <a:latin typeface="Tahoma" charset="0"/>
              </a:rPr>
              <a:t>n</a:t>
            </a:r>
            <a:r>
              <a:rPr lang="en-US" sz="2000" baseline="-25000">
                <a:latin typeface="Tahoma" charset="0"/>
              </a:rPr>
              <a:t>4</a:t>
            </a:r>
            <a:r>
              <a:rPr lang="en-US" sz="2000">
                <a:latin typeface="Tahoma" charset="0"/>
              </a:rPr>
              <a:t> = </a:t>
            </a:r>
            <a:r>
              <a:rPr lang="en-US" sz="2000" i="1">
                <a:latin typeface="Tahoma" charset="0"/>
              </a:rPr>
              <a:t>n</a:t>
            </a:r>
            <a:r>
              <a:rPr lang="en-US" sz="2000" baseline="-25000">
                <a:latin typeface="Tahoma" charset="0"/>
              </a:rPr>
              <a:t>3</a:t>
            </a:r>
            <a:r>
              <a:rPr lang="en-US" sz="2000">
                <a:latin typeface="Tahoma" charset="0"/>
              </a:rPr>
              <a:t> + </a:t>
            </a:r>
            <a:r>
              <a:rPr lang="en-US" sz="2000" i="1">
                <a:latin typeface="Tahoma" charset="0"/>
              </a:rPr>
              <a:t>n</a:t>
            </a:r>
            <a:r>
              <a:rPr lang="en-US" sz="2000" baseline="-25000">
                <a:latin typeface="Tahoma" charset="0"/>
              </a:rPr>
              <a:t>2</a:t>
            </a:r>
            <a:r>
              <a:rPr lang="en-US" sz="2000">
                <a:latin typeface="Tahoma" charset="0"/>
              </a:rPr>
              <a:t> + 1 = 5 + 3 + 1 = 9	</a:t>
            </a:r>
          </a:p>
          <a:p>
            <a:pPr lvl="1" eaLnBrk="1" hangingPunct="1"/>
            <a:r>
              <a:rPr lang="en-US" sz="2000" i="1">
                <a:latin typeface="Tahoma" charset="0"/>
              </a:rPr>
              <a:t>n</a:t>
            </a:r>
            <a:r>
              <a:rPr lang="en-US" sz="2000" baseline="-25000">
                <a:latin typeface="Tahoma" charset="0"/>
              </a:rPr>
              <a:t>5</a:t>
            </a:r>
            <a:r>
              <a:rPr lang="en-US" sz="2000">
                <a:latin typeface="Tahoma" charset="0"/>
              </a:rPr>
              <a:t> = </a:t>
            </a:r>
            <a:r>
              <a:rPr lang="en-US" sz="2000" i="1">
                <a:latin typeface="Tahoma" charset="0"/>
              </a:rPr>
              <a:t>n</a:t>
            </a:r>
            <a:r>
              <a:rPr lang="en-US" sz="2000" baseline="-25000">
                <a:latin typeface="Tahoma" charset="0"/>
              </a:rPr>
              <a:t>4</a:t>
            </a:r>
            <a:r>
              <a:rPr lang="en-US" sz="2000">
                <a:latin typeface="Tahoma" charset="0"/>
              </a:rPr>
              <a:t> + </a:t>
            </a:r>
            <a:r>
              <a:rPr lang="en-US" sz="2000" i="1">
                <a:latin typeface="Tahoma" charset="0"/>
              </a:rPr>
              <a:t>n</a:t>
            </a:r>
            <a:r>
              <a:rPr lang="en-US" sz="2000" baseline="-25000">
                <a:latin typeface="Tahoma" charset="0"/>
              </a:rPr>
              <a:t>3</a:t>
            </a:r>
            <a:r>
              <a:rPr lang="en-US" sz="2000">
                <a:latin typeface="Tahoma" charset="0"/>
              </a:rPr>
              <a:t> + 1 = 9 + 5 + 1 = 15	</a:t>
            </a:r>
          </a:p>
          <a:p>
            <a:pPr lvl="1" eaLnBrk="1" hangingPunct="1"/>
            <a:r>
              <a:rPr lang="en-US" sz="2000" i="1">
                <a:latin typeface="Tahoma" charset="0"/>
              </a:rPr>
              <a:t>n</a:t>
            </a:r>
            <a:r>
              <a:rPr lang="en-US" sz="2000" baseline="-25000">
                <a:latin typeface="Tahoma" charset="0"/>
              </a:rPr>
              <a:t>6</a:t>
            </a:r>
            <a:r>
              <a:rPr lang="en-US" sz="2000">
                <a:latin typeface="Tahoma" charset="0"/>
              </a:rPr>
              <a:t> = </a:t>
            </a:r>
            <a:r>
              <a:rPr lang="en-US" sz="2000" i="1">
                <a:latin typeface="Tahoma" charset="0"/>
              </a:rPr>
              <a:t>n</a:t>
            </a:r>
            <a:r>
              <a:rPr lang="en-US" sz="2000" baseline="-25000">
                <a:latin typeface="Tahoma" charset="0"/>
              </a:rPr>
              <a:t>5</a:t>
            </a:r>
            <a:r>
              <a:rPr lang="en-US" sz="2000">
                <a:latin typeface="Tahoma" charset="0"/>
              </a:rPr>
              <a:t> + </a:t>
            </a:r>
            <a:r>
              <a:rPr lang="en-US" sz="2000" i="1">
                <a:latin typeface="Tahoma" charset="0"/>
              </a:rPr>
              <a:t>n</a:t>
            </a:r>
            <a:r>
              <a:rPr lang="en-US" sz="2000" baseline="-25000">
                <a:latin typeface="Tahoma" charset="0"/>
              </a:rPr>
              <a:t>4</a:t>
            </a:r>
            <a:r>
              <a:rPr lang="en-US" sz="2000">
                <a:latin typeface="Tahoma" charset="0"/>
              </a:rPr>
              <a:t> + 1 = 15 + 9 + 1 = 25	</a:t>
            </a:r>
          </a:p>
          <a:p>
            <a:pPr lvl="1" eaLnBrk="1" hangingPunct="1"/>
            <a:r>
              <a:rPr lang="en-US" sz="2000" i="1">
                <a:latin typeface="Tahoma" charset="0"/>
              </a:rPr>
              <a:t>n</a:t>
            </a:r>
            <a:r>
              <a:rPr lang="en-US" sz="2000" baseline="-25000">
                <a:latin typeface="Tahoma" charset="0"/>
              </a:rPr>
              <a:t>7</a:t>
            </a:r>
            <a:r>
              <a:rPr lang="en-US" sz="2000">
                <a:latin typeface="Tahoma" charset="0"/>
              </a:rPr>
              <a:t> = </a:t>
            </a:r>
            <a:r>
              <a:rPr lang="en-US" sz="2000" i="1">
                <a:latin typeface="Tahoma" charset="0"/>
              </a:rPr>
              <a:t>n</a:t>
            </a:r>
            <a:r>
              <a:rPr lang="en-US" sz="2000" baseline="-25000">
                <a:latin typeface="Tahoma" charset="0"/>
              </a:rPr>
              <a:t>6</a:t>
            </a:r>
            <a:r>
              <a:rPr lang="en-US" sz="2000">
                <a:latin typeface="Tahoma" charset="0"/>
              </a:rPr>
              <a:t> + </a:t>
            </a:r>
            <a:r>
              <a:rPr lang="en-US" sz="2000" i="1">
                <a:latin typeface="Tahoma" charset="0"/>
              </a:rPr>
              <a:t>n</a:t>
            </a:r>
            <a:r>
              <a:rPr lang="en-US" sz="2000" baseline="-25000">
                <a:latin typeface="Tahoma" charset="0"/>
              </a:rPr>
              <a:t>5</a:t>
            </a:r>
            <a:r>
              <a:rPr lang="en-US" sz="2000">
                <a:latin typeface="Tahoma" charset="0"/>
              </a:rPr>
              <a:t> + 1 = 25 + 15 + 1 = 41	</a:t>
            </a:r>
          </a:p>
          <a:p>
            <a:pPr lvl="1" eaLnBrk="1" hangingPunct="1"/>
            <a:r>
              <a:rPr lang="en-US" sz="2000" i="1">
                <a:latin typeface="Tahoma" charset="0"/>
              </a:rPr>
              <a:t>n</a:t>
            </a:r>
            <a:r>
              <a:rPr lang="en-US" sz="2000" baseline="-25000">
                <a:latin typeface="Tahoma" charset="0"/>
              </a:rPr>
              <a:t>8</a:t>
            </a:r>
            <a:r>
              <a:rPr lang="en-US" sz="2000">
                <a:latin typeface="Tahoma" charset="0"/>
              </a:rPr>
              <a:t> = </a:t>
            </a:r>
            <a:r>
              <a:rPr lang="en-US" sz="2000" i="1">
                <a:latin typeface="Tahoma" charset="0"/>
              </a:rPr>
              <a:t>n</a:t>
            </a:r>
            <a:r>
              <a:rPr lang="en-US" sz="2000" baseline="-25000">
                <a:latin typeface="Tahoma" charset="0"/>
              </a:rPr>
              <a:t>7</a:t>
            </a:r>
            <a:r>
              <a:rPr lang="en-US" sz="2000">
                <a:latin typeface="Tahoma" charset="0"/>
              </a:rPr>
              <a:t> + </a:t>
            </a:r>
            <a:r>
              <a:rPr lang="en-US" sz="2000" i="1">
                <a:latin typeface="Tahoma" charset="0"/>
              </a:rPr>
              <a:t>n</a:t>
            </a:r>
            <a:r>
              <a:rPr lang="en-US" sz="2000" baseline="-25000">
                <a:latin typeface="Tahoma" charset="0"/>
              </a:rPr>
              <a:t>6</a:t>
            </a:r>
            <a:r>
              <a:rPr lang="en-US" sz="2000">
                <a:latin typeface="Tahoma" charset="0"/>
              </a:rPr>
              <a:t> + 1 = 41 + 25 + 1 = 67</a:t>
            </a:r>
            <a:r>
              <a:rPr lang="en-US" sz="2000" i="1">
                <a:latin typeface="Tahoma" charset="0"/>
              </a:rPr>
              <a:t>.</a:t>
            </a:r>
          </a:p>
          <a:p>
            <a:pPr eaLnBrk="1" hangingPunct="1"/>
            <a:r>
              <a:rPr lang="en-US" sz="2400">
                <a:latin typeface="Tahoma" charset="0"/>
              </a:rPr>
              <a:t>Note that n</a:t>
            </a:r>
            <a:r>
              <a:rPr lang="en-US" sz="2400" baseline="-25000">
                <a:latin typeface="Tahoma" charset="0"/>
              </a:rPr>
              <a:t>k</a:t>
            </a:r>
            <a:r>
              <a:rPr lang="en-US" sz="2400">
                <a:latin typeface="Tahoma" charset="0"/>
              </a:rPr>
              <a:t> at least doubles every other time</a:t>
            </a:r>
          </a:p>
          <a:p>
            <a:pPr eaLnBrk="1" hangingPunct="1"/>
            <a:r>
              <a:rPr lang="en-US" sz="2400">
                <a:latin typeface="Tahoma" charset="0"/>
              </a:rPr>
              <a:t>That is, n</a:t>
            </a:r>
            <a:r>
              <a:rPr lang="en-US" sz="2400" baseline="-25000">
                <a:latin typeface="Tahoma" charset="0"/>
              </a:rPr>
              <a:t>k</a:t>
            </a:r>
            <a:r>
              <a:rPr lang="en-US" sz="2400">
                <a:latin typeface="Tahoma" charset="0"/>
              </a:rPr>
              <a:t> &gt; 2</a:t>
            </a:r>
            <a:r>
              <a:rPr lang="en-US" sz="2400" baseline="30000">
                <a:latin typeface="Tahoma" charset="0"/>
              </a:rPr>
              <a:t>k/2</a:t>
            </a:r>
            <a:r>
              <a:rPr lang="en-US" sz="2400">
                <a:latin typeface="Tahoma" charset="0"/>
              </a:rPr>
              <a:t>. It is exponential!</a:t>
            </a:r>
          </a:p>
          <a:p>
            <a:pPr lvl="1" eaLnBrk="1" hangingPunct="1"/>
            <a:endParaRPr lang="en-US" sz="2000">
              <a:latin typeface="Tahoma" charset="0"/>
            </a:endParaRPr>
          </a:p>
        </p:txBody>
      </p:sp>
      <p:sp>
        <p:nvSpPr>
          <p:cNvPr id="32773" name="Date Placeholder 5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 smtClean="0"/>
              <a:t>© 2014 Goodrich, Tamassia, Goldwasser</a:t>
            </a:r>
            <a:endParaRPr lang="en-US" sz="1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Footer Placeholder 4"/>
          <p:cNvSpPr>
            <a:spLocks noGrp="1"/>
          </p:cNvSpPr>
          <p:nvPr>
            <p:ph type="ftr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/>
              <a:t>Recursion</a:t>
            </a:r>
          </a:p>
        </p:txBody>
      </p:sp>
      <p:sp>
        <p:nvSpPr>
          <p:cNvPr id="33794" name="Slide Number Placeholder 5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fld id="{3E3A66DA-8637-914E-BB91-7E8F3B688738}" type="slidenum">
              <a:rPr lang="en-US" sz="1400"/>
              <a:pPr eaLnBrk="1" hangingPunct="1"/>
              <a:t>17</a:t>
            </a:fld>
            <a:endParaRPr lang="en-US" sz="1400"/>
          </a:p>
        </p:txBody>
      </p:sp>
      <p:sp>
        <p:nvSpPr>
          <p:cNvPr id="337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latin typeface="Tahoma" charset="0"/>
              </a:rPr>
              <a:t>A Better Fibonacci Algorithm </a:t>
            </a:r>
          </a:p>
        </p:txBody>
      </p:sp>
      <p:sp>
        <p:nvSpPr>
          <p:cNvPr id="33796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838200" y="1676400"/>
            <a:ext cx="7772400" cy="46482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sz="2800" dirty="0">
                <a:latin typeface="Tahoma" charset="0"/>
              </a:rPr>
              <a:t>Use linear recursion instead</a:t>
            </a:r>
          </a:p>
          <a:p>
            <a:pPr lvl="2" eaLnBrk="1" hangingPunct="1">
              <a:lnSpc>
                <a:spcPct val="80000"/>
              </a:lnSpc>
              <a:buFont typeface="Wingdings" charset="0"/>
              <a:buNone/>
            </a:pPr>
            <a:r>
              <a:rPr lang="en-US" b="1" dirty="0">
                <a:latin typeface="Tahoma" charset="0"/>
              </a:rPr>
              <a:t/>
            </a:r>
            <a:br>
              <a:rPr lang="en-US" b="1" dirty="0">
                <a:latin typeface="Tahoma" charset="0"/>
              </a:rPr>
            </a:br>
            <a:r>
              <a:rPr lang="en-US" b="1" dirty="0">
                <a:latin typeface="Tahoma" charset="0"/>
              </a:rPr>
              <a:t>Algorithm </a:t>
            </a:r>
            <a:r>
              <a:rPr lang="en-US" dirty="0" err="1">
                <a:solidFill>
                  <a:schemeClr val="tx2"/>
                </a:solidFill>
                <a:latin typeface="Tahoma" charset="0"/>
              </a:rPr>
              <a:t>LinearFibonacci</a:t>
            </a:r>
            <a:r>
              <a:rPr lang="en-US" dirty="0">
                <a:latin typeface="Tahoma" charset="0"/>
              </a:rPr>
              <a:t>(k):</a:t>
            </a:r>
          </a:p>
          <a:p>
            <a:pPr lvl="2" eaLnBrk="1" hangingPunct="1">
              <a:lnSpc>
                <a:spcPct val="80000"/>
              </a:lnSpc>
              <a:buFont typeface="Wingdings" charset="0"/>
              <a:buNone/>
            </a:pPr>
            <a:r>
              <a:rPr lang="en-US" b="1" dirty="0">
                <a:latin typeface="Tahoma" charset="0"/>
              </a:rPr>
              <a:t>      Input: </a:t>
            </a:r>
            <a:r>
              <a:rPr lang="en-US" dirty="0">
                <a:latin typeface="Tahoma" charset="0"/>
              </a:rPr>
              <a:t>A nonnegative integer k</a:t>
            </a:r>
          </a:p>
          <a:p>
            <a:pPr lvl="2" eaLnBrk="1" hangingPunct="1">
              <a:lnSpc>
                <a:spcPct val="80000"/>
              </a:lnSpc>
              <a:buFont typeface="Wingdings" charset="0"/>
              <a:buNone/>
            </a:pPr>
            <a:r>
              <a:rPr lang="en-US" b="1" dirty="0">
                <a:latin typeface="Tahoma" charset="0"/>
              </a:rPr>
              <a:t>      Output: </a:t>
            </a:r>
            <a:r>
              <a:rPr lang="en-US" dirty="0">
                <a:latin typeface="Tahoma" charset="0"/>
              </a:rPr>
              <a:t>Pair of Fibonacci numbers (</a:t>
            </a:r>
            <a:r>
              <a:rPr lang="en-US" dirty="0" err="1">
                <a:latin typeface="Tahoma" charset="0"/>
              </a:rPr>
              <a:t>F</a:t>
            </a:r>
            <a:r>
              <a:rPr lang="en-US" baseline="-25000" dirty="0" err="1">
                <a:latin typeface="Tahoma" charset="0"/>
              </a:rPr>
              <a:t>k</a:t>
            </a:r>
            <a:r>
              <a:rPr lang="en-US" baseline="-25000" dirty="0">
                <a:latin typeface="Tahoma" charset="0"/>
              </a:rPr>
              <a:t> </a:t>
            </a:r>
            <a:r>
              <a:rPr lang="en-US" dirty="0">
                <a:latin typeface="Tahoma" charset="0"/>
              </a:rPr>
              <a:t>, F</a:t>
            </a:r>
            <a:r>
              <a:rPr lang="en-US" baseline="-25000" dirty="0">
                <a:latin typeface="Tahoma" charset="0"/>
              </a:rPr>
              <a:t>k</a:t>
            </a:r>
            <a:r>
              <a:rPr lang="en-US" baseline="-25000" dirty="0">
                <a:latin typeface="Symbol" charset="0"/>
              </a:rPr>
              <a:t>-</a:t>
            </a:r>
            <a:r>
              <a:rPr lang="en-US" baseline="-25000" dirty="0">
                <a:latin typeface="Tahoma" charset="0"/>
              </a:rPr>
              <a:t>1</a:t>
            </a:r>
            <a:r>
              <a:rPr lang="en-US" dirty="0">
                <a:latin typeface="Tahoma" charset="0"/>
              </a:rPr>
              <a:t>)</a:t>
            </a:r>
          </a:p>
          <a:p>
            <a:pPr lvl="2" eaLnBrk="1" hangingPunct="1">
              <a:lnSpc>
                <a:spcPct val="80000"/>
              </a:lnSpc>
              <a:buFont typeface="Wingdings" charset="0"/>
              <a:buNone/>
            </a:pPr>
            <a:r>
              <a:rPr lang="en-US" b="1" dirty="0">
                <a:latin typeface="Tahoma" charset="0"/>
              </a:rPr>
              <a:t>     if </a:t>
            </a:r>
            <a:r>
              <a:rPr lang="en-US" dirty="0">
                <a:latin typeface="Tahoma" charset="0"/>
              </a:rPr>
              <a:t>k = 1 </a:t>
            </a:r>
            <a:r>
              <a:rPr lang="en-US" b="1" dirty="0">
                <a:latin typeface="Tahoma" charset="0"/>
              </a:rPr>
              <a:t>then</a:t>
            </a:r>
          </a:p>
          <a:p>
            <a:pPr lvl="2" eaLnBrk="1" hangingPunct="1">
              <a:lnSpc>
                <a:spcPct val="80000"/>
              </a:lnSpc>
              <a:buFont typeface="Wingdings" charset="0"/>
              <a:buNone/>
            </a:pPr>
            <a:r>
              <a:rPr lang="en-US" b="1" dirty="0">
                <a:latin typeface="Tahoma" charset="0"/>
              </a:rPr>
              <a:t>		return </a:t>
            </a:r>
            <a:r>
              <a:rPr lang="en-US" dirty="0">
                <a:latin typeface="Tahoma" charset="0"/>
              </a:rPr>
              <a:t>(k, 0)</a:t>
            </a:r>
          </a:p>
          <a:p>
            <a:pPr lvl="2" eaLnBrk="1" hangingPunct="1">
              <a:lnSpc>
                <a:spcPct val="80000"/>
              </a:lnSpc>
              <a:buFont typeface="Wingdings" charset="0"/>
              <a:buNone/>
            </a:pPr>
            <a:r>
              <a:rPr lang="en-US" b="1" dirty="0">
                <a:latin typeface="Tahoma" charset="0"/>
              </a:rPr>
              <a:t>     else</a:t>
            </a:r>
          </a:p>
          <a:p>
            <a:pPr lvl="2" eaLnBrk="1" hangingPunct="1">
              <a:lnSpc>
                <a:spcPct val="80000"/>
              </a:lnSpc>
              <a:buFont typeface="Wingdings" charset="0"/>
              <a:buNone/>
            </a:pPr>
            <a:r>
              <a:rPr lang="en-US" dirty="0">
                <a:latin typeface="Tahoma" charset="0"/>
              </a:rPr>
              <a:t>		(</a:t>
            </a:r>
            <a:r>
              <a:rPr lang="en-US" dirty="0" err="1">
                <a:latin typeface="Tahoma" charset="0"/>
              </a:rPr>
              <a:t>i</a:t>
            </a:r>
            <a:r>
              <a:rPr lang="en-US" dirty="0">
                <a:latin typeface="Tahoma" charset="0"/>
              </a:rPr>
              <a:t>,  j)  =  </a:t>
            </a:r>
            <a:r>
              <a:rPr lang="en-US" dirty="0" err="1">
                <a:solidFill>
                  <a:schemeClr val="tx2"/>
                </a:solidFill>
                <a:latin typeface="Tahoma" charset="0"/>
              </a:rPr>
              <a:t>LinearFibonacci</a:t>
            </a:r>
            <a:r>
              <a:rPr lang="en-US" dirty="0">
                <a:latin typeface="Tahoma" charset="0"/>
              </a:rPr>
              <a:t>(k </a:t>
            </a:r>
            <a:r>
              <a:rPr lang="en-US" dirty="0">
                <a:latin typeface="Symbol" charset="0"/>
              </a:rPr>
              <a:t>-</a:t>
            </a:r>
            <a:r>
              <a:rPr lang="en-US" dirty="0">
                <a:latin typeface="Tahoma" charset="0"/>
              </a:rPr>
              <a:t> 1)</a:t>
            </a:r>
          </a:p>
          <a:p>
            <a:pPr lvl="2" eaLnBrk="1" hangingPunct="1">
              <a:lnSpc>
                <a:spcPct val="80000"/>
              </a:lnSpc>
              <a:buFont typeface="Wingdings" charset="0"/>
              <a:buNone/>
            </a:pPr>
            <a:r>
              <a:rPr lang="en-US" b="1" dirty="0">
                <a:latin typeface="Tahoma" charset="0"/>
              </a:rPr>
              <a:t>		return </a:t>
            </a:r>
            <a:r>
              <a:rPr lang="en-US" dirty="0">
                <a:latin typeface="Tahoma" charset="0"/>
              </a:rPr>
              <a:t>(</a:t>
            </a:r>
            <a:r>
              <a:rPr lang="en-US" dirty="0" err="1">
                <a:latin typeface="Tahoma" charset="0"/>
              </a:rPr>
              <a:t>i</a:t>
            </a:r>
            <a:r>
              <a:rPr lang="en-US" dirty="0">
                <a:latin typeface="Tahoma" charset="0"/>
              </a:rPr>
              <a:t> +j, </a:t>
            </a:r>
            <a:r>
              <a:rPr lang="en-US" dirty="0" err="1">
                <a:latin typeface="Tahoma" charset="0"/>
              </a:rPr>
              <a:t>i</a:t>
            </a:r>
            <a:r>
              <a:rPr lang="en-US" dirty="0">
                <a:latin typeface="Tahoma" charset="0"/>
              </a:rPr>
              <a:t>)</a:t>
            </a:r>
            <a:br>
              <a:rPr lang="en-US" dirty="0">
                <a:latin typeface="Tahoma" charset="0"/>
              </a:rPr>
            </a:br>
            <a:endParaRPr lang="en-US" dirty="0">
              <a:latin typeface="Tahoma" charset="0"/>
            </a:endParaRPr>
          </a:p>
          <a:p>
            <a:pPr eaLnBrk="1" hangingPunct="1">
              <a:lnSpc>
                <a:spcPct val="80000"/>
              </a:lnSpc>
            </a:pPr>
            <a:r>
              <a:rPr lang="en-US" sz="2800" i="1" dirty="0">
                <a:latin typeface="Tahoma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Tahoma" charset="0"/>
              </a:rPr>
              <a:t>LinearFibonacci</a:t>
            </a:r>
            <a:r>
              <a:rPr lang="en-US" sz="2800" dirty="0">
                <a:solidFill>
                  <a:schemeClr val="tx2"/>
                </a:solidFill>
                <a:latin typeface="Tahoma" charset="0"/>
              </a:rPr>
              <a:t> </a:t>
            </a:r>
            <a:r>
              <a:rPr lang="en-US" sz="2800" dirty="0">
                <a:latin typeface="Tahoma" charset="0"/>
              </a:rPr>
              <a:t>makes k</a:t>
            </a:r>
            <a:r>
              <a:rPr lang="en-US" sz="2800" dirty="0">
                <a:latin typeface="Symbol" charset="0"/>
              </a:rPr>
              <a:t>-</a:t>
            </a:r>
            <a:r>
              <a:rPr lang="en-US" sz="2800" dirty="0">
                <a:latin typeface="Tahoma" charset="0"/>
              </a:rPr>
              <a:t>1 recursive calls</a:t>
            </a:r>
          </a:p>
        </p:txBody>
      </p:sp>
      <p:sp>
        <p:nvSpPr>
          <p:cNvPr id="33797" name="Date Placeholder 5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 smtClean="0"/>
              <a:t>© 2014 Goodrich, Tamassia, Goldwasser</a:t>
            </a:r>
            <a:endParaRPr lang="en-US" sz="1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Tower of </a:t>
            </a:r>
            <a:r>
              <a:rPr lang="en-US" b="1" dirty="0" smtClean="0"/>
              <a:t>Hanoi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905000"/>
            <a:ext cx="6553200" cy="4114800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Tower of Hanoi is a mathematical puzzle where we have three rods and n disks. The objective of the puzzle is to move the entire stack to another rod, obeying the following simple rules: </a:t>
            </a:r>
          </a:p>
          <a:p>
            <a:pPr lvl="1"/>
            <a:r>
              <a:rPr lang="en-US" dirty="0"/>
              <a:t>Only one disk can be moved at a time.</a:t>
            </a:r>
          </a:p>
          <a:p>
            <a:pPr lvl="1"/>
            <a:r>
              <a:rPr lang="en-US" dirty="0"/>
              <a:t>Each move consists of taking the upper disk from one of the stacks and placing it on top of another stack i.e. a disk can only be moved if it is the uppermost disk on a stack.</a:t>
            </a:r>
          </a:p>
          <a:p>
            <a:pPr lvl="1"/>
            <a:r>
              <a:rPr lang="en-US" dirty="0"/>
              <a:t>No disk may be placed on top of a smaller disk.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2014 Goodrich, Tamassia, Goldwasser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E71B39E-2B67-9942-90F9-67F1E20F1D89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Recursion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70593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Tower of Hanoi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2014 Goodrich, Tamassia, Goldwasser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E71B39E-2B67-9942-90F9-67F1E20F1D89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Recursion</a:t>
            </a:r>
            <a:endParaRPr lang="en-US"/>
          </a:p>
        </p:txBody>
      </p:sp>
      <p:pic>
        <p:nvPicPr>
          <p:cNvPr id="27650" name="Picture 2" descr="Lightbox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2019300"/>
            <a:ext cx="6515100" cy="3657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88516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Blueprint">
  <a:themeElements>
    <a:clrScheme name="">
      <a:dk1>
        <a:srgbClr val="40458C"/>
      </a:dk1>
      <a:lt1>
        <a:srgbClr val="FFFFFF"/>
      </a:lt1>
      <a:dk2>
        <a:srgbClr val="BE2D00"/>
      </a:dk2>
      <a:lt2>
        <a:srgbClr val="B7C1EB"/>
      </a:lt2>
      <a:accent1>
        <a:srgbClr val="ECD882"/>
      </a:accent1>
      <a:accent2>
        <a:srgbClr val="577052"/>
      </a:accent2>
      <a:accent3>
        <a:srgbClr val="FFFFFF"/>
      </a:accent3>
      <a:accent4>
        <a:srgbClr val="353A77"/>
      </a:accent4>
      <a:accent5>
        <a:srgbClr val="F4E9C1"/>
      </a:accent5>
      <a:accent6>
        <a:srgbClr val="4E6549"/>
      </a:accent6>
      <a:hlink>
        <a:srgbClr val="6F89F7"/>
      </a:hlink>
      <a:folHlink>
        <a:srgbClr val="CFDBFD"/>
      </a:folHlink>
    </a:clrScheme>
    <a:fontScheme name="Blueprint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FFFFFF"/>
        </a:solidFill>
        <a:ln w="0">
          <a:solidFill>
            <a:srgbClr val="000000"/>
          </a:solidFill>
          <a:round/>
          <a:headEnd/>
          <a:tailEnd/>
        </a:ln>
      </a:spPr>
      <a:bodyPr/>
      <a:lstStyle>
        <a:defPPr>
          <a:defRPr/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lnDef>
  </a:objectDefaults>
  <a:extraClrSchemeLst>
    <a:extraClrScheme>
      <a:clrScheme name="Blueprint 1">
        <a:dk1>
          <a:srgbClr val="000000"/>
        </a:dk1>
        <a:lt1>
          <a:srgbClr val="FFFFFF"/>
        </a:lt1>
        <a:dk2>
          <a:srgbClr val="40458C"/>
        </a:dk2>
        <a:lt2>
          <a:srgbClr val="FFFFCC"/>
        </a:lt2>
        <a:accent1>
          <a:srgbClr val="8D8DB3"/>
        </a:accent1>
        <a:accent2>
          <a:srgbClr val="B2B2B2"/>
        </a:accent2>
        <a:accent3>
          <a:srgbClr val="AFB0C5"/>
        </a:accent3>
        <a:accent4>
          <a:srgbClr val="DADADA"/>
        </a:accent4>
        <a:accent5>
          <a:srgbClr val="C5C5D6"/>
        </a:accent5>
        <a:accent6>
          <a:srgbClr val="A1A1A1"/>
        </a:accent6>
        <a:hlink>
          <a:srgbClr val="6F89F7"/>
        </a:hlink>
        <a:folHlink>
          <a:srgbClr val="4F56A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2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3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4D4D4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4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4AF5D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5">
        <a:dk1>
          <a:srgbClr val="000000"/>
        </a:dk1>
        <a:lt1>
          <a:srgbClr val="FFFFFF"/>
        </a:lt1>
        <a:dk2>
          <a:srgbClr val="003366"/>
        </a:dk2>
        <a:lt2>
          <a:srgbClr val="CCFFCC"/>
        </a:lt2>
        <a:accent1>
          <a:srgbClr val="006699"/>
        </a:accent1>
        <a:accent2>
          <a:srgbClr val="009999"/>
        </a:accent2>
        <a:accent3>
          <a:srgbClr val="AAADB8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99CC"/>
        </a:hlink>
        <a:folHlink>
          <a:srgbClr val="00458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6">
        <a:dk1>
          <a:srgbClr val="000000"/>
        </a:dk1>
        <a:lt1>
          <a:srgbClr val="FFFFFF"/>
        </a:lt1>
        <a:dk2>
          <a:srgbClr val="004A48"/>
        </a:dk2>
        <a:lt2>
          <a:srgbClr val="33CCCC"/>
        </a:lt2>
        <a:accent1>
          <a:srgbClr val="006699"/>
        </a:accent1>
        <a:accent2>
          <a:srgbClr val="009999"/>
        </a:accent2>
        <a:accent3>
          <a:srgbClr val="AAB1B1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CC99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7">
        <a:dk1>
          <a:srgbClr val="000000"/>
        </a:dk1>
        <a:lt1>
          <a:srgbClr val="FFFFFF"/>
        </a:lt1>
        <a:dk2>
          <a:srgbClr val="333300"/>
        </a:dk2>
        <a:lt2>
          <a:srgbClr val="FFFFCC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808000"/>
        </a:hlink>
        <a:folHlink>
          <a:srgbClr val="525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8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3"/>
        </a:accent5>
        <a:accent6>
          <a:srgbClr val="73B0B5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Designs\Blueprint.pot</Template>
  <TotalTime>6350</TotalTime>
  <Words>1067</Words>
  <Application>Microsoft Office PowerPoint</Application>
  <PresentationFormat>On-screen Show (4:3)</PresentationFormat>
  <Paragraphs>299</Paragraphs>
  <Slides>19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33" baseType="lpstr">
      <vt:lpstr>ＭＳ Ｐゴシック</vt:lpstr>
      <vt:lpstr>Arial</vt:lpstr>
      <vt:lpstr>CMMI10</vt:lpstr>
      <vt:lpstr>CMR10</vt:lpstr>
      <vt:lpstr>CMSS10</vt:lpstr>
      <vt:lpstr>CMSY10</vt:lpstr>
      <vt:lpstr>CMSY8</vt:lpstr>
      <vt:lpstr>Symbol</vt:lpstr>
      <vt:lpstr>Tahoma</vt:lpstr>
      <vt:lpstr>Times</vt:lpstr>
      <vt:lpstr>Times New Roman</vt:lpstr>
      <vt:lpstr>Wingdings</vt:lpstr>
      <vt:lpstr>Blueprint</vt:lpstr>
      <vt:lpstr>Equation</vt:lpstr>
      <vt:lpstr>Recursion</vt:lpstr>
      <vt:lpstr>The Recursion Pattern</vt:lpstr>
      <vt:lpstr>Content of a Recursive Method</vt:lpstr>
      <vt:lpstr>Visualizing Recursion</vt:lpstr>
      <vt:lpstr>Binary Search</vt:lpstr>
      <vt:lpstr>Visualizing Binary Search</vt:lpstr>
      <vt:lpstr>Analyzing Binary Search</vt:lpstr>
      <vt:lpstr>Linear Recursion</vt:lpstr>
      <vt:lpstr>Example of Linear Recursion</vt:lpstr>
      <vt:lpstr>Reversing an Array</vt:lpstr>
      <vt:lpstr>Defining Arguments for Recursion</vt:lpstr>
      <vt:lpstr>Tail Recursion</vt:lpstr>
      <vt:lpstr>Binary Recursion</vt:lpstr>
      <vt:lpstr>Another Binary Recursive Method</vt:lpstr>
      <vt:lpstr>Computing Fibonacci Numbers</vt:lpstr>
      <vt:lpstr>Analysis</vt:lpstr>
      <vt:lpstr>A Better Fibonacci Algorithm </vt:lpstr>
      <vt:lpstr>Tower of Hanoi</vt:lpstr>
      <vt:lpstr>Tower of Hanoi</vt:lpstr>
    </vt:vector>
  </TitlesOfParts>
  <Company>Brown University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Analysis of Algorithms</dc:title>
  <dc:creator>Roberto Tamassia</dc:creator>
  <cp:lastModifiedBy>Houssein Dhayné</cp:lastModifiedBy>
  <cp:revision>460</cp:revision>
  <cp:lastPrinted>2014-03-16T19:02:44Z</cp:lastPrinted>
  <dcterms:created xsi:type="dcterms:W3CDTF">2002-01-21T02:22:10Z</dcterms:created>
  <dcterms:modified xsi:type="dcterms:W3CDTF">2021-11-15T04:04:58Z</dcterms:modified>
</cp:coreProperties>
</file>