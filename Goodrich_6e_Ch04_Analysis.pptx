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8" r:id="rId3"/>
    <p:sldId id="259" r:id="rId4"/>
    <p:sldId id="260" r:id="rId5"/>
    <p:sldId id="261" r:id="rId6"/>
    <p:sldId id="268" r:id="rId7"/>
    <p:sldId id="289" r:id="rId8"/>
    <p:sldId id="264" r:id="rId9"/>
    <p:sldId id="265" r:id="rId10"/>
    <p:sldId id="266" r:id="rId11"/>
    <p:sldId id="267" r:id="rId12"/>
    <p:sldId id="291" r:id="rId13"/>
    <p:sldId id="269" r:id="rId14"/>
    <p:sldId id="270" r:id="rId15"/>
    <p:sldId id="274" r:id="rId16"/>
    <p:sldId id="282" r:id="rId17"/>
    <p:sldId id="271" r:id="rId18"/>
    <p:sldId id="275" r:id="rId19"/>
    <p:sldId id="276" r:id="rId20"/>
    <p:sldId id="280" r:id="rId21"/>
    <p:sldId id="277" r:id="rId22"/>
    <p:sldId id="278" r:id="rId23"/>
    <p:sldId id="292" r:id="rId24"/>
    <p:sldId id="284" r:id="rId25"/>
    <p:sldId id="286" r:id="rId26"/>
    <p:sldId id="288" r:id="rId27"/>
    <p:sldId id="287" r:id="rId28"/>
  </p:sldIdLst>
  <p:sldSz cx="9144000" cy="6858000" type="screen4x3"/>
  <p:notesSz cx="7302500" cy="9588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1194" y="-3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76460F28-81D1-204C-8EAD-7BB90C565C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87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>
              <a:defRPr sz="13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75C754CF-559A-E643-8258-0586FA04E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495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5134516-A4FF-E840-951C-010A2BB09342}" type="slidenum">
              <a:rPr lang="en-US" sz="1300"/>
              <a:pPr eaLnBrk="1" hangingPunct="1"/>
              <a:t>6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82154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7ED4CFC6-59AA-A34E-AB31-8BF0790D2E61}" type="slidenum">
              <a:rPr lang="en-US" sz="1300"/>
              <a:pPr eaLnBrk="1" hangingPunct="1"/>
              <a:t>19</a:t>
            </a:fld>
            <a:endParaRPr lang="en-US" sz="130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838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924D2A4-1858-0942-ABB8-66A018322166}" type="slidenum">
              <a:rPr lang="en-US" sz="1300"/>
              <a:pPr eaLnBrk="1" hangingPunct="1"/>
              <a:t>27</a:t>
            </a:fld>
            <a:endParaRPr lang="en-US" sz="1300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6515" tIns="48257" rIns="96515" bIns="48257"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471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Date Placeholder 7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70" name="Slide Number Placeholder 7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B42A1-F202-7448-97D9-9634B61837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1" name="Footer Placeholder 7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33694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Analysis of Algorithms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45C1F5-68C4-3D40-BD9B-61378355F3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0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Analysis of Algorithms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DED2A3-9287-3642-82BC-ECFD918B99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75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Analysis of Algorithms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FE420-2C80-7A43-BC88-EA20DCA0D1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5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Analysis of Algorithms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8688C-2390-0D49-9F8E-3DC9737E0E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33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Analysis of Algorithms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AFFF2C-90E1-4D45-8BE6-3EB067C423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4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 w 43195"/>
                  <a:gd name="T1" fmla="*/ 0 h 43200"/>
                  <a:gd name="T2" fmla="*/ 0 w 43195"/>
                  <a:gd name="T3" fmla="*/ 1 h 43200"/>
                  <a:gd name="T4" fmla="*/ 1 w 43195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© 2014 Goodrich, Tamassia, Goldwasser</a:t>
            </a:r>
            <a:endParaRPr 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Analysis of Algorithms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23E1EFB8-DF9E-1342-8245-F2F6DE1CC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2" r:id="rId2"/>
    <p:sldLayoutId id="2147483703" r:id="rId3"/>
    <p:sldLayoutId id="2147483704" r:id="rId4"/>
    <p:sldLayoutId id="2147483705" r:id="rId5"/>
    <p:sldLayoutId id="2147483706" r:id="rId6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q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n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charset="0"/>
        <a:buChar char="w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8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9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1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1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Analysis of Algorithms</a:t>
            </a:r>
          </a:p>
        </p:txBody>
      </p:sp>
      <p:sp>
        <p:nvSpPr>
          <p:cNvPr id="10242" name="Rectangle 9"/>
          <p:cNvSpPr>
            <a:spLocks noChangeArrowheads="1"/>
          </p:cNvSpPr>
          <p:nvPr/>
        </p:nvSpPr>
        <p:spPr bwMode="auto">
          <a:xfrm>
            <a:off x="4497388" y="4268788"/>
            <a:ext cx="1366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>
                <a:solidFill>
                  <a:srgbClr val="800000"/>
                </a:solidFill>
                <a:latin typeface="Times" charset="0"/>
              </a:rPr>
              <a:t>Algorithm</a:t>
            </a:r>
            <a:endParaRPr lang="en-US">
              <a:solidFill>
                <a:srgbClr val="800000"/>
              </a:solidFill>
            </a:endParaRPr>
          </a:p>
        </p:txBody>
      </p:sp>
      <p:sp>
        <p:nvSpPr>
          <p:cNvPr id="10243" name="Rectangle 10"/>
          <p:cNvSpPr>
            <a:spLocks noChangeArrowheads="1"/>
          </p:cNvSpPr>
          <p:nvPr/>
        </p:nvSpPr>
        <p:spPr bwMode="auto">
          <a:xfrm>
            <a:off x="3035300" y="4267200"/>
            <a:ext cx="73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>
                <a:solidFill>
                  <a:srgbClr val="800000"/>
                </a:solidFill>
                <a:latin typeface="Times" charset="0"/>
              </a:rPr>
              <a:t>Input</a:t>
            </a:r>
            <a:endParaRPr lang="en-US">
              <a:solidFill>
                <a:srgbClr val="800000"/>
              </a:solidFill>
            </a:endParaRPr>
          </a:p>
        </p:txBody>
      </p:sp>
      <p:sp>
        <p:nvSpPr>
          <p:cNvPr id="10244" name="Rectangle 76"/>
          <p:cNvSpPr>
            <a:spLocks noChangeArrowheads="1"/>
          </p:cNvSpPr>
          <p:nvPr/>
        </p:nvSpPr>
        <p:spPr bwMode="auto">
          <a:xfrm>
            <a:off x="6502400" y="4268788"/>
            <a:ext cx="962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>
                <a:solidFill>
                  <a:srgbClr val="800000"/>
                </a:solidFill>
                <a:latin typeface="Times" charset="0"/>
              </a:rPr>
              <a:t>Output</a:t>
            </a:r>
            <a:endParaRPr lang="en-US">
              <a:solidFill>
                <a:srgbClr val="800000"/>
              </a:solidFill>
            </a:endParaRPr>
          </a:p>
        </p:txBody>
      </p:sp>
      <p:sp>
        <p:nvSpPr>
          <p:cNvPr id="10245" name="AutoShape 154"/>
          <p:cNvSpPr>
            <a:spLocks noChangeArrowheads="1"/>
          </p:cNvSpPr>
          <p:nvPr/>
        </p:nvSpPr>
        <p:spPr bwMode="auto">
          <a:xfrm>
            <a:off x="4095750" y="35687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AutoShape 155"/>
          <p:cNvSpPr>
            <a:spLocks noChangeArrowheads="1"/>
          </p:cNvSpPr>
          <p:nvPr/>
        </p:nvSpPr>
        <p:spPr bwMode="auto">
          <a:xfrm>
            <a:off x="5837238" y="3570288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rgbClr val="E4BB0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Date Placeholder 13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sp>
        <p:nvSpPr>
          <p:cNvPr id="10248" name="Slide Number Placeholder 13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2C272A3-FDE4-A54B-9EE8-9E902CB25656}" type="slidenum">
              <a:rPr lang="en-US" sz="1400"/>
              <a:pPr eaLnBrk="1" hangingPunct="1"/>
              <a:t>1</a:t>
            </a:fld>
            <a:endParaRPr lang="en-US" sz="1400"/>
          </a:p>
        </p:txBody>
      </p:sp>
      <p:sp>
        <p:nvSpPr>
          <p:cNvPr id="10249" name="Footer Placeholder 137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pic>
        <p:nvPicPr>
          <p:cNvPr id="7" name="Picture 6" descr="BU005259.png"/>
          <p:cNvPicPr>
            <a:picLocks noChangeAspect="1"/>
          </p:cNvPicPr>
          <p:nvPr/>
        </p:nvPicPr>
        <p:blipFill>
          <a:blip r:embed="rId2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3352800"/>
            <a:ext cx="989322" cy="884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51" name="Picture 9" descr="skd188086sdc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124200"/>
            <a:ext cx="838200" cy="109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2" name="Picture 10" descr="AA026348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411538"/>
            <a:ext cx="1268413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ubtitle 1"/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6629400" cy="9906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Presentation for use with the textbook </a:t>
            </a:r>
            <a:r>
              <a:rPr lang="en-US" sz="1800" dirty="0" smtClean="0">
                <a:solidFill>
                  <a:schemeClr val="tx2"/>
                </a:solidFill>
              </a:rPr>
              <a:t>Data Structures and Algorithms in Java, 6</a:t>
            </a:r>
            <a:r>
              <a:rPr lang="en-US" sz="1800" baseline="30000" dirty="0" smtClean="0">
                <a:solidFill>
                  <a:schemeClr val="tx2"/>
                </a:solidFill>
              </a:rPr>
              <a:t>th</a:t>
            </a:r>
            <a:r>
              <a:rPr lang="en-US" sz="1800" dirty="0" smtClean="0">
                <a:solidFill>
                  <a:schemeClr val="tx2"/>
                </a:solidFill>
              </a:rPr>
              <a:t> edition</a:t>
            </a:r>
            <a:r>
              <a:rPr lang="en-US" sz="1800" dirty="0" smtClean="0"/>
              <a:t>, by M. T. Goodrich, R. Tamassia, and M. H. Goldwasser, Wiley, 2014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112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967690A-97FD-FC44-9997-A670E4E08793}" type="slidenum">
              <a:rPr lang="en-US" sz="1400"/>
              <a:pPr eaLnBrk="1" hangingPunct="1"/>
              <a:t>2</a:t>
            </a:fld>
            <a:endParaRPr 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Running Time</a:t>
            </a:r>
          </a:p>
        </p:txBody>
      </p:sp>
      <p:sp>
        <p:nvSpPr>
          <p:cNvPr id="1126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4419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Most algorithms transform input objects into output objects.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The running time of an algorithm typically grows with the input size.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Average case time is often difficult to determine.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We focus on the worst case running time.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Tahoma" charset="0"/>
              </a:rPr>
              <a:t>Easier to analyze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Tahoma" charset="0"/>
              </a:rPr>
              <a:t>Crucial to applications such as games, finance and robotics</a:t>
            </a:r>
          </a:p>
        </p:txBody>
      </p:sp>
      <p:graphicFrame>
        <p:nvGraphicFramePr>
          <p:cNvPr id="11269" name="Object 4"/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724400" y="1676400"/>
          <a:ext cx="3943350" cy="420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Chart" r:id="rId3" imgW="3733800" imgH="3733800" progId="MSGraph.Chart.8">
                  <p:embed followColorScheme="full"/>
                </p:oleObj>
              </mc:Choice>
              <mc:Fallback>
                <p:oleObj name="Chart" r:id="rId3" imgW="3733800" imgH="3733800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3943350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122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3688B5A-A147-A646-AF09-9A7E7C2586AE}" type="slidenum">
              <a:rPr lang="en-US" sz="1400"/>
              <a:pPr eaLnBrk="1" hangingPunct="1"/>
              <a:t>3</a:t>
            </a:fld>
            <a:endParaRPr 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Experimental </a:t>
            </a:r>
            <a:r>
              <a:rPr lang="en-US" dirty="0" smtClean="0">
                <a:latin typeface="Tahoma" charset="0"/>
              </a:rPr>
              <a:t/>
            </a:r>
            <a:br>
              <a:rPr lang="en-US" dirty="0" smtClean="0">
                <a:latin typeface="Tahoma" charset="0"/>
              </a:rPr>
            </a:br>
            <a:r>
              <a:rPr lang="en-US" dirty="0" smtClean="0">
                <a:latin typeface="Tahoma" charset="0"/>
              </a:rPr>
              <a:t>Studies</a:t>
            </a:r>
            <a:endParaRPr lang="en-US" dirty="0">
              <a:latin typeface="Tahoma" charset="0"/>
            </a:endParaRPr>
          </a:p>
        </p:txBody>
      </p:sp>
      <p:sp>
        <p:nvSpPr>
          <p:cNvPr id="1229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3581400" cy="357394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Write a program implementing the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Run the program with inputs of varying size and composition, noting the time needed</a:t>
            </a:r>
            <a:r>
              <a:rPr lang="en-US" sz="2400" dirty="0" smtClean="0">
                <a:latin typeface="Tahoma" charset="0"/>
              </a:rPr>
              <a:t>:</a:t>
            </a:r>
            <a:endParaRPr lang="en-US" sz="2400" dirty="0">
              <a:latin typeface="Tahoma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Plot the results</a:t>
            </a:r>
          </a:p>
        </p:txBody>
      </p:sp>
      <p:sp>
        <p:nvSpPr>
          <p:cNvPr id="1229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7" y="5105400"/>
            <a:ext cx="8920003" cy="1295400"/>
          </a:xfrm>
          <a:prstGeom prst="rect">
            <a:avLst/>
          </a:prstGeom>
        </p:spPr>
      </p:pic>
      <p:graphicFrame>
        <p:nvGraphicFramePr>
          <p:cNvPr id="12293" name="Object 4"/>
          <p:cNvGraphicFramePr>
            <a:graphicFrameLocks noGrp="1" noChangeAspect="1"/>
          </p:cNvGraphicFramePr>
          <p:nvPr>
            <p:ph type="chart" sz="half" idx="2"/>
            <p:extLst>
              <p:ext uri="{D42A27DB-BD31-4B8C-83A1-F6EECF244321}">
                <p14:modId xmlns:p14="http://schemas.microsoft.com/office/powerpoint/2010/main" val="3816937262"/>
              </p:ext>
            </p:extLst>
          </p:nvPr>
        </p:nvGraphicFramePr>
        <p:xfrm>
          <a:off x="4267200" y="228600"/>
          <a:ext cx="4824413" cy="506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Chart" r:id="rId4" imgW="4191000" imgH="4127500" progId="MSGraph.Chart.8">
                  <p:embed followColorScheme="full"/>
                </p:oleObj>
              </mc:Choice>
              <mc:Fallback>
                <p:oleObj name="Chart" r:id="rId4" imgW="4191000" imgH="4127500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28600"/>
                        <a:ext cx="4824413" cy="5063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49B7914-5DCF-2D47-BA11-0C89E3B3A4FB}" type="slidenum">
              <a:rPr lang="en-US" sz="1400"/>
              <a:pPr eaLnBrk="1" hangingPunct="1"/>
              <a:t>4</a:t>
            </a:fld>
            <a:endParaRPr 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Limitations of Experiments</a:t>
            </a:r>
          </a:p>
        </p:txBody>
      </p:sp>
      <p:sp>
        <p:nvSpPr>
          <p:cNvPr id="1331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8077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latin typeface="Tahoma" charset="0"/>
              </a:rPr>
              <a:t>It is necessary to implement the algorithm, which may be difficult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ahoma" charset="0"/>
              </a:rPr>
              <a:t>Results may not be indicative of the running time on other inputs not included in the experiment.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ahoma" charset="0"/>
              </a:rPr>
              <a:t>In order to compare two algorithms, the same hardware and software environments must be used</a:t>
            </a:r>
          </a:p>
        </p:txBody>
      </p:sp>
      <p:sp>
        <p:nvSpPr>
          <p:cNvPr id="13317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pic>
        <p:nvPicPr>
          <p:cNvPr id="13318" name="Picture 3" descr="skd188257sdc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800600"/>
            <a:ext cx="1916113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5F40199E-1946-6E4B-893F-0ED72128E568}" type="slidenum">
              <a:rPr lang="en-US" sz="1400"/>
              <a:pPr eaLnBrk="1" hangingPunct="1"/>
              <a:t>5</a:t>
            </a:fld>
            <a:endParaRPr lang="en-US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Theoretical Analysis</a:t>
            </a:r>
          </a:p>
        </p:txBody>
      </p:sp>
      <p:sp>
        <p:nvSpPr>
          <p:cNvPr id="1434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2672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Uses a high-level description of the algorithm instead of an implementation</a:t>
            </a:r>
          </a:p>
          <a:p>
            <a:pPr eaLnBrk="1" hangingPunct="1"/>
            <a:r>
              <a:rPr lang="en-US" dirty="0">
                <a:latin typeface="Tahoma" charset="0"/>
              </a:rPr>
              <a:t>Characterizes running time as a function of the input size, </a:t>
            </a:r>
            <a:r>
              <a:rPr lang="en-US" dirty="0" smtClean="0">
                <a:latin typeface="Tahoma" charset="0"/>
              </a:rPr>
              <a:t>n</a:t>
            </a:r>
            <a:endParaRPr lang="en-US" dirty="0">
              <a:latin typeface="Tahoma" charset="0"/>
            </a:endParaRPr>
          </a:p>
          <a:p>
            <a:pPr eaLnBrk="1" hangingPunct="1"/>
            <a:r>
              <a:rPr lang="en-US" dirty="0">
                <a:latin typeface="Tahoma" charset="0"/>
              </a:rPr>
              <a:t>Takes into account all possible inputs</a:t>
            </a:r>
          </a:p>
          <a:p>
            <a:pPr eaLnBrk="1" hangingPunct="1"/>
            <a:r>
              <a:rPr lang="en-US" dirty="0">
                <a:latin typeface="Tahoma" charset="0"/>
              </a:rPr>
              <a:t>Allows us to evaluate the speed of an algorithm independent of the hardware/software environment</a:t>
            </a:r>
          </a:p>
        </p:txBody>
      </p:sp>
      <p:graphicFrame>
        <p:nvGraphicFramePr>
          <p:cNvPr id="14341" name="Object 4"/>
          <p:cNvGraphicFramePr>
            <a:graphicFrameLocks noChangeAspect="1"/>
          </p:cNvGraphicFramePr>
          <p:nvPr/>
        </p:nvGraphicFramePr>
        <p:xfrm>
          <a:off x="7162800" y="228600"/>
          <a:ext cx="14954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" name="Clip" r:id="rId3" imgW="2310233" imgH="3176167" progId="MS_ClipArt_Gallery.2">
                  <p:embed/>
                </p:oleObj>
              </mc:Choice>
              <mc:Fallback>
                <p:oleObj name="Clip" r:id="rId3" imgW="2310233" imgH="3176167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28600"/>
                        <a:ext cx="1495425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184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26E93DD-1F55-5649-850E-A44994A583C8}" type="slidenum">
              <a:rPr lang="en-US" sz="1400"/>
              <a:pPr eaLnBrk="1" hangingPunct="1"/>
              <a:t>6</a:t>
            </a:fld>
            <a:endParaRPr 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latin typeface="Tahoma" charset="0"/>
              </a:rPr>
              <a:t>Seven Important Functions</a:t>
            </a:r>
          </a:p>
        </p:txBody>
      </p:sp>
      <p:sp>
        <p:nvSpPr>
          <p:cNvPr id="512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524000"/>
            <a:ext cx="3657600" cy="4876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Char char="q"/>
              <a:defRPr/>
            </a:pPr>
            <a:r>
              <a:rPr lang="en-US" sz="2400" dirty="0" smtClean="0">
                <a:ea typeface="+mn-ea"/>
                <a:cs typeface="+mn-cs"/>
              </a:rPr>
              <a:t>Seven functions that often appear in algorithm analysis: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Constant </a:t>
            </a:r>
            <a:r>
              <a:rPr lang="en-US" sz="2000" dirty="0" smtClean="0">
                <a:sym typeface="Symbol" pitchFamily="18" charset="2"/>
              </a:rPr>
              <a:t> </a:t>
            </a:r>
            <a:r>
              <a:rPr lang="en-US" sz="2000" b="1" i="1" dirty="0" smtClean="0">
                <a:latin typeface="Times New Roman" pitchFamily="18" charset="0"/>
                <a:sym typeface="Symbol" pitchFamily="18" charset="2"/>
              </a:rPr>
              <a:t>1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Logarithmic </a:t>
            </a:r>
            <a:r>
              <a:rPr lang="en-US" sz="2000" dirty="0" smtClean="0">
                <a:sym typeface="Symbol" pitchFamily="18" charset="2"/>
              </a:rPr>
              <a:t> log </a:t>
            </a:r>
            <a:r>
              <a:rPr lang="en-US" sz="2000" b="1" i="1" dirty="0" smtClean="0">
                <a:latin typeface="Times New Roman" pitchFamily="18" charset="0"/>
                <a:sym typeface="Symbol" pitchFamily="18" charset="2"/>
              </a:rPr>
              <a:t>n</a:t>
            </a:r>
            <a:endParaRPr lang="en-US" sz="2000" dirty="0" smtClean="0"/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Linear </a:t>
            </a:r>
            <a:r>
              <a:rPr lang="en-US" sz="2000" dirty="0" smtClean="0">
                <a:sym typeface="Symbol" pitchFamily="18" charset="2"/>
              </a:rPr>
              <a:t> </a:t>
            </a:r>
            <a:r>
              <a:rPr lang="en-US" sz="2000" b="1" i="1" dirty="0" smtClean="0">
                <a:latin typeface="Times New Roman" pitchFamily="18" charset="0"/>
                <a:sym typeface="Symbol" pitchFamily="18" charset="2"/>
              </a:rPr>
              <a:t>n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N-Log-N </a:t>
            </a:r>
            <a:r>
              <a:rPr lang="en-US" sz="2000" dirty="0" smtClean="0">
                <a:sym typeface="Symbol" pitchFamily="18" charset="2"/>
              </a:rPr>
              <a:t> </a:t>
            </a:r>
            <a:r>
              <a:rPr lang="en-US" sz="2000" b="1" i="1" dirty="0" smtClean="0">
                <a:latin typeface="Times New Roman" pitchFamily="18" charset="0"/>
                <a:sym typeface="Symbol" pitchFamily="18" charset="2"/>
              </a:rPr>
              <a:t>n </a:t>
            </a:r>
            <a:r>
              <a:rPr lang="en-US" sz="2000" dirty="0" smtClean="0">
                <a:sym typeface="Symbol" pitchFamily="18" charset="2"/>
              </a:rPr>
              <a:t>log </a:t>
            </a:r>
            <a:r>
              <a:rPr lang="en-US" sz="2000" b="1" i="1" dirty="0" smtClean="0">
                <a:latin typeface="Times New Roman" pitchFamily="18" charset="0"/>
                <a:sym typeface="Symbol" pitchFamily="18" charset="2"/>
              </a:rPr>
              <a:t>n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Quadratic </a:t>
            </a:r>
            <a:r>
              <a:rPr lang="en-US" sz="2000" dirty="0" smtClean="0">
                <a:sym typeface="Symbol" pitchFamily="18" charset="2"/>
              </a:rPr>
              <a:t> </a:t>
            </a:r>
            <a:r>
              <a:rPr lang="en-US" sz="2000" b="1" i="1" dirty="0" smtClean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000" baseline="30000" dirty="0" smtClean="0">
                <a:latin typeface="Times New Roman" pitchFamily="18" charset="0"/>
                <a:sym typeface="Symbol" pitchFamily="18" charset="2"/>
              </a:rPr>
              <a:t>2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Cubic </a:t>
            </a:r>
            <a:r>
              <a:rPr lang="en-US" sz="2000" dirty="0" smtClean="0">
                <a:sym typeface="Symbol" pitchFamily="18" charset="2"/>
              </a:rPr>
              <a:t> </a:t>
            </a:r>
            <a:r>
              <a:rPr lang="en-US" sz="2000" b="1" i="1" dirty="0" smtClean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000" baseline="30000" dirty="0" smtClean="0">
                <a:latin typeface="Times New Roman" pitchFamily="18" charset="0"/>
                <a:sym typeface="Symbol" pitchFamily="18" charset="2"/>
              </a:rPr>
              <a:t>3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r>
              <a:rPr lang="en-US" sz="2000" dirty="0" smtClean="0"/>
              <a:t>Exponential </a:t>
            </a:r>
            <a:r>
              <a:rPr lang="en-US" sz="2000" dirty="0" smtClean="0">
                <a:sym typeface="Symbol" pitchFamily="18" charset="2"/>
              </a:rPr>
              <a:t> </a:t>
            </a:r>
            <a:r>
              <a:rPr lang="en-US" sz="2000" b="1" dirty="0" smtClean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sz="2000" i="1" baseline="30000" dirty="0" smtClean="0">
                <a:latin typeface="Times New Roman" pitchFamily="18" charset="0"/>
                <a:sym typeface="Symbol" pitchFamily="18" charset="2"/>
              </a:rPr>
              <a:t>n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n"/>
              <a:defRPr/>
            </a:pPr>
            <a:endParaRPr lang="en-US" sz="2000" b="1" baseline="30000" dirty="0" smtClean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q"/>
              <a:defRPr/>
            </a:pPr>
            <a:r>
              <a:rPr lang="en-US" sz="2400" dirty="0" smtClean="0">
                <a:ea typeface="+mn-ea"/>
                <a:cs typeface="+mn-cs"/>
              </a:rPr>
              <a:t>In a log-log chart, the slope of the line corresponds to the growth rate</a:t>
            </a:r>
          </a:p>
        </p:txBody>
      </p:sp>
      <p:graphicFrame>
        <p:nvGraphicFramePr>
          <p:cNvPr id="18437" name="Object 8"/>
          <p:cNvGraphicFramePr>
            <a:graphicFrameLocks noChangeAspect="1"/>
          </p:cNvGraphicFramePr>
          <p:nvPr/>
        </p:nvGraphicFramePr>
        <p:xfrm>
          <a:off x="3810000" y="1600200"/>
          <a:ext cx="5133975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4" name="Chart" r:id="rId4" imgW="8293100" imgH="7112000" progId="Excel.Chart.8">
                  <p:embed followColorScheme="full"/>
                </p:oleObj>
              </mc:Choice>
              <mc:Fallback>
                <p:oleObj name="Chart" r:id="rId4" imgW="8293100" imgH="7112000" progId="Excel.Chart.8">
                  <p:embed followColorScheme="full"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600200"/>
                        <a:ext cx="5133975" cy="471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000">
                <a:latin typeface="Tahoma" charset="0"/>
                <a:cs typeface="+mj-cs"/>
              </a:rPr>
              <a:t>Functions Graphed </a:t>
            </a:r>
            <a:br>
              <a:rPr lang="en-US" sz="4000">
                <a:latin typeface="Tahoma" charset="0"/>
                <a:cs typeface="+mj-cs"/>
              </a:rPr>
            </a:br>
            <a:r>
              <a:rPr lang="en-US" sz="4000">
                <a:latin typeface="Tahoma" charset="0"/>
                <a:cs typeface="+mj-cs"/>
              </a:rPr>
              <a:t>Using </a:t>
            </a:r>
            <a:r>
              <a:rPr lang="ja-JP" altLang="en-US" sz="4000">
                <a:latin typeface="Tahoma" charset="0"/>
                <a:cs typeface="+mj-cs"/>
              </a:rPr>
              <a:t>“</a:t>
            </a:r>
            <a:r>
              <a:rPr lang="en-US" sz="4000">
                <a:latin typeface="Tahoma" charset="0"/>
                <a:cs typeface="+mj-cs"/>
              </a:rPr>
              <a:t>Normal</a:t>
            </a:r>
            <a:r>
              <a:rPr lang="ja-JP" altLang="en-US" sz="4000">
                <a:latin typeface="Tahoma" charset="0"/>
                <a:cs typeface="+mj-cs"/>
              </a:rPr>
              <a:t>”</a:t>
            </a:r>
            <a:r>
              <a:rPr lang="en-US" sz="4000">
                <a:latin typeface="Tahoma" charset="0"/>
                <a:cs typeface="+mj-cs"/>
              </a:rPr>
              <a:t> Scale</a:t>
            </a:r>
          </a:p>
        </p:txBody>
      </p:sp>
      <p:sp>
        <p:nvSpPr>
          <p:cNvPr id="20482" name="Date Placeholder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>
                <a:solidFill>
                  <a:srgbClr val="C00000"/>
                </a:solidFill>
              </a:rPr>
              <a:t>© 2014 Goodrich, Tamassia, Goldwasser</a:t>
            </a:r>
            <a:endParaRPr lang="en-US" sz="1400">
              <a:solidFill>
                <a:srgbClr val="C00000"/>
              </a:solidFill>
            </a:endParaRP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3B4FDFE-C1B0-BB44-B31F-B4DFEDEB958D}" type="slidenum">
              <a:rPr lang="en-US" sz="1400"/>
              <a:pPr eaLnBrk="1" hangingPunct="1"/>
              <a:t>7</a:t>
            </a:fld>
            <a:endParaRPr lang="en-US" sz="1400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grpSp>
        <p:nvGrpSpPr>
          <p:cNvPr id="20485" name="Group 29"/>
          <p:cNvGrpSpPr>
            <a:grpSpLocks/>
          </p:cNvGrpSpPr>
          <p:nvPr/>
        </p:nvGrpSpPr>
        <p:grpSpPr bwMode="auto">
          <a:xfrm>
            <a:off x="5943600" y="1295400"/>
            <a:ext cx="3048000" cy="1616075"/>
            <a:chOff x="2743200" y="4343400"/>
            <a:chExt cx="3048000" cy="1616075"/>
          </a:xfrm>
        </p:grpSpPr>
        <p:pic>
          <p:nvPicPr>
            <p:cNvPr id="20504" name="Content Placeholder 3"/>
            <p:cNvPicPr>
              <a:picLocks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815"/>
            <a:stretch>
              <a:fillRect/>
            </a:stretch>
          </p:blipFill>
          <p:spPr bwMode="auto">
            <a:xfrm>
              <a:off x="2743200" y="4343400"/>
              <a:ext cx="3048000" cy="161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5" name="Text Box 1034"/>
            <p:cNvSpPr txBox="1">
              <a:spLocks noChangeArrowheads="1"/>
            </p:cNvSpPr>
            <p:nvPr/>
          </p:nvSpPr>
          <p:spPr bwMode="auto">
            <a:xfrm>
              <a:off x="3886200" y="5029200"/>
              <a:ext cx="106362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g(n) = 2</a:t>
              </a:r>
              <a:r>
                <a:rPr lang="en-US" baseline="30000"/>
                <a:t>n</a:t>
              </a:r>
              <a:endParaRPr lang="en-US"/>
            </a:p>
          </p:txBody>
        </p:sp>
      </p:grpSp>
      <p:grpSp>
        <p:nvGrpSpPr>
          <p:cNvPr id="20486" name="Group 26"/>
          <p:cNvGrpSpPr>
            <a:grpSpLocks/>
          </p:cNvGrpSpPr>
          <p:nvPr/>
        </p:nvGrpSpPr>
        <p:grpSpPr bwMode="auto">
          <a:xfrm>
            <a:off x="457200" y="1524000"/>
            <a:ext cx="2819400" cy="1219200"/>
            <a:chOff x="838200" y="1752600"/>
            <a:chExt cx="2819400" cy="1219200"/>
          </a:xfrm>
        </p:grpSpPr>
        <p:pic>
          <p:nvPicPr>
            <p:cNvPr id="20502" name="Content Placeholder 3"/>
            <p:cNvPicPr>
              <a:picLocks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00"/>
            <a:stretch>
              <a:fillRect/>
            </a:stretch>
          </p:blipFill>
          <p:spPr bwMode="auto">
            <a:xfrm>
              <a:off x="838200" y="1752600"/>
              <a:ext cx="2819400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3" name="Text Box 1035"/>
            <p:cNvSpPr txBox="1">
              <a:spLocks noChangeArrowheads="1"/>
            </p:cNvSpPr>
            <p:nvPr/>
          </p:nvSpPr>
          <p:spPr bwMode="auto">
            <a:xfrm>
              <a:off x="1371600" y="2071687"/>
              <a:ext cx="9779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g(n) = 1</a:t>
              </a:r>
            </a:p>
          </p:txBody>
        </p:sp>
      </p:grpSp>
      <p:grpSp>
        <p:nvGrpSpPr>
          <p:cNvPr id="20487" name="Group 27"/>
          <p:cNvGrpSpPr>
            <a:grpSpLocks/>
          </p:cNvGrpSpPr>
          <p:nvPr/>
        </p:nvGrpSpPr>
        <p:grpSpPr bwMode="auto">
          <a:xfrm>
            <a:off x="457200" y="3092450"/>
            <a:ext cx="2971800" cy="1371600"/>
            <a:chOff x="762000" y="3124200"/>
            <a:chExt cx="2971800" cy="1371600"/>
          </a:xfrm>
        </p:grpSpPr>
        <p:pic>
          <p:nvPicPr>
            <p:cNvPr id="20500" name="Content Placeholder 3"/>
            <p:cNvPicPr>
              <a:picLocks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00"/>
            <a:stretch>
              <a:fillRect/>
            </a:stretch>
          </p:blipFill>
          <p:spPr bwMode="auto">
            <a:xfrm>
              <a:off x="762000" y="3124200"/>
              <a:ext cx="2971800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1" name="Text Box 1036"/>
            <p:cNvSpPr txBox="1">
              <a:spLocks noChangeArrowheads="1"/>
            </p:cNvSpPr>
            <p:nvPr/>
          </p:nvSpPr>
          <p:spPr bwMode="auto">
            <a:xfrm>
              <a:off x="1295400" y="38100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g(n) = lg n</a:t>
              </a:r>
            </a:p>
          </p:txBody>
        </p:sp>
      </p:grpSp>
      <p:pic>
        <p:nvPicPr>
          <p:cNvPr id="13" name="Content Placeholder 3"/>
          <p:cNvPicPr>
            <a:picLocks noChangeArrowheads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18182"/>
          <a:stretch>
            <a:fillRect/>
          </a:stretch>
        </p:blipFill>
        <p:spPr bwMode="auto">
          <a:xfrm>
            <a:off x="3429000" y="1524000"/>
            <a:ext cx="2743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9" name="Text Box 1037"/>
          <p:cNvSpPr txBox="1">
            <a:spLocks noChangeArrowheads="1"/>
          </p:cNvSpPr>
          <p:nvPr/>
        </p:nvSpPr>
        <p:spPr bwMode="auto">
          <a:xfrm>
            <a:off x="3810000" y="1524000"/>
            <a:ext cx="1409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g(n) = n lg n</a:t>
            </a:r>
          </a:p>
        </p:txBody>
      </p:sp>
      <p:grpSp>
        <p:nvGrpSpPr>
          <p:cNvPr id="20490" name="Group 28"/>
          <p:cNvGrpSpPr>
            <a:grpSpLocks/>
          </p:cNvGrpSpPr>
          <p:nvPr/>
        </p:nvGrpSpPr>
        <p:grpSpPr bwMode="auto">
          <a:xfrm>
            <a:off x="457200" y="4814888"/>
            <a:ext cx="2895600" cy="1585912"/>
            <a:chOff x="304800" y="4343400"/>
            <a:chExt cx="2895600" cy="1585913"/>
          </a:xfrm>
        </p:grpSpPr>
        <p:pic>
          <p:nvPicPr>
            <p:cNvPr id="20498" name="Content Placeholder 3"/>
            <p:cNvPicPr>
              <a:picLocks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79"/>
            <a:stretch>
              <a:fillRect/>
            </a:stretch>
          </p:blipFill>
          <p:spPr bwMode="auto">
            <a:xfrm>
              <a:off x="304800" y="4343400"/>
              <a:ext cx="2895600" cy="1585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9" name="Text Box 1038"/>
            <p:cNvSpPr txBox="1">
              <a:spLocks noChangeArrowheads="1"/>
            </p:cNvSpPr>
            <p:nvPr/>
          </p:nvSpPr>
          <p:spPr bwMode="auto">
            <a:xfrm>
              <a:off x="838200" y="4648200"/>
              <a:ext cx="9779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g(n) = n</a:t>
              </a:r>
            </a:p>
          </p:txBody>
        </p:sp>
      </p:grpSp>
      <p:grpSp>
        <p:nvGrpSpPr>
          <p:cNvPr id="20491" name="Group 31"/>
          <p:cNvGrpSpPr>
            <a:grpSpLocks/>
          </p:cNvGrpSpPr>
          <p:nvPr/>
        </p:nvGrpSpPr>
        <p:grpSpPr bwMode="auto">
          <a:xfrm>
            <a:off x="3429000" y="3124200"/>
            <a:ext cx="3124200" cy="1676400"/>
            <a:chOff x="5943600" y="3124200"/>
            <a:chExt cx="3124200" cy="1676400"/>
          </a:xfrm>
        </p:grpSpPr>
        <p:pic>
          <p:nvPicPr>
            <p:cNvPr id="14" name="Content Placeholder 3"/>
            <p:cNvPicPr>
              <a:picLocks noChangeArrowheads="1"/>
            </p:cNvPicPr>
            <p:nvPr/>
          </p:nvPicPr>
          <p:blipFill>
            <a:blip r:embed="rId7" cstate="print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t="23919"/>
            <a:stretch>
              <a:fillRect/>
            </a:stretch>
          </p:blipFill>
          <p:spPr bwMode="auto">
            <a:xfrm>
              <a:off x="5943600" y="3124200"/>
              <a:ext cx="3124200" cy="167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497" name="Text Box 1039"/>
            <p:cNvSpPr txBox="1">
              <a:spLocks noChangeArrowheads="1"/>
            </p:cNvSpPr>
            <p:nvPr/>
          </p:nvSpPr>
          <p:spPr bwMode="auto">
            <a:xfrm>
              <a:off x="6629400" y="3390900"/>
              <a:ext cx="106362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g(n) = n</a:t>
              </a:r>
              <a:r>
                <a:rPr lang="en-US" baseline="30000"/>
                <a:t>2</a:t>
              </a:r>
              <a:endParaRPr lang="en-US"/>
            </a:p>
          </p:txBody>
        </p:sp>
      </p:grpSp>
      <p:grpSp>
        <p:nvGrpSpPr>
          <p:cNvPr id="20492" name="Group 30"/>
          <p:cNvGrpSpPr>
            <a:grpSpLocks/>
          </p:cNvGrpSpPr>
          <p:nvPr/>
        </p:nvGrpSpPr>
        <p:grpSpPr bwMode="auto">
          <a:xfrm>
            <a:off x="3429000" y="5029200"/>
            <a:ext cx="2819400" cy="1371600"/>
            <a:chOff x="5943600" y="5029200"/>
            <a:chExt cx="2819400" cy="1371600"/>
          </a:xfrm>
        </p:grpSpPr>
        <p:pic>
          <p:nvPicPr>
            <p:cNvPr id="15" name="Content Placeholder 3"/>
            <p:cNvPicPr>
              <a:picLocks noChangeArrowheads="1"/>
            </p:cNvPicPr>
            <p:nvPr/>
          </p:nvPicPr>
          <p:blipFill>
            <a:blip r:embed="rId8" cstate="print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t="18182"/>
            <a:stretch>
              <a:fillRect/>
            </a:stretch>
          </p:blipFill>
          <p:spPr bwMode="auto">
            <a:xfrm>
              <a:off x="5943600" y="5029200"/>
              <a:ext cx="2819400" cy="137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495" name="Text Box 1040"/>
            <p:cNvSpPr txBox="1">
              <a:spLocks noChangeArrowheads="1"/>
            </p:cNvSpPr>
            <p:nvPr/>
          </p:nvSpPr>
          <p:spPr bwMode="auto">
            <a:xfrm>
              <a:off x="6632575" y="5334000"/>
              <a:ext cx="10636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g(n) = n</a:t>
              </a:r>
              <a:r>
                <a:rPr lang="en-US" baseline="30000"/>
                <a:t>3</a:t>
              </a:r>
              <a:endParaRPr lang="en-US"/>
            </a:p>
          </p:txBody>
        </p:sp>
      </p:grp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5943600" y="228600"/>
            <a:ext cx="2819400" cy="646113"/>
          </a:xfrm>
          <a:prstGeom prst="rect">
            <a:avLst/>
          </a:prstGeom>
          <a:gradFill rotWithShape="1">
            <a:gsLst>
              <a:gs pos="0">
                <a:srgbClr val="BDBDBD"/>
              </a:gs>
              <a:gs pos="80000">
                <a:srgbClr val="F7F7F7"/>
              </a:gs>
              <a:gs pos="100000">
                <a:srgbClr val="F8F8F8"/>
              </a:gs>
            </a:gsLst>
            <a:lin ang="16200000"/>
          </a:gradFill>
          <a:ln w="9525">
            <a:solidFill>
              <a:srgbClr val="F9F9F9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Slide by Matt Stallmann included with permission.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150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4DE3CC1-CA98-C043-84E8-F32A571F58D6}" type="slidenum">
              <a:rPr lang="en-US" sz="1400"/>
              <a:pPr eaLnBrk="1" hangingPunct="1"/>
              <a:t>8</a:t>
            </a:fld>
            <a:endParaRPr 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Primitive Operations</a:t>
            </a:r>
          </a:p>
        </p:txBody>
      </p:sp>
      <p:sp>
        <p:nvSpPr>
          <p:cNvPr id="215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76400"/>
            <a:ext cx="4876800" cy="4343400"/>
          </a:xfrm>
        </p:spPr>
        <p:txBody>
          <a:bodyPr/>
          <a:lstStyle/>
          <a:p>
            <a:pPr eaLnBrk="1" hangingPunct="1"/>
            <a:r>
              <a:rPr lang="en-US" sz="2600" dirty="0">
                <a:latin typeface="Tahoma" charset="0"/>
              </a:rPr>
              <a:t>Basic computations performed by an algorithm</a:t>
            </a:r>
          </a:p>
          <a:p>
            <a:pPr eaLnBrk="1" hangingPunct="1"/>
            <a:r>
              <a:rPr lang="en-US" sz="2600" dirty="0">
                <a:latin typeface="Tahoma" charset="0"/>
              </a:rPr>
              <a:t>Identifiable in </a:t>
            </a:r>
            <a:r>
              <a:rPr lang="en-US" sz="2600" dirty="0" err="1">
                <a:latin typeface="Tahoma" charset="0"/>
              </a:rPr>
              <a:t>pseudocode</a:t>
            </a:r>
            <a:endParaRPr lang="en-US" sz="2600" dirty="0">
              <a:latin typeface="Tahoma" charset="0"/>
            </a:endParaRPr>
          </a:p>
          <a:p>
            <a:pPr eaLnBrk="1" hangingPunct="1"/>
            <a:r>
              <a:rPr lang="en-US" sz="2600" dirty="0">
                <a:latin typeface="Tahoma" charset="0"/>
              </a:rPr>
              <a:t>Largely independent from the programming language</a:t>
            </a:r>
          </a:p>
          <a:p>
            <a:pPr eaLnBrk="1" hangingPunct="1"/>
            <a:r>
              <a:rPr lang="en-US" sz="2600" dirty="0">
                <a:latin typeface="Tahoma" charset="0"/>
              </a:rPr>
              <a:t>Exact definition not important (we will see why later)</a:t>
            </a:r>
          </a:p>
          <a:p>
            <a:pPr eaLnBrk="1" hangingPunct="1"/>
            <a:r>
              <a:rPr lang="en-US" sz="2600" dirty="0">
                <a:latin typeface="Tahoma" charset="0"/>
              </a:rPr>
              <a:t>Assumed to take a constant amount of time in the RAM model</a:t>
            </a:r>
            <a:endParaRPr lang="en-US" sz="3000" dirty="0">
              <a:latin typeface="Tahoma" charset="0"/>
            </a:endParaRPr>
          </a:p>
        </p:txBody>
      </p:sp>
      <p:sp>
        <p:nvSpPr>
          <p:cNvPr id="21509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5486400" y="1905000"/>
            <a:ext cx="3124200" cy="41148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Examples:</a:t>
            </a:r>
          </a:p>
          <a:p>
            <a:pPr lvl="1" eaLnBrk="1" hangingPunct="1"/>
            <a:r>
              <a:rPr lang="en-US" sz="2000">
                <a:latin typeface="Tahoma" charset="0"/>
              </a:rPr>
              <a:t>Evaluating an expression</a:t>
            </a:r>
          </a:p>
          <a:p>
            <a:pPr lvl="1" eaLnBrk="1" hangingPunct="1"/>
            <a:r>
              <a:rPr lang="en-US" sz="2000">
                <a:latin typeface="Tahoma" charset="0"/>
              </a:rPr>
              <a:t>Assigning a value to a variable</a:t>
            </a:r>
          </a:p>
          <a:p>
            <a:pPr lvl="1" eaLnBrk="1" hangingPunct="1"/>
            <a:r>
              <a:rPr lang="en-US" sz="2000">
                <a:latin typeface="Tahoma" charset="0"/>
              </a:rPr>
              <a:t>Indexing into an array</a:t>
            </a:r>
          </a:p>
          <a:p>
            <a:pPr lvl="1" eaLnBrk="1" hangingPunct="1"/>
            <a:r>
              <a:rPr lang="en-US" sz="2000">
                <a:latin typeface="Tahoma" charset="0"/>
              </a:rPr>
              <a:t>Calling a method</a:t>
            </a:r>
          </a:p>
          <a:p>
            <a:pPr lvl="1" eaLnBrk="1" hangingPunct="1"/>
            <a:r>
              <a:rPr lang="en-US" sz="2000">
                <a:latin typeface="Tahoma" charset="0"/>
              </a:rPr>
              <a:t>Returning from a method</a:t>
            </a:r>
          </a:p>
        </p:txBody>
      </p:sp>
      <p:graphicFrame>
        <p:nvGraphicFramePr>
          <p:cNvPr id="21510" name="Object 5"/>
          <p:cNvGraphicFramePr>
            <a:graphicFrameLocks noChangeAspect="1"/>
          </p:cNvGraphicFramePr>
          <p:nvPr/>
        </p:nvGraphicFramePr>
        <p:xfrm>
          <a:off x="6400800" y="381000"/>
          <a:ext cx="2058988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6" name="Clip" r:id="rId3" imgW="4117818" imgH="3468986" progId="MS_ClipArt_Gallery.2">
                  <p:embed/>
                </p:oleObj>
              </mc:Choice>
              <mc:Fallback>
                <p:oleObj name="Clip" r:id="rId3" imgW="4117818" imgH="3468986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81000"/>
                        <a:ext cx="2058988" cy="173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253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8B05BDF-C091-0B4F-AB02-4952210E5E38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9248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Counting Primitive Operations</a:t>
            </a:r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524000"/>
            <a:ext cx="8153400" cy="9906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sz="2400" dirty="0">
                <a:latin typeface="Tahoma" charset="0"/>
              </a:rPr>
              <a:t>By inspecting the pseudocode, we can determine the maximum number of primitive operations executed by an algorithm, as a function of the input size</a:t>
            </a:r>
          </a:p>
        </p:txBody>
      </p:sp>
      <p:sp>
        <p:nvSpPr>
          <p:cNvPr id="22533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sp>
        <p:nvSpPr>
          <p:cNvPr id="22534" name="Content Placeholder 1" descr="Rectangle: Click to edit Master text styles&#10;Second level&#10;Third level&#10;Fourth level&#10;Fifth level"/>
          <p:cNvSpPr>
            <a:spLocks noGrp="1"/>
          </p:cNvSpPr>
          <p:nvPr>
            <p:ph sz="half" idx="2"/>
          </p:nvPr>
        </p:nvSpPr>
        <p:spPr>
          <a:xfrm>
            <a:off x="990600" y="5181600"/>
            <a:ext cx="7543800" cy="1143000"/>
          </a:xfrm>
        </p:spPr>
        <p:txBody>
          <a:bodyPr/>
          <a:lstStyle/>
          <a:p>
            <a:r>
              <a:rPr lang="en-US" dirty="0">
                <a:latin typeface="Tahoma" charset="0"/>
              </a:rPr>
              <a:t>Step </a:t>
            </a:r>
            <a:r>
              <a:rPr lang="en-US" dirty="0" smtClean="0">
                <a:latin typeface="Tahoma" charset="0"/>
              </a:rPr>
              <a:t>3: </a:t>
            </a:r>
            <a:r>
              <a:rPr lang="en-US" dirty="0">
                <a:latin typeface="Tahoma" charset="0"/>
              </a:rPr>
              <a:t>2 ops, </a:t>
            </a:r>
            <a:r>
              <a:rPr lang="en-US" dirty="0" smtClean="0">
                <a:latin typeface="Tahoma" charset="0"/>
              </a:rPr>
              <a:t>4: </a:t>
            </a:r>
            <a:r>
              <a:rPr lang="en-US" dirty="0">
                <a:latin typeface="Tahoma" charset="0"/>
              </a:rPr>
              <a:t>2 ops, </a:t>
            </a:r>
            <a:r>
              <a:rPr lang="en-US" dirty="0" smtClean="0">
                <a:latin typeface="Tahoma" charset="0"/>
              </a:rPr>
              <a:t>5: </a:t>
            </a:r>
            <a:r>
              <a:rPr lang="en-US" dirty="0">
                <a:latin typeface="Tahoma" charset="0"/>
              </a:rPr>
              <a:t>2n ops, </a:t>
            </a:r>
            <a:r>
              <a:rPr lang="en-US" dirty="0" smtClean="0">
                <a:latin typeface="Tahoma" charset="0"/>
              </a:rPr>
              <a:t/>
            </a:r>
            <a:br>
              <a:rPr lang="en-US" dirty="0" smtClean="0">
                <a:latin typeface="Tahoma" charset="0"/>
              </a:rPr>
            </a:br>
            <a:r>
              <a:rPr lang="en-US" dirty="0" smtClean="0">
                <a:latin typeface="Tahoma" charset="0"/>
              </a:rPr>
              <a:t>6: </a:t>
            </a:r>
            <a:r>
              <a:rPr lang="en-US" dirty="0" smtClean="0">
                <a:latin typeface="Tahoma" charset="0"/>
              </a:rPr>
              <a:t>2n </a:t>
            </a:r>
            <a:r>
              <a:rPr lang="en-US" dirty="0">
                <a:latin typeface="Tahoma" charset="0"/>
              </a:rPr>
              <a:t>ops, </a:t>
            </a:r>
            <a:r>
              <a:rPr lang="en-US" dirty="0" smtClean="0">
                <a:latin typeface="Tahoma" charset="0"/>
              </a:rPr>
              <a:t>7: </a:t>
            </a:r>
            <a:r>
              <a:rPr lang="en-US" dirty="0">
                <a:latin typeface="Tahoma" charset="0"/>
              </a:rPr>
              <a:t>0 to n ops, </a:t>
            </a:r>
            <a:r>
              <a:rPr lang="en-US" dirty="0" smtClean="0">
                <a:latin typeface="Tahoma" charset="0"/>
              </a:rPr>
              <a:t>8: </a:t>
            </a:r>
            <a:r>
              <a:rPr lang="en-US" dirty="0">
                <a:latin typeface="Tahoma" charset="0"/>
              </a:rPr>
              <a:t>1 op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967" r="877"/>
          <a:stretch/>
        </p:blipFill>
        <p:spPr>
          <a:xfrm>
            <a:off x="164633" y="2554572"/>
            <a:ext cx="8979368" cy="2703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355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FF57EA9-1C78-BB4E-9131-D9088A9594A7}" type="slidenum">
              <a:rPr lang="en-US" sz="1400"/>
              <a:pPr eaLnBrk="1" hangingPunct="1"/>
              <a:t>10</a:t>
            </a:fld>
            <a:endParaRPr 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Estimating Running Time</a:t>
            </a:r>
          </a:p>
        </p:txBody>
      </p:sp>
      <p:sp>
        <p:nvSpPr>
          <p:cNvPr id="235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752600"/>
            <a:ext cx="8305800" cy="46482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Algorithm </a:t>
            </a:r>
            <a:r>
              <a:rPr lang="en-US" dirty="0" err="1" smtClean="0">
                <a:solidFill>
                  <a:srgbClr val="BE2D00"/>
                </a:solidFill>
                <a:latin typeface="Tahoma" charset="0"/>
              </a:rPr>
              <a:t>arrayMax</a:t>
            </a:r>
            <a:r>
              <a:rPr lang="en-US" dirty="0" smtClean="0">
                <a:solidFill>
                  <a:srgbClr val="BE2D00"/>
                </a:solidFill>
                <a:latin typeface="Tahoma" charset="0"/>
              </a:rPr>
              <a:t> </a:t>
            </a:r>
            <a:r>
              <a:rPr lang="en-US" dirty="0" smtClean="0">
                <a:latin typeface="Tahoma" charset="0"/>
              </a:rPr>
              <a:t>executes </a:t>
            </a:r>
            <a:r>
              <a:rPr lang="en-US" dirty="0">
                <a:latin typeface="Times New Roman" charset="0"/>
                <a:sym typeface="Symbol" charset="0"/>
              </a:rPr>
              <a:t>5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dirty="0">
                <a:latin typeface="Symbol" charset="0"/>
                <a:sym typeface="Symbol" charset="0"/>
              </a:rPr>
              <a:t>+</a:t>
            </a:r>
            <a:r>
              <a:rPr lang="en-US" dirty="0">
                <a:latin typeface="Times New Roman" charset="0"/>
                <a:sym typeface="Symbol" charset="0"/>
              </a:rPr>
              <a:t> 5 </a:t>
            </a:r>
            <a:r>
              <a:rPr lang="en-US" dirty="0">
                <a:latin typeface="Tahoma" charset="0"/>
              </a:rPr>
              <a:t>primitive operations in the worst case, </a:t>
            </a:r>
            <a:r>
              <a:rPr lang="en-US" dirty="0">
                <a:latin typeface="Times New Roman" charset="0"/>
                <a:sym typeface="Symbol" charset="0"/>
              </a:rPr>
              <a:t>4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dirty="0">
                <a:latin typeface="Symbol" charset="0"/>
                <a:sym typeface="Symbol" charset="0"/>
              </a:rPr>
              <a:t>+</a:t>
            </a:r>
            <a:r>
              <a:rPr lang="en-US" dirty="0">
                <a:latin typeface="Times New Roman" charset="0"/>
                <a:sym typeface="Symbol" charset="0"/>
              </a:rPr>
              <a:t> 5 </a:t>
            </a:r>
            <a:r>
              <a:rPr lang="en-US" dirty="0">
                <a:latin typeface="Tahoma" charset="0"/>
              </a:rPr>
              <a:t>in the best case.  Define:</a:t>
            </a:r>
          </a:p>
          <a:p>
            <a:pPr lvl="1" eaLnBrk="1" hangingPunct="1">
              <a:buSzTx/>
              <a:buFont typeface="Times New Roman" charset="0"/>
              <a:buNone/>
            </a:pPr>
            <a:r>
              <a:rPr lang="en-US" b="1" i="1" dirty="0">
                <a:latin typeface="Times New Roman" charset="0"/>
              </a:rPr>
              <a:t>a</a:t>
            </a:r>
            <a:r>
              <a:rPr lang="en-US" dirty="0">
                <a:latin typeface="Tahoma" charset="0"/>
              </a:rPr>
              <a:t>	= Time taken by the fastest primitive operation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i="1" dirty="0">
                <a:latin typeface="Times New Roman" charset="0"/>
              </a:rPr>
              <a:t>b</a:t>
            </a:r>
            <a:r>
              <a:rPr lang="en-US" dirty="0">
                <a:latin typeface="Tahoma" charset="0"/>
              </a:rPr>
              <a:t> 	= Time taken by the slowest primitive operation</a:t>
            </a:r>
          </a:p>
          <a:p>
            <a:pPr eaLnBrk="1" hangingPunct="1"/>
            <a:r>
              <a:rPr lang="en-US" dirty="0">
                <a:latin typeface="Tahoma" charset="0"/>
              </a:rPr>
              <a:t>Let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r>
              <a:rPr lang="en-US" dirty="0">
                <a:latin typeface="Tahoma" charset="0"/>
              </a:rPr>
              <a:t> be worst-case time of </a:t>
            </a:r>
            <a:r>
              <a:rPr lang="en-US" dirty="0" err="1" smtClean="0">
                <a:solidFill>
                  <a:srgbClr val="BE2D00"/>
                </a:solidFill>
                <a:latin typeface="Tahoma" charset="0"/>
              </a:rPr>
              <a:t>arrayMax</a:t>
            </a:r>
            <a:r>
              <a:rPr lang="en-US" dirty="0" smtClean="0">
                <a:latin typeface="Tahoma" charset="0"/>
              </a:rPr>
              <a:t>.</a:t>
            </a:r>
            <a:r>
              <a:rPr lang="en-US" dirty="0" smtClean="0">
                <a:solidFill>
                  <a:srgbClr val="BE2D00"/>
                </a:solidFill>
                <a:latin typeface="Tahoma" charset="0"/>
              </a:rPr>
              <a:t> </a:t>
            </a:r>
            <a:r>
              <a:rPr lang="en-US" dirty="0" smtClean="0">
                <a:latin typeface="Tahoma" charset="0"/>
              </a:rPr>
              <a:t>Then</a:t>
            </a:r>
            <a:r>
              <a:rPr lang="en-US" dirty="0">
                <a:latin typeface="Tahoma" charset="0"/>
              </a:rPr>
              <a:t/>
            </a:r>
            <a:br>
              <a:rPr lang="en-US" dirty="0">
                <a:latin typeface="Tahoma" charset="0"/>
              </a:rPr>
            </a:br>
            <a:r>
              <a:rPr lang="en-US" dirty="0">
                <a:latin typeface="Tahoma" charset="0"/>
              </a:rPr>
              <a:t>		</a:t>
            </a:r>
            <a:r>
              <a:rPr lang="en-US" b="1" i="1" dirty="0">
                <a:latin typeface="Times New Roman" charset="0"/>
                <a:sym typeface="Symbol" charset="0"/>
              </a:rPr>
              <a:t>a </a:t>
            </a:r>
            <a:r>
              <a:rPr lang="en-US" dirty="0">
                <a:latin typeface="Times New Roman" charset="0"/>
                <a:sym typeface="Symbol" charset="0"/>
              </a:rPr>
              <a:t>(4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dirty="0">
                <a:latin typeface="Symbol" charset="0"/>
                <a:sym typeface="Symbol" charset="0"/>
              </a:rPr>
              <a:t>+</a:t>
            </a:r>
            <a:r>
              <a:rPr lang="en-US" dirty="0">
                <a:latin typeface="Times New Roman" charset="0"/>
                <a:sym typeface="Symbol" charset="0"/>
              </a:rPr>
              <a:t> 5) </a:t>
            </a:r>
            <a:r>
              <a:rPr lang="en-US" dirty="0">
                <a:latin typeface="Symbol" charset="0"/>
                <a:sym typeface="Symbol" charset="0"/>
              </a:rPr>
              <a:t>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r>
              <a:rPr lang="en-US" dirty="0">
                <a:latin typeface="Tahoma" charset="0"/>
              </a:rPr>
              <a:t> </a:t>
            </a:r>
            <a:r>
              <a:rPr lang="en-US" dirty="0">
                <a:latin typeface="Symbol" charset="0"/>
                <a:sym typeface="Symbol" charset="0"/>
              </a:rPr>
              <a:t></a:t>
            </a:r>
            <a:r>
              <a:rPr lang="en-US" dirty="0">
                <a:latin typeface="Tahoma" charset="0"/>
              </a:rPr>
              <a:t> </a:t>
            </a:r>
            <a:r>
              <a:rPr lang="en-US" b="1" i="1" dirty="0">
                <a:latin typeface="Times New Roman" charset="0"/>
                <a:sym typeface="Symbol" charset="0"/>
              </a:rPr>
              <a:t>b</a:t>
            </a:r>
            <a:r>
              <a:rPr lang="en-US" dirty="0">
                <a:latin typeface="Times New Roman" charset="0"/>
                <a:sym typeface="Symbol" charset="0"/>
              </a:rPr>
              <a:t>(5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dirty="0">
                <a:latin typeface="Symbol" charset="0"/>
                <a:sym typeface="Symbol" charset="0"/>
              </a:rPr>
              <a:t>+</a:t>
            </a:r>
            <a:r>
              <a:rPr lang="en-US" dirty="0">
                <a:latin typeface="Times New Roman" charset="0"/>
                <a:sym typeface="Symbol" charset="0"/>
              </a:rPr>
              <a:t> 5)</a:t>
            </a:r>
          </a:p>
          <a:p>
            <a:pPr eaLnBrk="1" hangingPunct="1"/>
            <a:r>
              <a:rPr lang="en-US" dirty="0">
                <a:latin typeface="Tahoma" charset="0"/>
              </a:rPr>
              <a:t>Hence, the running time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r>
              <a:rPr lang="en-US" dirty="0">
                <a:latin typeface="Tahoma" charset="0"/>
              </a:rPr>
              <a:t> is bounded by two linear </a:t>
            </a:r>
            <a:r>
              <a:rPr lang="en-US" dirty="0" smtClean="0">
                <a:latin typeface="Tahoma" charset="0"/>
              </a:rPr>
              <a:t>functions</a:t>
            </a:r>
            <a:endParaRPr lang="en-US" dirty="0">
              <a:latin typeface="Tahoma" charset="0"/>
              <a:sym typeface="Symbol" charset="0"/>
            </a:endParaRPr>
          </a:p>
        </p:txBody>
      </p:sp>
      <p:graphicFrame>
        <p:nvGraphicFramePr>
          <p:cNvPr id="23557" name="Object 117"/>
          <p:cNvGraphicFramePr>
            <a:graphicFrameLocks noChangeAspect="1"/>
          </p:cNvGraphicFramePr>
          <p:nvPr/>
        </p:nvGraphicFramePr>
        <p:xfrm>
          <a:off x="7038975" y="152400"/>
          <a:ext cx="1724025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" name="Clip" r:id="rId3" imgW="2946759" imgH="2630112" progId="MS_ClipArt_Gallery.2">
                  <p:embed/>
                </p:oleObj>
              </mc:Choice>
              <mc:Fallback>
                <p:oleObj name="Clip" r:id="rId3" imgW="2946759" imgH="2630112" progId="MS_ClipArt_Gallery.2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975" y="152400"/>
                        <a:ext cx="1724025" cy="154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FF70767-B581-BD48-B5EC-D1B0A9EA0617}" type="slidenum">
              <a:rPr lang="en-US" sz="1400"/>
              <a:pPr eaLnBrk="1" hangingPunct="1"/>
              <a:t>11</a:t>
            </a:fld>
            <a:endParaRPr 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Growth Rate of Running Time</a:t>
            </a:r>
          </a:p>
        </p:txBody>
      </p:sp>
      <p:sp>
        <p:nvSpPr>
          <p:cNvPr id="2458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620000" cy="44196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Changing the hardware/ software environment </a:t>
            </a:r>
          </a:p>
          <a:p>
            <a:pPr lvl="1" eaLnBrk="1" hangingPunct="1"/>
            <a:r>
              <a:rPr lang="en-US" dirty="0">
                <a:latin typeface="Tahoma" charset="0"/>
              </a:rPr>
              <a:t>Affects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r>
              <a:rPr lang="en-US" dirty="0">
                <a:latin typeface="Tahoma" charset="0"/>
              </a:rPr>
              <a:t> by a constant factor, but</a:t>
            </a:r>
          </a:p>
          <a:p>
            <a:pPr lvl="1" eaLnBrk="1" hangingPunct="1"/>
            <a:r>
              <a:rPr lang="en-US" dirty="0">
                <a:latin typeface="Tahoma" charset="0"/>
              </a:rPr>
              <a:t>Does not alter the growth rate of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endParaRPr lang="en-US" dirty="0">
              <a:latin typeface="Tahoma" charset="0"/>
            </a:endParaRPr>
          </a:p>
          <a:p>
            <a:pPr eaLnBrk="1" hangingPunct="1"/>
            <a:r>
              <a:rPr lang="en-US" dirty="0">
                <a:latin typeface="Tahoma" charset="0"/>
              </a:rPr>
              <a:t>The linear growth rate of the running time </a:t>
            </a:r>
            <a:r>
              <a:rPr lang="en-US" b="1" i="1" dirty="0">
                <a:latin typeface="Times New Roman" charset="0"/>
                <a:sym typeface="Symbol" charset="0"/>
              </a:rPr>
              <a:t>T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>
                <a:latin typeface="Times New Roman" charset="0"/>
                <a:sym typeface="Symbol" charset="0"/>
              </a:rPr>
              <a:t>n</a:t>
            </a:r>
            <a:r>
              <a:rPr lang="en-US" dirty="0">
                <a:latin typeface="Times New Roman" charset="0"/>
                <a:sym typeface="Symbol" charset="0"/>
              </a:rPr>
              <a:t>)</a:t>
            </a:r>
            <a:r>
              <a:rPr lang="en-US" dirty="0">
                <a:latin typeface="Tahoma" charset="0"/>
              </a:rPr>
              <a:t> is an intrinsic property of algorithm </a:t>
            </a:r>
            <a:r>
              <a:rPr lang="en-US" dirty="0" err="1">
                <a:solidFill>
                  <a:srgbClr val="BE2D00"/>
                </a:solidFill>
                <a:latin typeface="Tahoma" charset="0"/>
              </a:rPr>
              <a:t>arrayMax</a:t>
            </a:r>
            <a:endParaRPr lang="en-US" dirty="0">
              <a:latin typeface="Tahoma" charset="0"/>
            </a:endParaRPr>
          </a:p>
        </p:txBody>
      </p:sp>
      <p:graphicFrame>
        <p:nvGraphicFramePr>
          <p:cNvPr id="24581" name="Object 4"/>
          <p:cNvGraphicFramePr>
            <a:graphicFrameLocks noChangeAspect="1"/>
          </p:cNvGraphicFramePr>
          <p:nvPr/>
        </p:nvGraphicFramePr>
        <p:xfrm>
          <a:off x="6629400" y="4800600"/>
          <a:ext cx="2057400" cy="1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name="Clip" r:id="rId3" imgW="3660618" imgH="3423719" progId="MS_ClipArt_Gallery.2">
                  <p:embed/>
                </p:oleObj>
              </mc:Choice>
              <mc:Fallback>
                <p:oleObj name="Clip" r:id="rId3" imgW="3660618" imgH="3423719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800600"/>
                        <a:ext cx="2057400" cy="179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000">
                <a:latin typeface="Tahoma" charset="0"/>
                <a:cs typeface="+mj-cs"/>
              </a:rPr>
              <a:t/>
            </a:r>
            <a:br>
              <a:rPr lang="en-US" sz="4000">
                <a:latin typeface="Tahoma" charset="0"/>
                <a:cs typeface="+mj-cs"/>
              </a:rPr>
            </a:br>
            <a:r>
              <a:rPr lang="en-US" sz="4000">
                <a:latin typeface="Tahoma" charset="0"/>
                <a:cs typeface="+mj-cs"/>
              </a:rPr>
              <a:t>Comparison of Two Algorithms</a:t>
            </a:r>
          </a:p>
        </p:txBody>
      </p:sp>
      <p:sp>
        <p:nvSpPr>
          <p:cNvPr id="2662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400" smtClean="0">
                <a:solidFill>
                  <a:srgbClr val="C00000"/>
                </a:solidFill>
              </a:rPr>
              <a:t>© 2014 Goodrich, Tamassia, Goldwasser</a:t>
            </a:r>
            <a:endParaRPr lang="en-US" sz="1400">
              <a:solidFill>
                <a:srgbClr val="C00000"/>
              </a:solidFill>
            </a:endParaRPr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641021B-C16C-2D42-87A1-CBCBE51331D1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26628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943600" y="228600"/>
            <a:ext cx="2819400" cy="646113"/>
          </a:xfrm>
          <a:prstGeom prst="rect">
            <a:avLst/>
          </a:prstGeom>
          <a:gradFill rotWithShape="1">
            <a:gsLst>
              <a:gs pos="0">
                <a:srgbClr val="BDBDBD"/>
              </a:gs>
              <a:gs pos="80000">
                <a:srgbClr val="F7F7F7"/>
              </a:gs>
              <a:gs pos="100000">
                <a:srgbClr val="F8F8F8"/>
              </a:gs>
            </a:gsLst>
            <a:lin ang="16200000"/>
          </a:gradFill>
          <a:ln w="9525">
            <a:solidFill>
              <a:srgbClr val="F9F9F9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Slide by Matt Stallmann included with permission.</a:t>
            </a:r>
          </a:p>
        </p:txBody>
      </p:sp>
      <p:pic>
        <p:nvPicPr>
          <p:cNvPr id="26630" name="Picture 7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752600"/>
            <a:ext cx="41560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4876800" y="1752600"/>
            <a:ext cx="297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/>
              <a:t>insertion sort is</a:t>
            </a:r>
          </a:p>
          <a:p>
            <a:r>
              <a:rPr lang="en-US" sz="2000"/>
              <a:t>	n</a:t>
            </a:r>
            <a:r>
              <a:rPr lang="en-US" sz="2000" baseline="30000"/>
              <a:t>2</a:t>
            </a:r>
            <a:r>
              <a:rPr lang="en-US" sz="2000"/>
              <a:t> / 4</a:t>
            </a:r>
          </a:p>
        </p:txBody>
      </p:sp>
      <p:sp>
        <p:nvSpPr>
          <p:cNvPr id="26632" name="Rectangle 9"/>
          <p:cNvSpPr>
            <a:spLocks noChangeArrowheads="1"/>
          </p:cNvSpPr>
          <p:nvPr/>
        </p:nvSpPr>
        <p:spPr bwMode="auto">
          <a:xfrm>
            <a:off x="4876800" y="2466975"/>
            <a:ext cx="2276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/>
              <a:t>merge sort is</a:t>
            </a:r>
          </a:p>
          <a:p>
            <a:r>
              <a:rPr lang="en-US" sz="2000"/>
              <a:t>	2 n lg n</a:t>
            </a:r>
            <a:endParaRPr lang="en-US"/>
          </a:p>
        </p:txBody>
      </p:sp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4876800" y="3152775"/>
            <a:ext cx="329565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sort a million items?</a:t>
            </a:r>
          </a:p>
          <a:p>
            <a:r>
              <a:rPr lang="en-US"/>
              <a:t>	</a:t>
            </a:r>
            <a:r>
              <a:rPr lang="en-US" sz="2000"/>
              <a:t>insertion sort takes</a:t>
            </a:r>
          </a:p>
          <a:p>
            <a:r>
              <a:rPr lang="en-US" sz="2000"/>
              <a:t> 	roughly </a:t>
            </a:r>
            <a:r>
              <a:rPr lang="en-US" sz="2000">
                <a:solidFill>
                  <a:srgbClr val="C00000"/>
                </a:solidFill>
              </a:rPr>
              <a:t>70 hours</a:t>
            </a:r>
          </a:p>
          <a:p>
            <a:r>
              <a:rPr lang="en-US" sz="2000"/>
              <a:t>while</a:t>
            </a:r>
          </a:p>
          <a:p>
            <a:r>
              <a:rPr lang="en-US" sz="2000"/>
              <a:t>	merge sort takes</a:t>
            </a:r>
          </a:p>
          <a:p>
            <a:r>
              <a:rPr lang="en-US" sz="2000"/>
              <a:t>	roughly </a:t>
            </a:r>
            <a:r>
              <a:rPr lang="en-US" sz="2000">
                <a:solidFill>
                  <a:srgbClr val="C00000"/>
                </a:solidFill>
              </a:rPr>
              <a:t>40 seconds</a:t>
            </a:r>
          </a:p>
        </p:txBody>
      </p:sp>
      <p:sp>
        <p:nvSpPr>
          <p:cNvPr id="26634" name="Rectangle 11"/>
          <p:cNvSpPr>
            <a:spLocks noChangeArrowheads="1"/>
          </p:cNvSpPr>
          <p:nvPr/>
        </p:nvSpPr>
        <p:spPr bwMode="auto">
          <a:xfrm>
            <a:off x="4876800" y="5334000"/>
            <a:ext cx="39417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This is a slow machine, but if</a:t>
            </a:r>
          </a:p>
          <a:p>
            <a:r>
              <a:rPr lang="en-US" sz="2000"/>
              <a:t>100 x as fast then it</a:t>
            </a:r>
            <a:r>
              <a:rPr lang="ja-JP" altLang="en-US" sz="2000"/>
              <a:t>’</a:t>
            </a:r>
            <a:r>
              <a:rPr lang="en-US" altLang="ja-JP" sz="2000"/>
              <a:t>s </a:t>
            </a:r>
            <a:r>
              <a:rPr lang="en-US" altLang="ja-JP" sz="2000">
                <a:solidFill>
                  <a:srgbClr val="C00000"/>
                </a:solidFill>
              </a:rPr>
              <a:t>40 minutes</a:t>
            </a:r>
          </a:p>
          <a:p>
            <a:r>
              <a:rPr lang="en-US" sz="2000"/>
              <a:t>versus less than </a:t>
            </a:r>
            <a:r>
              <a:rPr lang="en-US" sz="2000">
                <a:solidFill>
                  <a:srgbClr val="C00000"/>
                </a:solidFill>
              </a:rPr>
              <a:t>0.5 seconds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C3C1A05-BC94-7D45-B6F7-861F4350EBBC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Constant Factors</a:t>
            </a:r>
          </a:p>
        </p:txBody>
      </p:sp>
      <p:sp>
        <p:nvSpPr>
          <p:cNvPr id="276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3276600" cy="41148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Tahoma" charset="0"/>
              </a:rPr>
              <a:t>The growth rate is not affected by</a:t>
            </a:r>
          </a:p>
          <a:p>
            <a:pPr lvl="1" eaLnBrk="1" hangingPunct="1"/>
            <a:r>
              <a:rPr lang="en-US" sz="2000" dirty="0">
                <a:latin typeface="Tahoma" charset="0"/>
              </a:rPr>
              <a:t>constant factors or </a:t>
            </a:r>
          </a:p>
          <a:p>
            <a:pPr lvl="1" eaLnBrk="1" hangingPunct="1"/>
            <a:r>
              <a:rPr lang="en-US" sz="2000" dirty="0">
                <a:latin typeface="Tahoma" charset="0"/>
              </a:rPr>
              <a:t>lower-order terms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Examples</a:t>
            </a:r>
          </a:p>
          <a:p>
            <a:pPr lvl="1" eaLnBrk="1" hangingPunct="1"/>
            <a:r>
              <a:rPr lang="en-US" sz="2000" dirty="0">
                <a:latin typeface="Times New Roman" charset="0"/>
                <a:sym typeface="Symbol" charset="0"/>
              </a:rPr>
              <a:t>10</a:t>
            </a:r>
            <a:r>
              <a:rPr lang="en-US" sz="2000" baseline="30000" dirty="0">
                <a:latin typeface="Times New Roman" charset="0"/>
                <a:sym typeface="Symbol" charset="0"/>
              </a:rPr>
              <a:t>2</a:t>
            </a:r>
            <a:r>
              <a:rPr lang="en-US" sz="2000" b="1" i="1" dirty="0">
                <a:latin typeface="Times New Roman" charset="0"/>
                <a:sym typeface="Symbol" charset="0"/>
              </a:rPr>
              <a:t>n</a:t>
            </a:r>
            <a:r>
              <a:rPr lang="en-US" sz="2000" b="1" dirty="0">
                <a:latin typeface="Times New Roman" charset="0"/>
                <a:sym typeface="Symbol" charset="0"/>
              </a:rPr>
              <a:t> </a:t>
            </a:r>
            <a:r>
              <a:rPr lang="en-US" sz="2000" b="1" dirty="0">
                <a:latin typeface="Symbol" charset="0"/>
                <a:sym typeface="Symbol" charset="0"/>
              </a:rPr>
              <a:t>+</a:t>
            </a:r>
            <a:r>
              <a:rPr lang="en-US" sz="2000" b="1" dirty="0">
                <a:latin typeface="Times New Roman" charset="0"/>
                <a:sym typeface="Symbol" charset="0"/>
              </a:rPr>
              <a:t> </a:t>
            </a:r>
            <a:r>
              <a:rPr lang="en-US" sz="2000" dirty="0">
                <a:latin typeface="Times New Roman" charset="0"/>
                <a:sym typeface="Symbol" charset="0"/>
              </a:rPr>
              <a:t>10</a:t>
            </a:r>
            <a:r>
              <a:rPr lang="en-US" sz="2000" baseline="30000" dirty="0">
                <a:latin typeface="Times New Roman" charset="0"/>
                <a:sym typeface="Symbol" charset="0"/>
              </a:rPr>
              <a:t>5</a:t>
            </a:r>
            <a:r>
              <a:rPr lang="en-US" sz="2000" dirty="0">
                <a:latin typeface="Times New Roman" charset="0"/>
                <a:sym typeface="Symbol" charset="0"/>
              </a:rPr>
              <a:t> </a:t>
            </a:r>
            <a:r>
              <a:rPr lang="en-US" sz="2000" dirty="0">
                <a:latin typeface="Tahoma" charset="0"/>
              </a:rPr>
              <a:t>is a linear function</a:t>
            </a:r>
          </a:p>
          <a:p>
            <a:pPr lvl="1" eaLnBrk="1" hangingPunct="1"/>
            <a:r>
              <a:rPr lang="en-US" sz="2000" dirty="0">
                <a:latin typeface="Times New Roman" charset="0"/>
                <a:sym typeface="Symbol" charset="0"/>
              </a:rPr>
              <a:t>10</a:t>
            </a:r>
            <a:r>
              <a:rPr lang="en-US" sz="2000" baseline="30000" dirty="0">
                <a:latin typeface="Times New Roman" charset="0"/>
                <a:sym typeface="Symbol" charset="0"/>
              </a:rPr>
              <a:t>5</a:t>
            </a:r>
            <a:r>
              <a:rPr lang="en-US" sz="2000" b="1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30000" dirty="0">
                <a:latin typeface="Times New Roman" charset="0"/>
                <a:sym typeface="Symbol" charset="0"/>
              </a:rPr>
              <a:t>2</a:t>
            </a:r>
            <a:r>
              <a:rPr lang="en-US" sz="2000" dirty="0">
                <a:latin typeface="Times New Roman" charset="0"/>
                <a:sym typeface="Symbol" charset="0"/>
              </a:rPr>
              <a:t> </a:t>
            </a:r>
            <a:r>
              <a:rPr lang="en-US" sz="2000" b="1" dirty="0">
                <a:latin typeface="Symbol" charset="0"/>
                <a:sym typeface="Symbol" charset="0"/>
              </a:rPr>
              <a:t>+</a:t>
            </a:r>
            <a:r>
              <a:rPr lang="en-US" sz="2000" dirty="0">
                <a:latin typeface="Times New Roman" charset="0"/>
                <a:sym typeface="Symbol" charset="0"/>
              </a:rPr>
              <a:t> 10</a:t>
            </a:r>
            <a:r>
              <a:rPr lang="en-US" sz="2000" baseline="30000" dirty="0">
                <a:latin typeface="Times New Roman" charset="0"/>
                <a:sym typeface="Symbol" charset="0"/>
              </a:rPr>
              <a:t>8</a:t>
            </a:r>
            <a:r>
              <a:rPr lang="en-US" sz="2000" b="1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 </a:t>
            </a:r>
            <a:r>
              <a:rPr lang="en-US" sz="2000" dirty="0">
                <a:latin typeface="Tahoma" charset="0"/>
              </a:rPr>
              <a:t>is a quadratic function</a:t>
            </a:r>
          </a:p>
          <a:p>
            <a:pPr eaLnBrk="1" hangingPunct="1"/>
            <a:endParaRPr lang="en-US" sz="2400" dirty="0">
              <a:latin typeface="Tahoma" charset="0"/>
            </a:endParaRPr>
          </a:p>
        </p:txBody>
      </p:sp>
      <p:graphicFrame>
        <p:nvGraphicFramePr>
          <p:cNvPr id="27653" name="Object 4"/>
          <p:cNvGraphicFramePr>
            <a:graphicFrameLocks noChangeAspect="1"/>
          </p:cNvGraphicFramePr>
          <p:nvPr/>
        </p:nvGraphicFramePr>
        <p:xfrm>
          <a:off x="3505200" y="1543050"/>
          <a:ext cx="5305425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" name="Chart" r:id="rId3" imgW="7493000" imgH="5918200" progId="Excel.Chart.8">
                  <p:embed followColorScheme="full"/>
                </p:oleObj>
              </mc:Choice>
              <mc:Fallback>
                <p:oleObj name="Chart" r:id="rId3" imgW="7493000" imgH="5918200" progId="Excel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543050"/>
                        <a:ext cx="5305425" cy="447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57A68B24-0A9F-A84C-870B-32611727D20D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Big-Oh Notation</a:t>
            </a:r>
          </a:p>
        </p:txBody>
      </p:sp>
      <p:sp>
        <p:nvSpPr>
          <p:cNvPr id="286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Tahoma" charset="0"/>
              </a:rPr>
              <a:t>Given functions </a:t>
            </a:r>
            <a:r>
              <a:rPr lang="en-US" sz="2400" b="1" i="1" dirty="0">
                <a:latin typeface="Times New Roman" charset="0"/>
                <a:sym typeface="Symbol" charset="0"/>
              </a:rPr>
              <a:t>f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) </a:t>
            </a:r>
            <a:r>
              <a:rPr lang="en-US" sz="2400" dirty="0">
                <a:latin typeface="Tahoma" charset="0"/>
              </a:rPr>
              <a:t>and </a:t>
            </a:r>
            <a:r>
              <a:rPr lang="en-US" sz="2400" b="1" i="1" dirty="0">
                <a:latin typeface="Times New Roman" charset="0"/>
                <a:sym typeface="Symbol" charset="0"/>
              </a:rPr>
              <a:t>g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)</a:t>
            </a:r>
            <a:r>
              <a:rPr lang="en-US" sz="2400" dirty="0">
                <a:latin typeface="Tahoma" charset="0"/>
                <a:sym typeface="Symbol" charset="0"/>
              </a:rPr>
              <a:t>, </a:t>
            </a:r>
            <a:r>
              <a:rPr lang="en-US" sz="2400" dirty="0">
                <a:latin typeface="Tahoma" charset="0"/>
              </a:rPr>
              <a:t>we say that </a:t>
            </a:r>
            <a:r>
              <a:rPr lang="en-US" sz="2400" b="1" i="1" dirty="0">
                <a:latin typeface="Times New Roman" charset="0"/>
                <a:sym typeface="Symbol" charset="0"/>
              </a:rPr>
              <a:t>f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) </a:t>
            </a:r>
            <a:r>
              <a:rPr lang="en-US" sz="2400" dirty="0">
                <a:latin typeface="Tahoma" charset="0"/>
              </a:rPr>
              <a:t>is </a:t>
            </a:r>
            <a:r>
              <a:rPr lang="en-US" sz="2400" b="1" i="1" dirty="0">
                <a:latin typeface="Times New Roman" charset="0"/>
                <a:sym typeface="Symbol" charset="0"/>
              </a:rPr>
              <a:t>O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g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))</a:t>
            </a:r>
            <a:r>
              <a:rPr lang="en-US" sz="2400" dirty="0">
                <a:latin typeface="Tahoma" charset="0"/>
                <a:sym typeface="Symbol" charset="0"/>
              </a:rPr>
              <a:t> </a:t>
            </a:r>
            <a:r>
              <a:rPr lang="en-US" sz="2400" dirty="0">
                <a:latin typeface="Tahoma" charset="0"/>
              </a:rPr>
              <a:t>if there are positive constants</a:t>
            </a:r>
            <a:br>
              <a:rPr lang="en-US" sz="2400" dirty="0">
                <a:latin typeface="Tahoma" charset="0"/>
              </a:rPr>
            </a:br>
            <a:r>
              <a:rPr lang="en-US" sz="2400" b="1" i="1" dirty="0">
                <a:latin typeface="Times New Roman" charset="0"/>
                <a:sym typeface="Symbol" charset="0"/>
              </a:rPr>
              <a:t>c</a:t>
            </a:r>
            <a:r>
              <a:rPr lang="en-US" sz="2400" dirty="0">
                <a:latin typeface="Tahoma" charset="0"/>
              </a:rPr>
              <a:t> and 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b="1" baseline="-25000" dirty="0">
                <a:latin typeface="Times New Roman" charset="0"/>
                <a:sym typeface="Symbol" charset="0"/>
              </a:rPr>
              <a:t>0</a:t>
            </a:r>
            <a:r>
              <a:rPr lang="en-US" sz="2400" dirty="0">
                <a:latin typeface="Tahoma" charset="0"/>
              </a:rPr>
              <a:t> such that</a:t>
            </a:r>
          </a:p>
          <a:p>
            <a:pPr eaLnBrk="1" hangingPunct="1">
              <a:buFont typeface="Wingdings" charset="0"/>
              <a:buNone/>
            </a:pPr>
            <a:r>
              <a:rPr lang="en-US" sz="2800" b="1" i="1" dirty="0">
                <a:latin typeface="Times New Roman" charset="0"/>
                <a:sym typeface="Symbol" charset="0"/>
              </a:rPr>
              <a:t>	</a:t>
            </a:r>
            <a:r>
              <a:rPr lang="en-US" sz="2400" b="1" i="1" dirty="0">
                <a:latin typeface="Times New Roman" charset="0"/>
                <a:sym typeface="Symbol" charset="0"/>
              </a:rPr>
              <a:t>f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)</a:t>
            </a:r>
            <a:r>
              <a:rPr lang="en-US" sz="2400" dirty="0">
                <a:latin typeface="Tahoma" charset="0"/>
              </a:rPr>
              <a:t> </a:t>
            </a:r>
            <a:r>
              <a:rPr lang="en-US" sz="2400" dirty="0">
                <a:latin typeface="Symbol" charset="0"/>
                <a:sym typeface="Symbol" charset="0"/>
              </a:rPr>
              <a:t></a:t>
            </a:r>
            <a:r>
              <a:rPr lang="en-US" sz="2400" dirty="0">
                <a:latin typeface="Tahoma" charset="0"/>
              </a:rPr>
              <a:t> </a:t>
            </a:r>
            <a:r>
              <a:rPr lang="en-US" sz="2400" b="1" i="1" dirty="0">
                <a:latin typeface="Times New Roman" charset="0"/>
                <a:sym typeface="Symbol" charset="0"/>
              </a:rPr>
              <a:t>cg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)  </a:t>
            </a:r>
            <a:r>
              <a:rPr lang="en-US" sz="2400" dirty="0">
                <a:latin typeface="Tahoma" charset="0"/>
              </a:rPr>
              <a:t>for </a:t>
            </a:r>
            <a:r>
              <a:rPr lang="en-US" sz="2400" b="1" i="1" dirty="0">
                <a:latin typeface="Times New Roman" charset="0"/>
                <a:sym typeface="Symbol" charset="0"/>
              </a:rPr>
              <a:t>n </a:t>
            </a:r>
            <a:r>
              <a:rPr lang="en-US" sz="2400" dirty="0">
                <a:latin typeface="Symbol" charset="0"/>
                <a:sym typeface="Symbol" charset="0"/>
              </a:rPr>
              <a:t></a:t>
            </a:r>
            <a:r>
              <a:rPr lang="en-US" sz="2400" dirty="0">
                <a:latin typeface="Tahoma" charset="0"/>
              </a:rPr>
              <a:t> 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b="1" baseline="-25000" dirty="0">
                <a:latin typeface="Times New Roman" charset="0"/>
                <a:sym typeface="Symbol" charset="0"/>
              </a:rPr>
              <a:t>0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Example: </a:t>
            </a:r>
            <a:r>
              <a:rPr lang="en-US" sz="2400" dirty="0">
                <a:latin typeface="Times New Roman" charset="0"/>
                <a:sym typeface="Symbol" charset="0"/>
              </a:rPr>
              <a:t>2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b="1" dirty="0">
                <a:latin typeface="Times New Roman" charset="0"/>
                <a:sym typeface="Symbol" charset="0"/>
              </a:rPr>
              <a:t> </a:t>
            </a:r>
            <a:r>
              <a:rPr lang="en-US" sz="2400" dirty="0">
                <a:latin typeface="Symbol" charset="0"/>
                <a:sym typeface="Symbol" charset="0"/>
              </a:rPr>
              <a:t>+</a:t>
            </a:r>
            <a:r>
              <a:rPr lang="en-US" sz="2400" b="1" dirty="0">
                <a:latin typeface="Times New Roman" charset="0"/>
                <a:sym typeface="Symbol" charset="0"/>
              </a:rPr>
              <a:t> </a:t>
            </a:r>
            <a:r>
              <a:rPr lang="en-US" sz="2400" dirty="0">
                <a:latin typeface="Times New Roman" charset="0"/>
                <a:sym typeface="Symbol" charset="0"/>
              </a:rPr>
              <a:t>10</a:t>
            </a:r>
            <a:r>
              <a:rPr lang="en-US" sz="2400" dirty="0">
                <a:latin typeface="Tahoma" charset="0"/>
                <a:sym typeface="Symbol" charset="0"/>
              </a:rPr>
              <a:t> is </a:t>
            </a:r>
            <a:r>
              <a:rPr lang="en-US" sz="2400" b="1" i="1" dirty="0">
                <a:latin typeface="Times New Roman" charset="0"/>
                <a:sym typeface="Symbol" charset="0"/>
              </a:rPr>
              <a:t>O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)</a:t>
            </a:r>
          </a:p>
          <a:p>
            <a:pPr lvl="1" eaLnBrk="1" hangingPunct="1"/>
            <a:r>
              <a:rPr lang="en-US" sz="2000" dirty="0" smtClean="0">
                <a:latin typeface="Times New Roman" charset="0"/>
                <a:sym typeface="Symbol" charset="0"/>
              </a:rPr>
              <a:t>2</a:t>
            </a:r>
            <a:r>
              <a:rPr lang="en-US" sz="2000" b="1" i="1" dirty="0" smtClean="0">
                <a:latin typeface="Times New Roman" charset="0"/>
                <a:sym typeface="Symbol" charset="0"/>
              </a:rPr>
              <a:t>n</a:t>
            </a:r>
            <a:r>
              <a:rPr lang="en-US" sz="2000" b="1" dirty="0" smtClean="0">
                <a:latin typeface="Times New Roman" charset="0"/>
                <a:sym typeface="Symbol" charset="0"/>
              </a:rPr>
              <a:t> </a:t>
            </a:r>
            <a:r>
              <a:rPr lang="en-US" sz="2000" dirty="0" smtClean="0">
                <a:latin typeface="Symbol" charset="0"/>
                <a:sym typeface="Symbol" charset="0"/>
              </a:rPr>
              <a:t>+</a:t>
            </a:r>
            <a:r>
              <a:rPr lang="en-US" sz="2000" b="1" dirty="0" smtClean="0">
                <a:latin typeface="Times New Roman" charset="0"/>
                <a:sym typeface="Symbol" charset="0"/>
              </a:rPr>
              <a:t> </a:t>
            </a:r>
            <a:r>
              <a:rPr lang="en-US" sz="2000" dirty="0" smtClean="0">
                <a:latin typeface="Times New Roman" charset="0"/>
                <a:sym typeface="Symbol" charset="0"/>
              </a:rPr>
              <a:t>10</a:t>
            </a:r>
            <a:r>
              <a:rPr lang="en-US" sz="2000" b="1" i="1" dirty="0" smtClean="0">
                <a:latin typeface="Times New Roman" charset="0"/>
                <a:sym typeface="Symbol" charset="0"/>
              </a:rPr>
              <a:t> </a:t>
            </a:r>
            <a:r>
              <a:rPr lang="en-US" sz="2000" dirty="0" smtClean="0">
                <a:latin typeface="Symbol" charset="0"/>
                <a:sym typeface="Symbol" charset="0"/>
              </a:rPr>
              <a:t></a:t>
            </a:r>
            <a:r>
              <a:rPr lang="en-US" sz="2000" dirty="0" smtClean="0">
                <a:latin typeface="Tahoma" charset="0"/>
              </a:rPr>
              <a:t> </a:t>
            </a:r>
            <a:r>
              <a:rPr lang="en-US" sz="2000" b="1" i="1" dirty="0" err="1" smtClean="0">
                <a:latin typeface="Times New Roman" charset="0"/>
                <a:sym typeface="Symbol" charset="0"/>
              </a:rPr>
              <a:t>cn</a:t>
            </a:r>
            <a:endParaRPr lang="en-US" sz="2000" b="1" i="1" dirty="0" smtClean="0">
              <a:latin typeface="Times New Roman" charset="0"/>
              <a:sym typeface="Symbol" charset="0"/>
            </a:endParaRPr>
          </a:p>
          <a:p>
            <a:pPr lvl="1" eaLnBrk="1" hangingPunct="1"/>
            <a:r>
              <a:rPr lang="en-US" sz="2000" dirty="0" smtClean="0">
                <a:latin typeface="Times New Roman" charset="0"/>
                <a:sym typeface="Symbol" charset="0"/>
              </a:rPr>
              <a:t>(</a:t>
            </a:r>
            <a:r>
              <a:rPr lang="en-US" sz="2000" b="1" i="1" dirty="0" smtClean="0">
                <a:latin typeface="Times New Roman" charset="0"/>
                <a:sym typeface="Symbol" charset="0"/>
              </a:rPr>
              <a:t>c</a:t>
            </a:r>
            <a:r>
              <a:rPr lang="en-US" sz="2000" dirty="0" smtClean="0">
                <a:latin typeface="Times New Roman" charset="0"/>
                <a:sym typeface="Symbol" charset="0"/>
              </a:rPr>
              <a:t> </a:t>
            </a:r>
            <a:r>
              <a:rPr lang="en-US" sz="2000" dirty="0" smtClean="0">
                <a:latin typeface="Symbol" charset="0"/>
                <a:sym typeface="Symbol" charset="0"/>
              </a:rPr>
              <a:t></a:t>
            </a:r>
            <a:r>
              <a:rPr lang="en-US" sz="2000" dirty="0" smtClean="0">
                <a:latin typeface="Times New Roman" charset="0"/>
                <a:sym typeface="Symbol" charset="0"/>
              </a:rPr>
              <a:t> 2) </a:t>
            </a:r>
            <a:r>
              <a:rPr lang="en-US" sz="2000" b="1" i="1" dirty="0" smtClean="0">
                <a:latin typeface="Times New Roman" charset="0"/>
                <a:sym typeface="Symbol" charset="0"/>
              </a:rPr>
              <a:t>n </a:t>
            </a:r>
            <a:r>
              <a:rPr lang="en-US" sz="2000" dirty="0" smtClean="0">
                <a:latin typeface="Symbol" charset="0"/>
                <a:sym typeface="Symbol" charset="0"/>
              </a:rPr>
              <a:t> </a:t>
            </a:r>
            <a:r>
              <a:rPr lang="en-US" sz="2000" dirty="0" smtClean="0">
                <a:latin typeface="Times New Roman" charset="0"/>
                <a:sym typeface="Symbol" charset="0"/>
              </a:rPr>
              <a:t>10</a:t>
            </a:r>
          </a:p>
          <a:p>
            <a:pPr lvl="1" eaLnBrk="1" hangingPunct="1"/>
            <a:r>
              <a:rPr lang="en-US" sz="2000" b="1" i="1" dirty="0" smtClean="0">
                <a:latin typeface="Times New Roman" charset="0"/>
                <a:sym typeface="Symbol" charset="0"/>
              </a:rPr>
              <a:t>n </a:t>
            </a:r>
            <a:r>
              <a:rPr lang="en-US" sz="2000" dirty="0" smtClean="0">
                <a:latin typeface="Symbol" charset="0"/>
                <a:sym typeface="Symbol" charset="0"/>
              </a:rPr>
              <a:t> </a:t>
            </a:r>
            <a:r>
              <a:rPr lang="en-US" sz="2000" dirty="0">
                <a:latin typeface="Times New Roman" charset="0"/>
                <a:sym typeface="Symbol" charset="0"/>
              </a:rPr>
              <a:t>10</a:t>
            </a:r>
            <a:r>
              <a:rPr lang="en-US" sz="2000" dirty="0">
                <a:latin typeface="Symbol" charset="0"/>
                <a:sym typeface="Symbol" charset="0"/>
              </a:rPr>
              <a:t>/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b="1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</a:t>
            </a:r>
            <a:r>
              <a:rPr lang="en-US" sz="2000" dirty="0">
                <a:latin typeface="Symbol" charset="0"/>
                <a:sym typeface="Symbol" charset="0"/>
              </a:rPr>
              <a:t></a:t>
            </a:r>
            <a:r>
              <a:rPr lang="en-US" sz="2000" dirty="0">
                <a:latin typeface="Times New Roman" charset="0"/>
                <a:sym typeface="Symbol" charset="0"/>
              </a:rPr>
              <a:t> 2)</a:t>
            </a:r>
          </a:p>
          <a:p>
            <a:pPr lvl="1" eaLnBrk="1" hangingPunct="1"/>
            <a:r>
              <a:rPr lang="en-US" sz="2000" dirty="0">
                <a:latin typeface="Tahoma" charset="0"/>
              </a:rPr>
              <a:t>Pick </a:t>
            </a:r>
            <a:r>
              <a:rPr lang="en-US" sz="2000" b="1" i="1" dirty="0">
                <a:latin typeface="Times New Roman" charset="0"/>
                <a:sym typeface="Symbol" charset="0"/>
              </a:rPr>
              <a:t>c </a:t>
            </a:r>
            <a:r>
              <a:rPr lang="en-US" sz="2000" dirty="0">
                <a:latin typeface="Symbol" charset="0"/>
                <a:sym typeface="Symbol" charset="0"/>
              </a:rPr>
              <a:t>= </a:t>
            </a:r>
            <a:r>
              <a:rPr lang="en-US" sz="2000" dirty="0">
                <a:latin typeface="Times New Roman" charset="0"/>
                <a:sym typeface="Symbol" charset="0"/>
              </a:rPr>
              <a:t>3 </a:t>
            </a:r>
            <a:r>
              <a:rPr lang="en-US" sz="2000" dirty="0">
                <a:latin typeface="Tahoma" charset="0"/>
              </a:rPr>
              <a:t>and </a:t>
            </a:r>
            <a:r>
              <a:rPr lang="en-US" sz="2000" b="1" i="1" dirty="0">
                <a:latin typeface="Times New Roman" charset="0"/>
                <a:sym typeface="Symbol" charset="0"/>
              </a:rPr>
              <a:t>n</a:t>
            </a:r>
            <a:r>
              <a:rPr lang="en-US" sz="2000" b="1" baseline="-25000" dirty="0">
                <a:latin typeface="Times New Roman" charset="0"/>
                <a:sym typeface="Symbol" charset="0"/>
              </a:rPr>
              <a:t>0 </a:t>
            </a:r>
            <a:r>
              <a:rPr lang="en-US" sz="2000" dirty="0">
                <a:latin typeface="Symbol" charset="0"/>
                <a:sym typeface="Symbol" charset="0"/>
              </a:rPr>
              <a:t>= </a:t>
            </a:r>
            <a:r>
              <a:rPr lang="en-US" sz="2000" dirty="0">
                <a:latin typeface="Times New Roman" charset="0"/>
                <a:sym typeface="Symbol" charset="0"/>
              </a:rPr>
              <a:t>10</a:t>
            </a:r>
            <a:endParaRPr lang="en-US" sz="2000" dirty="0">
              <a:latin typeface="Tahoma" charset="0"/>
            </a:endParaRPr>
          </a:p>
          <a:p>
            <a:pPr eaLnBrk="1" hangingPunct="1"/>
            <a:endParaRPr lang="en-US" sz="2400" dirty="0">
              <a:latin typeface="Tahoma" charset="0"/>
            </a:endParaRPr>
          </a:p>
        </p:txBody>
      </p:sp>
      <p:graphicFrame>
        <p:nvGraphicFramePr>
          <p:cNvPr id="28677" name="Object 4"/>
          <p:cNvGraphicFramePr>
            <a:graphicFrameLocks noChangeAspect="1"/>
          </p:cNvGraphicFramePr>
          <p:nvPr/>
        </p:nvGraphicFramePr>
        <p:xfrm>
          <a:off x="3810000" y="1371600"/>
          <a:ext cx="5324475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4" name="Chart" r:id="rId3" imgW="8686800" imgH="6553200" progId="Excel.Chart.8">
                  <p:embed followColorScheme="full"/>
                </p:oleObj>
              </mc:Choice>
              <mc:Fallback>
                <p:oleObj name="Chart" r:id="rId3" imgW="8686800" imgH="6553200" progId="Excel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371600"/>
                        <a:ext cx="5324475" cy="428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9F218C3-C266-8B46-8A2F-5927D972E6B6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Big-Oh Example</a:t>
            </a:r>
          </a:p>
        </p:txBody>
      </p:sp>
      <p:sp>
        <p:nvSpPr>
          <p:cNvPr id="2970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3581400" cy="3657600"/>
          </a:xfrm>
        </p:spPr>
        <p:txBody>
          <a:bodyPr/>
          <a:lstStyle/>
          <a:p>
            <a:pPr eaLnBrk="1" hangingPunct="1"/>
            <a:r>
              <a:rPr lang="en-US" sz="2400">
                <a:latin typeface="Tahoma" charset="0"/>
              </a:rPr>
              <a:t>Example: the function </a:t>
            </a:r>
            <a:r>
              <a:rPr lang="en-US" sz="2400" b="1" i="1">
                <a:latin typeface="Times New Roman" charset="0"/>
                <a:sym typeface="Symbol" charset="0"/>
              </a:rPr>
              <a:t>n</a:t>
            </a:r>
            <a:r>
              <a:rPr lang="en-US" sz="2400" baseline="30000">
                <a:latin typeface="Times New Roman" charset="0"/>
                <a:sym typeface="Symbol" charset="0"/>
              </a:rPr>
              <a:t>2</a:t>
            </a:r>
            <a:r>
              <a:rPr lang="en-US" sz="2400" b="1">
                <a:latin typeface="Times New Roman" charset="0"/>
                <a:sym typeface="Symbol" charset="0"/>
              </a:rPr>
              <a:t> </a:t>
            </a:r>
            <a:r>
              <a:rPr lang="en-US" sz="2400">
                <a:latin typeface="Tahoma" charset="0"/>
                <a:sym typeface="Symbol" charset="0"/>
              </a:rPr>
              <a:t>is not </a:t>
            </a:r>
            <a:r>
              <a:rPr lang="en-US" sz="2400" b="1" i="1">
                <a:latin typeface="Times New Roman" charset="0"/>
                <a:sym typeface="Symbol" charset="0"/>
              </a:rPr>
              <a:t>O</a:t>
            </a:r>
            <a:r>
              <a:rPr lang="en-US" sz="2400">
                <a:latin typeface="Times New Roman" charset="0"/>
                <a:sym typeface="Symbol" charset="0"/>
              </a:rPr>
              <a:t>(</a:t>
            </a:r>
            <a:r>
              <a:rPr lang="en-US" sz="2400" b="1" i="1">
                <a:latin typeface="Times New Roman" charset="0"/>
                <a:sym typeface="Symbol" charset="0"/>
              </a:rPr>
              <a:t>n</a:t>
            </a:r>
            <a:r>
              <a:rPr lang="en-US" sz="2400">
                <a:latin typeface="Times New Roman" charset="0"/>
                <a:sym typeface="Symbol" charset="0"/>
              </a:rPr>
              <a:t>)</a:t>
            </a:r>
          </a:p>
          <a:p>
            <a:pPr lvl="1" eaLnBrk="1" hangingPunct="1"/>
            <a:r>
              <a:rPr lang="en-US" sz="2000" b="1" i="1">
                <a:latin typeface="Times New Roman" charset="0"/>
                <a:sym typeface="Symbol" charset="0"/>
              </a:rPr>
              <a:t>n</a:t>
            </a:r>
            <a:r>
              <a:rPr lang="en-US" sz="2000" baseline="30000">
                <a:latin typeface="Times New Roman" charset="0"/>
                <a:sym typeface="Symbol" charset="0"/>
              </a:rPr>
              <a:t>2</a:t>
            </a:r>
            <a:r>
              <a:rPr lang="en-US" sz="2000" b="1" i="1">
                <a:latin typeface="Times New Roman" charset="0"/>
                <a:sym typeface="Symbol" charset="0"/>
              </a:rPr>
              <a:t> </a:t>
            </a:r>
            <a:r>
              <a:rPr lang="en-US" sz="2000">
                <a:latin typeface="Symbol" charset="0"/>
                <a:sym typeface="Symbol" charset="0"/>
              </a:rPr>
              <a:t></a:t>
            </a:r>
            <a:r>
              <a:rPr lang="en-US" sz="2000">
                <a:latin typeface="Tahoma" charset="0"/>
              </a:rPr>
              <a:t> </a:t>
            </a:r>
            <a:r>
              <a:rPr lang="en-US" sz="2000" b="1" i="1">
                <a:latin typeface="Times New Roman" charset="0"/>
                <a:sym typeface="Symbol" charset="0"/>
              </a:rPr>
              <a:t>cn</a:t>
            </a:r>
          </a:p>
          <a:p>
            <a:pPr lvl="1" eaLnBrk="1" hangingPunct="1"/>
            <a:r>
              <a:rPr lang="en-US" sz="2000" b="1" i="1">
                <a:latin typeface="Times New Roman" charset="0"/>
                <a:sym typeface="Symbol" charset="0"/>
              </a:rPr>
              <a:t>n </a:t>
            </a:r>
            <a:r>
              <a:rPr lang="en-US" sz="2000">
                <a:latin typeface="Symbol" charset="0"/>
                <a:sym typeface="Symbol" charset="0"/>
              </a:rPr>
              <a:t></a:t>
            </a:r>
            <a:r>
              <a:rPr lang="en-US" sz="2000">
                <a:latin typeface="Tahoma" charset="0"/>
              </a:rPr>
              <a:t> </a:t>
            </a:r>
            <a:r>
              <a:rPr lang="en-US" sz="2000" b="1" i="1">
                <a:latin typeface="Times New Roman" charset="0"/>
                <a:sym typeface="Symbol" charset="0"/>
              </a:rPr>
              <a:t>c</a:t>
            </a:r>
            <a:endParaRPr lang="en-US" sz="2000">
              <a:latin typeface="Times New Roman" charset="0"/>
              <a:sym typeface="Symbol" charset="0"/>
            </a:endParaRPr>
          </a:p>
          <a:p>
            <a:pPr lvl="1" eaLnBrk="1" hangingPunct="1"/>
            <a:r>
              <a:rPr lang="en-US" sz="2000">
                <a:latin typeface="Tahoma" charset="0"/>
              </a:rPr>
              <a:t>The above inequality cannot be satisfied since </a:t>
            </a:r>
            <a:r>
              <a:rPr lang="en-US" sz="2000" b="1" i="1">
                <a:latin typeface="Times New Roman" charset="0"/>
                <a:sym typeface="Symbol" charset="0"/>
              </a:rPr>
              <a:t>c</a:t>
            </a:r>
            <a:r>
              <a:rPr lang="en-US" sz="2000">
                <a:latin typeface="Tahoma" charset="0"/>
              </a:rPr>
              <a:t> must be a constant </a:t>
            </a:r>
          </a:p>
          <a:p>
            <a:pPr eaLnBrk="1" hangingPunct="1"/>
            <a:endParaRPr lang="en-US">
              <a:latin typeface="Tahoma" charset="0"/>
            </a:endParaRPr>
          </a:p>
        </p:txBody>
      </p:sp>
      <p:graphicFrame>
        <p:nvGraphicFramePr>
          <p:cNvPr id="29701" name="Object 4"/>
          <p:cNvGraphicFramePr>
            <a:graphicFrameLocks noChangeAspect="1"/>
          </p:cNvGraphicFramePr>
          <p:nvPr/>
        </p:nvGraphicFramePr>
        <p:xfrm>
          <a:off x="3810000" y="1562100"/>
          <a:ext cx="5153025" cy="461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" name="Chart" r:id="rId3" imgW="7988300" imgH="6718300" progId="Excel.Chart.8">
                  <p:embed followColorScheme="full"/>
                </p:oleObj>
              </mc:Choice>
              <mc:Fallback>
                <p:oleObj name="Chart" r:id="rId3" imgW="7988300" imgH="6718300" progId="Excel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562100"/>
                        <a:ext cx="5153025" cy="461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dirty="0"/>
              <a:t>Analysis of Algorithms</a:t>
            </a:r>
          </a:p>
        </p:txBody>
      </p:sp>
      <p:sp>
        <p:nvSpPr>
          <p:cNvPr id="3072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081CD07-4CD9-3644-8D29-823D2ECC1E70}" type="slidenum">
              <a:rPr lang="en-US" sz="1400"/>
              <a:pPr eaLnBrk="1" hangingPunct="1"/>
              <a:t>16</a:t>
            </a:fld>
            <a:endParaRPr lang="en-US" sz="1400" dirty="0"/>
          </a:p>
        </p:txBody>
      </p:sp>
      <p:sp>
        <p:nvSpPr>
          <p:cNvPr id="30723" name="Rectangle 1026"/>
          <p:cNvSpPr>
            <a:spLocks noChangeArrowheads="1"/>
          </p:cNvSpPr>
          <p:nvPr/>
        </p:nvSpPr>
        <p:spPr bwMode="auto">
          <a:xfrm>
            <a:off x="381000" y="533400"/>
            <a:ext cx="624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chemeClr val="tx2"/>
                </a:solidFill>
              </a:rPr>
              <a:t>More Big-Oh Examples</a:t>
            </a:r>
          </a:p>
        </p:txBody>
      </p:sp>
      <p:sp>
        <p:nvSpPr>
          <p:cNvPr id="30724" name="Rectangle 1027"/>
          <p:cNvSpPr>
            <a:spLocks noChangeArrowheads="1"/>
          </p:cNvSpPr>
          <p:nvPr/>
        </p:nvSpPr>
        <p:spPr bwMode="auto">
          <a:xfrm>
            <a:off x="685800" y="14478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14350" indent="-514350">
              <a:spcBef>
                <a:spcPct val="20000"/>
              </a:spcBef>
              <a:buSzPct val="75000"/>
              <a:buFont typeface="Wingdings" charset="2"/>
              <a:buChar char="q"/>
            </a:pPr>
            <a:r>
              <a:rPr lang="en-US" sz="2800" dirty="0" smtClean="0"/>
              <a:t>7n - 2</a:t>
            </a:r>
            <a:endParaRPr lang="en-US" sz="280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Blip>
                <a:blip r:embed="rId3"/>
              </a:buBlip>
            </a:pPr>
            <a:endParaRPr lang="en-US" sz="2800" dirty="0"/>
          </a:p>
        </p:txBody>
      </p:sp>
      <p:sp>
        <p:nvSpPr>
          <p:cNvPr id="39940" name="Rectangle 1028"/>
          <p:cNvSpPr>
            <a:spLocks noChangeArrowheads="1"/>
          </p:cNvSpPr>
          <p:nvPr/>
        </p:nvSpPr>
        <p:spPr bwMode="auto">
          <a:xfrm>
            <a:off x="487363" y="1930400"/>
            <a:ext cx="7818437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/>
              <a:t>7n-2 is O(n)</a:t>
            </a: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/>
              <a:t>need c &gt; 0 and n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dirty="0">
                <a:sym typeface="Symbol" charset="0"/>
              </a:rPr>
              <a:t> 1 such that</a:t>
            </a:r>
            <a:r>
              <a:rPr lang="en-US" sz="2000" dirty="0"/>
              <a:t> </a:t>
            </a:r>
            <a:r>
              <a:rPr lang="en-US" sz="2000" dirty="0" smtClean="0"/>
              <a:t>7 n - 2 </a:t>
            </a:r>
            <a:r>
              <a:rPr lang="en-US" sz="2000" dirty="0">
                <a:sym typeface="Symbol" charset="0"/>
              </a:rPr>
              <a:t> </a:t>
            </a:r>
            <a:r>
              <a:rPr lang="en-US" sz="2000" dirty="0" smtClean="0">
                <a:sym typeface="Symbol" charset="0"/>
              </a:rPr>
              <a:t>c </a:t>
            </a:r>
            <a:r>
              <a:rPr lang="en-US" sz="2000" dirty="0" smtClean="0">
                <a:cs typeface="Arial" charset="0"/>
                <a:sym typeface="Symbol" charset="0"/>
              </a:rPr>
              <a:t>n </a:t>
            </a:r>
            <a:r>
              <a:rPr lang="en-US" sz="2000" dirty="0">
                <a:cs typeface="Arial" charset="0"/>
                <a:sym typeface="Symbol" charset="0"/>
              </a:rPr>
              <a:t>for n </a:t>
            </a:r>
            <a:r>
              <a:rPr lang="en-US" sz="2000" dirty="0">
                <a:sym typeface="Symbol" charset="0"/>
              </a:rPr>
              <a:t> n</a:t>
            </a:r>
            <a:r>
              <a:rPr lang="en-US" sz="2000" baseline="-25000" dirty="0">
                <a:sym typeface="Symbol" charset="0"/>
              </a:rPr>
              <a:t>0</a:t>
            </a:r>
            <a:endParaRPr lang="en-US" sz="2000" dirty="0">
              <a:sym typeface="Symbol" charset="0"/>
            </a:endParaRP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>
                <a:sym typeface="Symbol" charset="0"/>
              </a:rPr>
              <a:t>this is true for c = 7 and </a:t>
            </a:r>
            <a:r>
              <a:rPr lang="en-US" sz="2000" dirty="0"/>
              <a:t>n</a:t>
            </a:r>
            <a:r>
              <a:rPr lang="en-US" sz="2000" baseline="-25000" dirty="0"/>
              <a:t>0</a:t>
            </a:r>
            <a:r>
              <a:rPr lang="en-US" sz="2000" dirty="0">
                <a:sym typeface="Symbol" charset="0"/>
              </a:rPr>
              <a:t> = 1</a:t>
            </a:r>
            <a:endParaRPr lang="en-US" sz="2000" baseline="-25000" dirty="0"/>
          </a:p>
          <a:p>
            <a:pPr marL="2857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Char char="n"/>
            </a:pPr>
            <a:endParaRPr lang="en-US" sz="2000" dirty="0"/>
          </a:p>
        </p:txBody>
      </p:sp>
      <p:sp>
        <p:nvSpPr>
          <p:cNvPr id="30726" name="Rectangle 1029"/>
          <p:cNvSpPr>
            <a:spLocks noChangeArrowheads="1"/>
          </p:cNvSpPr>
          <p:nvPr/>
        </p:nvSpPr>
        <p:spPr bwMode="auto">
          <a:xfrm>
            <a:off x="685800" y="31242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SzPct val="75000"/>
              <a:buFont typeface="Wingdings" charset="2"/>
              <a:buChar char="q"/>
            </a:pPr>
            <a:r>
              <a:rPr lang="en-US" sz="2800" dirty="0" smtClean="0"/>
              <a:t>3 n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 </a:t>
            </a:r>
            <a:r>
              <a:rPr lang="en-US" sz="2800" dirty="0"/>
              <a:t>+ </a:t>
            </a:r>
            <a:r>
              <a:rPr lang="en-US" sz="2800" dirty="0" smtClean="0"/>
              <a:t>20 n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</a:t>
            </a:r>
            <a:r>
              <a:rPr lang="en-US" sz="2800" dirty="0"/>
              <a:t>+ 5</a:t>
            </a:r>
          </a:p>
          <a:p>
            <a:pPr marL="2857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Char char="n"/>
            </a:pPr>
            <a:endParaRPr lang="en-US" sz="2800" dirty="0">
              <a:latin typeface="Times New Roman" charset="0"/>
            </a:endParaRPr>
          </a:p>
        </p:txBody>
      </p:sp>
      <p:sp>
        <p:nvSpPr>
          <p:cNvPr id="39942" name="Rectangle 1030"/>
          <p:cNvSpPr>
            <a:spLocks noChangeArrowheads="1"/>
          </p:cNvSpPr>
          <p:nvPr/>
        </p:nvSpPr>
        <p:spPr bwMode="auto">
          <a:xfrm>
            <a:off x="457200" y="3581400"/>
            <a:ext cx="8305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 smtClean="0"/>
              <a:t>3 n</a:t>
            </a:r>
            <a:r>
              <a:rPr lang="en-US" sz="2000" baseline="30000" dirty="0" smtClean="0"/>
              <a:t>3</a:t>
            </a:r>
            <a:r>
              <a:rPr lang="en-US" sz="2000" dirty="0" smtClean="0"/>
              <a:t> </a:t>
            </a:r>
            <a:r>
              <a:rPr lang="en-US" sz="2000" dirty="0"/>
              <a:t>+ </a:t>
            </a:r>
            <a:r>
              <a:rPr lang="en-US" sz="2000" dirty="0" smtClean="0"/>
              <a:t>20 n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+ 5 is O(n</a:t>
            </a:r>
            <a:r>
              <a:rPr lang="en-US" sz="2000" baseline="30000" dirty="0"/>
              <a:t>3</a:t>
            </a:r>
            <a:r>
              <a:rPr lang="en-US" sz="2000" dirty="0"/>
              <a:t>)</a:t>
            </a: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/>
              <a:t>need c &gt; 0 and n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dirty="0">
                <a:sym typeface="Symbol" charset="0"/>
              </a:rPr>
              <a:t> 1 such that</a:t>
            </a:r>
            <a:r>
              <a:rPr lang="en-US" sz="2000" dirty="0"/>
              <a:t> </a:t>
            </a:r>
            <a:r>
              <a:rPr lang="en-US" sz="2000" dirty="0" smtClean="0"/>
              <a:t>3 n</a:t>
            </a:r>
            <a:r>
              <a:rPr lang="en-US" sz="2000" baseline="30000" dirty="0" smtClean="0"/>
              <a:t>3</a:t>
            </a:r>
            <a:r>
              <a:rPr lang="en-US" sz="2000" dirty="0" smtClean="0"/>
              <a:t> </a:t>
            </a:r>
            <a:r>
              <a:rPr lang="en-US" sz="2000" dirty="0"/>
              <a:t>+ </a:t>
            </a:r>
            <a:r>
              <a:rPr lang="en-US" sz="2000" dirty="0" smtClean="0"/>
              <a:t>20 n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+ 5 </a:t>
            </a:r>
            <a:r>
              <a:rPr lang="en-US" sz="2000" dirty="0">
                <a:sym typeface="Symbol" charset="0"/>
              </a:rPr>
              <a:t> </a:t>
            </a:r>
            <a:r>
              <a:rPr lang="en-US" sz="2000" dirty="0" smtClean="0">
                <a:sym typeface="Symbol" charset="0"/>
              </a:rPr>
              <a:t>c </a:t>
            </a:r>
            <a:r>
              <a:rPr lang="en-US" sz="2000" dirty="0" smtClean="0">
                <a:cs typeface="Arial" charset="0"/>
                <a:sym typeface="Symbol" charset="0"/>
              </a:rPr>
              <a:t>n</a:t>
            </a:r>
            <a:r>
              <a:rPr lang="en-US" sz="2000" baseline="30000" dirty="0" smtClean="0">
                <a:cs typeface="Arial" charset="0"/>
                <a:sym typeface="Symbol" charset="0"/>
              </a:rPr>
              <a:t>3</a:t>
            </a:r>
            <a:r>
              <a:rPr lang="en-US" sz="2000" dirty="0" smtClean="0">
                <a:cs typeface="Arial" charset="0"/>
                <a:sym typeface="Symbol" charset="0"/>
              </a:rPr>
              <a:t> </a:t>
            </a:r>
            <a:r>
              <a:rPr lang="en-US" sz="2000" dirty="0">
                <a:cs typeface="Arial" charset="0"/>
                <a:sym typeface="Symbol" charset="0"/>
              </a:rPr>
              <a:t>for n </a:t>
            </a:r>
            <a:r>
              <a:rPr lang="en-US" sz="2000" dirty="0">
                <a:sym typeface="Symbol" charset="0"/>
              </a:rPr>
              <a:t> n</a:t>
            </a:r>
            <a:r>
              <a:rPr lang="en-US" sz="2000" baseline="-25000" dirty="0">
                <a:sym typeface="Symbol" charset="0"/>
              </a:rPr>
              <a:t>0</a:t>
            </a:r>
            <a:endParaRPr lang="en-US" sz="2000" dirty="0">
              <a:sym typeface="Symbol" charset="0"/>
            </a:endParaRP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>
                <a:sym typeface="Symbol" charset="0"/>
              </a:rPr>
              <a:t>this is true for c = 4 and </a:t>
            </a:r>
            <a:r>
              <a:rPr lang="en-US" sz="2000" dirty="0"/>
              <a:t>n</a:t>
            </a:r>
            <a:r>
              <a:rPr lang="en-US" sz="2000" baseline="-25000" dirty="0"/>
              <a:t>0</a:t>
            </a:r>
            <a:r>
              <a:rPr lang="en-US" sz="2000" dirty="0">
                <a:sym typeface="Symbol" charset="0"/>
              </a:rPr>
              <a:t> = 21</a:t>
            </a:r>
            <a:endParaRPr lang="en-US" sz="2000" dirty="0"/>
          </a:p>
        </p:txBody>
      </p:sp>
      <p:sp>
        <p:nvSpPr>
          <p:cNvPr id="30728" name="Rectangle 1031"/>
          <p:cNvSpPr>
            <a:spLocks noChangeArrowheads="1"/>
          </p:cNvSpPr>
          <p:nvPr/>
        </p:nvSpPr>
        <p:spPr bwMode="auto">
          <a:xfrm>
            <a:off x="685800" y="4724400"/>
            <a:ext cx="78184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SzPct val="75000"/>
              <a:buFont typeface="Wingdings" charset="2"/>
              <a:buChar char="q"/>
            </a:pPr>
            <a:r>
              <a:rPr lang="en-US" sz="2800" dirty="0"/>
              <a:t>3 log n + 5</a:t>
            </a:r>
          </a:p>
        </p:txBody>
      </p:sp>
      <p:sp>
        <p:nvSpPr>
          <p:cNvPr id="39944" name="Rectangle 1032"/>
          <p:cNvSpPr>
            <a:spLocks noChangeArrowheads="1"/>
          </p:cNvSpPr>
          <p:nvPr/>
        </p:nvSpPr>
        <p:spPr bwMode="auto">
          <a:xfrm>
            <a:off x="533400" y="5257800"/>
            <a:ext cx="861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/>
              <a:t>3 log n + 5 is O(log n)</a:t>
            </a: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/>
              <a:t>need c &gt; 0 and n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n-US" sz="2000" dirty="0">
                <a:sym typeface="Symbol" charset="0"/>
              </a:rPr>
              <a:t> 1 such that</a:t>
            </a:r>
            <a:r>
              <a:rPr lang="en-US" sz="2000" dirty="0"/>
              <a:t> 3 log n + 5 </a:t>
            </a:r>
            <a:r>
              <a:rPr lang="en-US" sz="2000" dirty="0">
                <a:sym typeface="Symbol" charset="0"/>
              </a:rPr>
              <a:t> </a:t>
            </a:r>
            <a:r>
              <a:rPr lang="en-US" sz="2000" dirty="0" smtClean="0">
                <a:sym typeface="Symbol" charset="0"/>
              </a:rPr>
              <a:t>c </a:t>
            </a:r>
            <a:r>
              <a:rPr lang="en-US" sz="2000" dirty="0" smtClean="0">
                <a:cs typeface="Arial" charset="0"/>
                <a:sym typeface="Symbol" charset="0"/>
              </a:rPr>
              <a:t>log </a:t>
            </a:r>
            <a:r>
              <a:rPr lang="en-US" sz="2000" dirty="0">
                <a:cs typeface="Arial" charset="0"/>
                <a:sym typeface="Symbol" charset="0"/>
              </a:rPr>
              <a:t>n for n </a:t>
            </a:r>
            <a:r>
              <a:rPr lang="en-US" sz="2000" dirty="0">
                <a:sym typeface="Symbol" charset="0"/>
              </a:rPr>
              <a:t> n</a:t>
            </a:r>
            <a:r>
              <a:rPr lang="en-US" sz="2000" baseline="-25000" dirty="0">
                <a:sym typeface="Symbol" charset="0"/>
              </a:rPr>
              <a:t>0</a:t>
            </a:r>
            <a:endParaRPr lang="en-US" sz="2000" dirty="0">
              <a:sym typeface="Symbol" charset="0"/>
            </a:endParaRP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>
                <a:sym typeface="Symbol" charset="0"/>
              </a:rPr>
              <a:t>this is true for c = 8 and </a:t>
            </a:r>
            <a:r>
              <a:rPr lang="en-US" sz="2000" dirty="0"/>
              <a:t>n</a:t>
            </a:r>
            <a:r>
              <a:rPr lang="en-US" sz="2000" baseline="-25000" dirty="0"/>
              <a:t>0</a:t>
            </a:r>
            <a:r>
              <a:rPr lang="en-US" sz="2000" dirty="0">
                <a:sym typeface="Symbol" charset="0"/>
              </a:rPr>
              <a:t> = 2</a:t>
            </a:r>
            <a:endParaRPr lang="en-US" dirty="0"/>
          </a:p>
        </p:txBody>
      </p:sp>
      <p:graphicFrame>
        <p:nvGraphicFramePr>
          <p:cNvPr id="30730" name="Object 1033"/>
          <p:cNvGraphicFramePr>
            <a:graphicFrameLocks noChangeAspect="1"/>
          </p:cNvGraphicFramePr>
          <p:nvPr/>
        </p:nvGraphicFramePr>
        <p:xfrm>
          <a:off x="6705600" y="228600"/>
          <a:ext cx="205740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6" name="Clip" r:id="rId4" imgW="1804737" imgH="1190201" progId="MS_ClipArt_Gallery.5">
                  <p:embed/>
                </p:oleObj>
              </mc:Choice>
              <mc:Fallback>
                <p:oleObj name="Clip" r:id="rId4" imgW="1804737" imgH="1190201" progId="MS_ClipArt_Gallery.5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28600"/>
                        <a:ext cx="2057400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Date Placeholder 1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utoUpdateAnimBg="0"/>
      <p:bldP spid="39942" grpId="0" autoUpdateAnimBg="0"/>
      <p:bldP spid="3994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1FDEA13-476D-894B-B8FC-F704FABCBF5D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Big-Oh and Growth Rate</a:t>
            </a:r>
          </a:p>
        </p:txBody>
      </p:sp>
      <p:sp>
        <p:nvSpPr>
          <p:cNvPr id="317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8001000" cy="25908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Tahoma" charset="0"/>
              </a:rPr>
              <a:t>The big-Oh notation gives an upper bound on the growth rate of a function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The statement </a:t>
            </a:r>
            <a:r>
              <a:rPr lang="ja-JP" altLang="en-US" sz="2400" dirty="0">
                <a:latin typeface="Tahoma" charset="0"/>
              </a:rPr>
              <a:t>“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f</a:t>
            </a:r>
            <a:r>
              <a:rPr lang="en-US" altLang="ja-JP" sz="2400" dirty="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dirty="0">
                <a:latin typeface="Times New Roman" charset="0"/>
                <a:sym typeface="Symbol" charset="0"/>
              </a:rPr>
              <a:t>) </a:t>
            </a:r>
            <a:r>
              <a:rPr lang="en-US" altLang="ja-JP" sz="2400" dirty="0">
                <a:latin typeface="Tahoma" charset="0"/>
              </a:rPr>
              <a:t>is 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O</a:t>
            </a:r>
            <a:r>
              <a:rPr lang="en-US" altLang="ja-JP" sz="2400" dirty="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g</a:t>
            </a:r>
            <a:r>
              <a:rPr lang="en-US" altLang="ja-JP" sz="2400" dirty="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dirty="0">
                <a:latin typeface="Times New Roman" charset="0"/>
                <a:sym typeface="Symbol" charset="0"/>
              </a:rPr>
              <a:t>))</a:t>
            </a:r>
            <a:r>
              <a:rPr lang="ja-JP" altLang="en-US" sz="2400" dirty="0">
                <a:latin typeface="Tahoma" charset="0"/>
              </a:rPr>
              <a:t>”</a:t>
            </a:r>
            <a:r>
              <a:rPr lang="en-US" altLang="ja-JP" sz="2400" dirty="0">
                <a:latin typeface="Tahoma" charset="0"/>
              </a:rPr>
              <a:t> means that the growth rate of 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f</a:t>
            </a:r>
            <a:r>
              <a:rPr lang="en-US" altLang="ja-JP" sz="2400" dirty="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dirty="0">
                <a:latin typeface="Times New Roman" charset="0"/>
                <a:sym typeface="Symbol" charset="0"/>
              </a:rPr>
              <a:t>) </a:t>
            </a:r>
            <a:r>
              <a:rPr lang="en-US" altLang="ja-JP" sz="2400" dirty="0">
                <a:latin typeface="Tahoma" charset="0"/>
              </a:rPr>
              <a:t>is no more than the growth rate of 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g</a:t>
            </a:r>
            <a:r>
              <a:rPr lang="en-US" altLang="ja-JP" sz="2400" dirty="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dirty="0">
                <a:latin typeface="Times New Roman" charset="0"/>
                <a:sym typeface="Symbol" charset="0"/>
              </a:rPr>
              <a:t>)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We can use the big-Oh notation to rank functions according to their growth rate</a:t>
            </a:r>
          </a:p>
        </p:txBody>
      </p:sp>
      <p:sp>
        <p:nvSpPr>
          <p:cNvPr id="31772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4162642"/>
            <a:ext cx="6791325" cy="26953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8A69158-139B-4F4F-9633-BAEFEA5FCF6A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04800"/>
            <a:ext cx="396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Big-Oh Rules</a:t>
            </a:r>
          </a:p>
        </p:txBody>
      </p:sp>
      <p:sp>
        <p:nvSpPr>
          <p:cNvPr id="327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2209800"/>
            <a:ext cx="7924800" cy="4114800"/>
          </a:xfrm>
        </p:spPr>
        <p:txBody>
          <a:bodyPr/>
          <a:lstStyle/>
          <a:p>
            <a:pPr eaLnBrk="1" hangingPunct="1">
              <a:tabLst>
                <a:tab pos="1028700" algn="l"/>
              </a:tabLst>
            </a:pPr>
            <a:r>
              <a:rPr lang="en-US" sz="2800" dirty="0">
                <a:latin typeface="Tahoma" charset="0"/>
              </a:rPr>
              <a:t>If is </a:t>
            </a:r>
            <a:r>
              <a:rPr lang="en-US" sz="2800" b="1" i="1" dirty="0">
                <a:latin typeface="Times New Roman" charset="0"/>
                <a:sym typeface="Symbol" charset="0"/>
              </a:rPr>
              <a:t>f</a:t>
            </a:r>
            <a:r>
              <a:rPr lang="en-US" sz="2800" dirty="0">
                <a:latin typeface="Times New Roman" charset="0"/>
                <a:sym typeface="Symbol" charset="0"/>
              </a:rPr>
              <a:t>(</a:t>
            </a:r>
            <a:r>
              <a:rPr lang="en-US" sz="2800" b="1" i="1" dirty="0">
                <a:latin typeface="Times New Roman" charset="0"/>
                <a:sym typeface="Symbol" charset="0"/>
              </a:rPr>
              <a:t>n</a:t>
            </a:r>
            <a:r>
              <a:rPr lang="en-US" sz="2800" dirty="0">
                <a:latin typeface="Times New Roman" charset="0"/>
                <a:sym typeface="Symbol" charset="0"/>
              </a:rPr>
              <a:t>)</a:t>
            </a:r>
            <a:r>
              <a:rPr lang="en-US" sz="2800" dirty="0">
                <a:latin typeface="Tahoma" charset="0"/>
              </a:rPr>
              <a:t> a polynomial of degree </a:t>
            </a:r>
            <a:r>
              <a:rPr lang="en-US" sz="2800" b="1" i="1" dirty="0">
                <a:latin typeface="Times New Roman" charset="0"/>
                <a:sym typeface="Symbol" charset="0"/>
              </a:rPr>
              <a:t>d</a:t>
            </a:r>
            <a:r>
              <a:rPr lang="en-US" sz="2800" dirty="0">
                <a:latin typeface="Tahoma" charset="0"/>
              </a:rPr>
              <a:t>, then </a:t>
            </a:r>
            <a:r>
              <a:rPr lang="en-US" sz="2800" b="1" i="1" dirty="0">
                <a:latin typeface="Times New Roman" charset="0"/>
                <a:sym typeface="Symbol" charset="0"/>
              </a:rPr>
              <a:t>f</a:t>
            </a:r>
            <a:r>
              <a:rPr lang="en-US" sz="2800" dirty="0">
                <a:latin typeface="Times New Roman" charset="0"/>
                <a:sym typeface="Symbol" charset="0"/>
              </a:rPr>
              <a:t>(</a:t>
            </a:r>
            <a:r>
              <a:rPr lang="en-US" sz="2800" b="1" i="1" dirty="0">
                <a:latin typeface="Times New Roman" charset="0"/>
                <a:sym typeface="Symbol" charset="0"/>
              </a:rPr>
              <a:t>n</a:t>
            </a:r>
            <a:r>
              <a:rPr lang="en-US" sz="2800" dirty="0">
                <a:latin typeface="Times New Roman" charset="0"/>
                <a:sym typeface="Symbol" charset="0"/>
              </a:rPr>
              <a:t>)</a:t>
            </a:r>
            <a:r>
              <a:rPr lang="en-US" sz="2800" dirty="0">
                <a:latin typeface="Tahoma" charset="0"/>
              </a:rPr>
              <a:t> is </a:t>
            </a:r>
            <a:r>
              <a:rPr lang="en-US" sz="2800" b="1" i="1" dirty="0">
                <a:latin typeface="Times New Roman" charset="0"/>
                <a:sym typeface="Symbol" charset="0"/>
              </a:rPr>
              <a:t>O</a:t>
            </a:r>
            <a:r>
              <a:rPr lang="en-US" sz="2800" dirty="0">
                <a:latin typeface="Times New Roman" charset="0"/>
                <a:sym typeface="Symbol" charset="0"/>
              </a:rPr>
              <a:t>(</a:t>
            </a:r>
            <a:r>
              <a:rPr lang="en-US" sz="2800" b="1" i="1" dirty="0" err="1">
                <a:latin typeface="Times New Roman" charset="0"/>
                <a:sym typeface="Symbol" charset="0"/>
              </a:rPr>
              <a:t>n</a:t>
            </a:r>
            <a:r>
              <a:rPr lang="en-US" sz="2800" b="1" i="1" baseline="30000" dirty="0" err="1">
                <a:latin typeface="Times New Roman" charset="0"/>
                <a:sym typeface="Symbol" charset="0"/>
              </a:rPr>
              <a:t>d</a:t>
            </a:r>
            <a:r>
              <a:rPr lang="en-US" sz="2800" dirty="0">
                <a:latin typeface="Times New Roman" charset="0"/>
                <a:sym typeface="Symbol" charset="0"/>
              </a:rPr>
              <a:t>)</a:t>
            </a:r>
            <a:r>
              <a:rPr lang="en-US" sz="2800" dirty="0">
                <a:latin typeface="Tahoma" charset="0"/>
              </a:rPr>
              <a:t>, i.e.,</a:t>
            </a:r>
          </a:p>
          <a:p>
            <a:pPr marL="1028700" lvl="1" eaLnBrk="1" hangingPunct="1">
              <a:buFont typeface="Wingdings" charset="0"/>
              <a:buAutoNum type="arabicPeriod"/>
              <a:tabLst>
                <a:tab pos="1028700" algn="l"/>
              </a:tabLst>
            </a:pPr>
            <a:r>
              <a:rPr lang="en-US" sz="2400" dirty="0">
                <a:latin typeface="Tahoma" charset="0"/>
              </a:rPr>
              <a:t>Drop lower-order terms</a:t>
            </a:r>
          </a:p>
          <a:p>
            <a:pPr marL="1028700" lvl="1" eaLnBrk="1" hangingPunct="1">
              <a:buFont typeface="Wingdings" charset="0"/>
              <a:buAutoNum type="arabicPeriod"/>
              <a:tabLst>
                <a:tab pos="1028700" algn="l"/>
              </a:tabLst>
            </a:pPr>
            <a:r>
              <a:rPr lang="en-US" sz="2400" dirty="0">
                <a:latin typeface="Tahoma" charset="0"/>
              </a:rPr>
              <a:t>Drop constant factors</a:t>
            </a:r>
          </a:p>
          <a:p>
            <a:pPr eaLnBrk="1" hangingPunct="1">
              <a:tabLst>
                <a:tab pos="1028700" algn="l"/>
              </a:tabLst>
            </a:pPr>
            <a:r>
              <a:rPr lang="en-US" sz="2800" dirty="0">
                <a:latin typeface="Tahoma" charset="0"/>
              </a:rPr>
              <a:t>Use the smallest possible class of functions</a:t>
            </a:r>
          </a:p>
          <a:p>
            <a:pPr marL="1028700" lvl="1" eaLnBrk="1" hangingPunct="1">
              <a:tabLst>
                <a:tab pos="1028700" algn="l"/>
              </a:tabLst>
            </a:pPr>
            <a:r>
              <a:rPr lang="en-US" sz="2400" dirty="0">
                <a:latin typeface="Tahoma" charset="0"/>
              </a:rPr>
              <a:t>Say </a:t>
            </a:r>
            <a:r>
              <a:rPr lang="ja-JP" altLang="en-US" sz="2400" dirty="0">
                <a:latin typeface="Tahoma" charset="0"/>
              </a:rPr>
              <a:t>“</a:t>
            </a:r>
            <a:r>
              <a:rPr lang="en-US" altLang="ja-JP" sz="2400" dirty="0">
                <a:latin typeface="Times New Roman" charset="0"/>
                <a:sym typeface="Symbol" charset="0"/>
              </a:rPr>
              <a:t>2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dirty="0">
                <a:latin typeface="Tahoma" charset="0"/>
                <a:sym typeface="Symbol" charset="0"/>
              </a:rPr>
              <a:t> is 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O</a:t>
            </a:r>
            <a:r>
              <a:rPr lang="en-US" altLang="ja-JP" sz="2400" dirty="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dirty="0">
                <a:latin typeface="Times New Roman" charset="0"/>
                <a:sym typeface="Symbol" charset="0"/>
              </a:rPr>
              <a:t>)</a:t>
            </a:r>
            <a:r>
              <a:rPr lang="ja-JP" altLang="en-US" sz="2400" dirty="0">
                <a:latin typeface="Tahoma" charset="0"/>
                <a:sym typeface="Symbol" charset="0"/>
              </a:rPr>
              <a:t>”</a:t>
            </a:r>
            <a:r>
              <a:rPr lang="en-US" altLang="ja-JP" sz="2400" dirty="0">
                <a:latin typeface="Times New Roman" charset="0"/>
                <a:sym typeface="Symbol" charset="0"/>
              </a:rPr>
              <a:t> </a:t>
            </a:r>
            <a:r>
              <a:rPr lang="en-US" altLang="ja-JP" sz="2400" dirty="0">
                <a:latin typeface="Tahoma" charset="0"/>
              </a:rPr>
              <a:t>instead of </a:t>
            </a:r>
            <a:r>
              <a:rPr lang="ja-JP" altLang="en-US" sz="2400" dirty="0">
                <a:latin typeface="Tahoma" charset="0"/>
              </a:rPr>
              <a:t>“</a:t>
            </a:r>
            <a:r>
              <a:rPr lang="en-US" altLang="ja-JP" sz="2400" dirty="0">
                <a:latin typeface="Times New Roman" charset="0"/>
                <a:sym typeface="Symbol" charset="0"/>
              </a:rPr>
              <a:t>2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dirty="0">
                <a:latin typeface="Tahoma" charset="0"/>
                <a:sym typeface="Symbol" charset="0"/>
              </a:rPr>
              <a:t> is </a:t>
            </a:r>
            <a:r>
              <a:rPr lang="en-US" altLang="ja-JP" sz="2400" b="1" i="1" dirty="0" smtClean="0">
                <a:latin typeface="Times New Roman" charset="0"/>
                <a:sym typeface="Symbol" charset="0"/>
              </a:rPr>
              <a:t>O</a:t>
            </a:r>
            <a:r>
              <a:rPr lang="en-US" altLang="ja-JP" sz="2400" dirty="0" smtClean="0">
                <a:latin typeface="Times New Roman" charset="0"/>
                <a:sym typeface="Symbol" charset="0"/>
              </a:rPr>
              <a:t>(2</a:t>
            </a:r>
            <a:r>
              <a:rPr lang="en-US" altLang="ja-JP" sz="2400" b="1" i="1" dirty="0" smtClean="0">
                <a:latin typeface="Times New Roman" charset="0"/>
                <a:sym typeface="Symbol" charset="0"/>
              </a:rPr>
              <a:t>n</a:t>
            </a:r>
            <a:r>
              <a:rPr lang="en-US" altLang="ja-JP" sz="2400" dirty="0" smtClean="0">
                <a:latin typeface="Times New Roman" charset="0"/>
                <a:sym typeface="Symbol" charset="0"/>
              </a:rPr>
              <a:t>)</a:t>
            </a:r>
            <a:r>
              <a:rPr lang="ja-JP" altLang="en-US" sz="2400" dirty="0">
                <a:latin typeface="Tahoma" charset="0"/>
                <a:sym typeface="Symbol" charset="0"/>
              </a:rPr>
              <a:t>”</a:t>
            </a:r>
            <a:endParaRPr lang="en-US" altLang="ja-JP" sz="2400" dirty="0">
              <a:latin typeface="Tahoma" charset="0"/>
              <a:sym typeface="Symbol" charset="0"/>
            </a:endParaRPr>
          </a:p>
          <a:p>
            <a:pPr eaLnBrk="1" hangingPunct="1">
              <a:tabLst>
                <a:tab pos="1028700" algn="l"/>
              </a:tabLst>
            </a:pPr>
            <a:r>
              <a:rPr lang="en-US" sz="2800" dirty="0">
                <a:latin typeface="Tahoma" charset="0"/>
                <a:sym typeface="Symbol" charset="0"/>
              </a:rPr>
              <a:t>Use the simplest expression of the class</a:t>
            </a:r>
          </a:p>
          <a:p>
            <a:pPr marL="1028700" lvl="1" eaLnBrk="1" hangingPunct="1">
              <a:tabLst>
                <a:tab pos="1028700" algn="l"/>
              </a:tabLst>
            </a:pPr>
            <a:r>
              <a:rPr lang="en-US" sz="2400" dirty="0">
                <a:latin typeface="Tahoma" charset="0"/>
              </a:rPr>
              <a:t>Say </a:t>
            </a:r>
            <a:r>
              <a:rPr lang="ja-JP" altLang="en-US" sz="2400" dirty="0">
                <a:latin typeface="Tahoma" charset="0"/>
              </a:rPr>
              <a:t>“</a:t>
            </a:r>
            <a:r>
              <a:rPr lang="en-US" altLang="ja-JP" sz="2400" dirty="0">
                <a:latin typeface="Times New Roman" charset="0"/>
                <a:sym typeface="Symbol" charset="0"/>
              </a:rPr>
              <a:t>3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b="1" dirty="0">
                <a:latin typeface="Times New Roman" charset="0"/>
                <a:sym typeface="Symbol" charset="0"/>
              </a:rPr>
              <a:t> </a:t>
            </a:r>
            <a:r>
              <a:rPr lang="en-US" altLang="ja-JP" sz="2400" dirty="0">
                <a:latin typeface="Symbol" charset="0"/>
                <a:sym typeface="Symbol" charset="0"/>
              </a:rPr>
              <a:t>+</a:t>
            </a:r>
            <a:r>
              <a:rPr lang="en-US" altLang="ja-JP" sz="2400" b="1" dirty="0">
                <a:latin typeface="Times New Roman" charset="0"/>
                <a:sym typeface="Symbol" charset="0"/>
              </a:rPr>
              <a:t> </a:t>
            </a:r>
            <a:r>
              <a:rPr lang="en-US" altLang="ja-JP" sz="2400" dirty="0">
                <a:latin typeface="Times New Roman" charset="0"/>
                <a:sym typeface="Symbol" charset="0"/>
              </a:rPr>
              <a:t>5</a:t>
            </a:r>
            <a:r>
              <a:rPr lang="en-US" altLang="ja-JP" sz="2400" dirty="0">
                <a:latin typeface="Tahoma" charset="0"/>
                <a:sym typeface="Symbol" charset="0"/>
              </a:rPr>
              <a:t> is 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O</a:t>
            </a:r>
            <a:r>
              <a:rPr lang="en-US" altLang="ja-JP" sz="2400" dirty="0">
                <a:latin typeface="Times New Roman" charset="0"/>
                <a:sym typeface="Symbol" charset="0"/>
              </a:rPr>
              <a:t>(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dirty="0">
                <a:latin typeface="Times New Roman" charset="0"/>
                <a:sym typeface="Symbol" charset="0"/>
              </a:rPr>
              <a:t>)</a:t>
            </a:r>
            <a:r>
              <a:rPr lang="ja-JP" altLang="en-US" sz="2400" dirty="0">
                <a:latin typeface="Tahoma" charset="0"/>
                <a:sym typeface="Symbol" charset="0"/>
              </a:rPr>
              <a:t>”</a:t>
            </a:r>
            <a:r>
              <a:rPr lang="en-US" altLang="ja-JP" sz="2400" dirty="0">
                <a:latin typeface="Times New Roman" charset="0"/>
                <a:sym typeface="Symbol" charset="0"/>
              </a:rPr>
              <a:t> </a:t>
            </a:r>
            <a:r>
              <a:rPr lang="en-US" altLang="ja-JP" sz="2400" dirty="0">
                <a:latin typeface="Tahoma" charset="0"/>
              </a:rPr>
              <a:t>instead of </a:t>
            </a:r>
            <a:r>
              <a:rPr lang="ja-JP" altLang="en-US" sz="2400" dirty="0">
                <a:latin typeface="Tahoma" charset="0"/>
              </a:rPr>
              <a:t>“</a:t>
            </a:r>
            <a:r>
              <a:rPr lang="en-US" altLang="ja-JP" sz="2400" dirty="0">
                <a:latin typeface="Times New Roman" charset="0"/>
                <a:sym typeface="Symbol" charset="0"/>
              </a:rPr>
              <a:t>3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b="1" dirty="0">
                <a:latin typeface="Times New Roman" charset="0"/>
                <a:sym typeface="Symbol" charset="0"/>
              </a:rPr>
              <a:t> </a:t>
            </a:r>
            <a:r>
              <a:rPr lang="en-US" altLang="ja-JP" sz="2400" dirty="0">
                <a:latin typeface="Symbol" charset="0"/>
                <a:sym typeface="Symbol" charset="0"/>
              </a:rPr>
              <a:t>+</a:t>
            </a:r>
            <a:r>
              <a:rPr lang="en-US" altLang="ja-JP" sz="2400" b="1" dirty="0">
                <a:latin typeface="Times New Roman" charset="0"/>
                <a:sym typeface="Symbol" charset="0"/>
              </a:rPr>
              <a:t> </a:t>
            </a:r>
            <a:r>
              <a:rPr lang="en-US" altLang="ja-JP" sz="2400" dirty="0">
                <a:latin typeface="Times New Roman" charset="0"/>
                <a:sym typeface="Symbol" charset="0"/>
              </a:rPr>
              <a:t>5</a:t>
            </a:r>
            <a:r>
              <a:rPr lang="en-US" altLang="ja-JP" sz="2400" dirty="0">
                <a:latin typeface="Tahoma" charset="0"/>
                <a:sym typeface="Symbol" charset="0"/>
              </a:rPr>
              <a:t> is 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O</a:t>
            </a:r>
            <a:r>
              <a:rPr lang="en-US" altLang="ja-JP" sz="2400" dirty="0">
                <a:latin typeface="Times New Roman" charset="0"/>
                <a:sym typeface="Symbol" charset="0"/>
              </a:rPr>
              <a:t>(3</a:t>
            </a:r>
            <a:r>
              <a:rPr lang="en-US" altLang="ja-JP" sz="24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400" dirty="0">
                <a:latin typeface="Times New Roman" charset="0"/>
                <a:sym typeface="Symbol" charset="0"/>
              </a:rPr>
              <a:t>)</a:t>
            </a:r>
            <a:r>
              <a:rPr lang="ja-JP" altLang="en-US" sz="2400" dirty="0">
                <a:latin typeface="Tahoma" charset="0"/>
                <a:sym typeface="Symbol" charset="0"/>
              </a:rPr>
              <a:t>”</a:t>
            </a:r>
            <a:endParaRPr lang="en-US" sz="2400" dirty="0">
              <a:latin typeface="Tahoma" charset="0"/>
              <a:sym typeface="Symbol" charset="0"/>
            </a:endParaRPr>
          </a:p>
        </p:txBody>
      </p:sp>
      <p:graphicFrame>
        <p:nvGraphicFramePr>
          <p:cNvPr id="32773" name="Object 4"/>
          <p:cNvGraphicFramePr>
            <a:graphicFrameLocks noChangeAspect="1"/>
          </p:cNvGraphicFramePr>
          <p:nvPr/>
        </p:nvGraphicFramePr>
        <p:xfrm>
          <a:off x="7024688" y="152400"/>
          <a:ext cx="1662112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0" name="Clip" r:id="rId3" imgW="1593245" imgH="1797269" progId="MS_ClipArt_Gallery.2">
                  <p:embed/>
                </p:oleObj>
              </mc:Choice>
              <mc:Fallback>
                <p:oleObj name="Clip" r:id="rId3" imgW="1593245" imgH="1797269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688" y="152400"/>
                        <a:ext cx="1662112" cy="187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674ACB0-1B54-0F43-833F-39BADD9A4D5D}" type="slidenum">
              <a:rPr lang="en-US" sz="1400"/>
              <a:pPr eaLnBrk="1" hangingPunct="1"/>
              <a:t>19</a:t>
            </a:fld>
            <a:endParaRPr lang="en-US" sz="1400" dirty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Asymptotic Algorithm Analysis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848600" cy="464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>
                <a:latin typeface="Tahoma" charset="0"/>
              </a:rPr>
              <a:t>The asymptotic analysis of an algorithm determines the running time in big-Oh notation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To perform the asymptotic analysis</a:t>
            </a:r>
          </a:p>
          <a:p>
            <a:pPr marL="1028700" lvl="1" indent="-228600" eaLnBrk="1" hangingPunct="1"/>
            <a:r>
              <a:rPr lang="en-US" sz="2000" dirty="0">
                <a:latin typeface="Tahoma" charset="0"/>
              </a:rPr>
              <a:t>We find the worst-case number of primitive operations </a:t>
            </a:r>
            <a:r>
              <a:rPr lang="en-US" sz="2000" dirty="0" smtClean="0">
                <a:latin typeface="Tahoma" charset="0"/>
              </a:rPr>
              <a:t>executed </a:t>
            </a:r>
            <a:r>
              <a:rPr lang="en-US" sz="2000" dirty="0">
                <a:latin typeface="Tahoma" charset="0"/>
              </a:rPr>
              <a:t>as a function of the input size</a:t>
            </a:r>
          </a:p>
          <a:p>
            <a:pPr marL="1028700" lvl="1" indent="-228600" eaLnBrk="1" hangingPunct="1"/>
            <a:r>
              <a:rPr lang="en-US" sz="2000" dirty="0">
                <a:latin typeface="Tahoma" charset="0"/>
              </a:rPr>
              <a:t>We express this function with big-Oh notation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Example:</a:t>
            </a:r>
          </a:p>
          <a:p>
            <a:pPr marL="1028700" lvl="1" indent="-228600" eaLnBrk="1" hangingPunct="1"/>
            <a:r>
              <a:rPr lang="en-US" sz="2000" dirty="0">
                <a:latin typeface="Tahoma" charset="0"/>
              </a:rPr>
              <a:t>We say that algorithm </a:t>
            </a:r>
            <a:r>
              <a:rPr lang="en-US" sz="2000" dirty="0" err="1">
                <a:solidFill>
                  <a:srgbClr val="BE2D00"/>
                </a:solidFill>
                <a:latin typeface="Tahoma" charset="0"/>
              </a:rPr>
              <a:t>arrayMax</a:t>
            </a:r>
            <a:r>
              <a:rPr lang="en-US" sz="2000" dirty="0">
                <a:solidFill>
                  <a:srgbClr val="BE2D00"/>
                </a:solidFill>
                <a:latin typeface="Tahoma" charset="0"/>
              </a:rPr>
              <a:t> </a:t>
            </a:r>
            <a:r>
              <a:rPr lang="ja-JP" altLang="en-US" sz="2000" dirty="0" smtClean="0">
                <a:latin typeface="Tahoma" charset="0"/>
              </a:rPr>
              <a:t>“</a:t>
            </a:r>
            <a:r>
              <a:rPr lang="en-US" altLang="ja-JP" sz="2000" dirty="0">
                <a:latin typeface="Tahoma" charset="0"/>
              </a:rPr>
              <a:t>runs in </a:t>
            </a:r>
            <a:r>
              <a:rPr lang="en-US" altLang="ja-JP" sz="2000" b="1" i="1" dirty="0">
                <a:latin typeface="Times New Roman" charset="0"/>
                <a:sym typeface="Symbol" charset="0"/>
              </a:rPr>
              <a:t>O</a:t>
            </a:r>
            <a:r>
              <a:rPr lang="en-US" altLang="ja-JP" sz="2000" dirty="0">
                <a:latin typeface="Times New Roman" charset="0"/>
                <a:sym typeface="Symbol" charset="0"/>
              </a:rPr>
              <a:t>(</a:t>
            </a:r>
            <a:r>
              <a:rPr lang="en-US" altLang="ja-JP" sz="2000" b="1" i="1" dirty="0">
                <a:latin typeface="Times New Roman" charset="0"/>
                <a:sym typeface="Symbol" charset="0"/>
              </a:rPr>
              <a:t>n</a:t>
            </a:r>
            <a:r>
              <a:rPr lang="en-US" altLang="ja-JP" sz="2000" dirty="0">
                <a:latin typeface="Times New Roman" charset="0"/>
                <a:sym typeface="Symbol" charset="0"/>
              </a:rPr>
              <a:t>) </a:t>
            </a:r>
            <a:r>
              <a:rPr lang="en-US" altLang="ja-JP" sz="2000" dirty="0">
                <a:latin typeface="Tahoma" charset="0"/>
              </a:rPr>
              <a:t>time</a:t>
            </a:r>
            <a:r>
              <a:rPr lang="ja-JP" altLang="en-US" sz="2000" dirty="0">
                <a:latin typeface="Tahoma" charset="0"/>
              </a:rPr>
              <a:t>”</a:t>
            </a:r>
            <a:endParaRPr lang="en-US" altLang="ja-JP" sz="2000" dirty="0">
              <a:latin typeface="Tahoma" charset="0"/>
            </a:endParaRPr>
          </a:p>
          <a:p>
            <a:pPr eaLnBrk="1" hangingPunct="1"/>
            <a:r>
              <a:rPr lang="en-US" sz="2400" dirty="0">
                <a:latin typeface="Tahoma" charset="0"/>
              </a:rPr>
              <a:t>Since constant factors and lower-order terms are eventually dropped anyhow, we can disregard them when counting primitive operations</a:t>
            </a:r>
          </a:p>
        </p:txBody>
      </p:sp>
      <p:sp>
        <p:nvSpPr>
          <p:cNvPr id="33797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5946185-D02B-AE4E-9A89-DCF7FC7EEF7E}" type="slidenum">
              <a:rPr lang="en-US" sz="1400"/>
              <a:pPr eaLnBrk="1" hangingPunct="1"/>
              <a:t>20</a:t>
            </a:fld>
            <a:endParaRPr lang="en-US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Computing Prefix Averages</a:t>
            </a:r>
          </a:p>
        </p:txBody>
      </p:sp>
      <p:sp>
        <p:nvSpPr>
          <p:cNvPr id="3584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4343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We further illustrate asymptotic analysis with two algorithms for prefix averages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The </a:t>
            </a:r>
            <a:r>
              <a:rPr lang="en-US" sz="2400" b="1" i="1" dirty="0" err="1">
                <a:latin typeface="Times New Roman" charset="0"/>
              </a:rPr>
              <a:t>i</a:t>
            </a:r>
            <a:r>
              <a:rPr lang="en-US" sz="2400" dirty="0" err="1">
                <a:latin typeface="Tahoma" charset="0"/>
              </a:rPr>
              <a:t>-th</a:t>
            </a:r>
            <a:r>
              <a:rPr lang="en-US" sz="2400" dirty="0">
                <a:latin typeface="Tahoma" charset="0"/>
              </a:rPr>
              <a:t> prefix average of an array </a:t>
            </a:r>
            <a:r>
              <a:rPr lang="en-US" sz="2400" b="1" i="1" dirty="0">
                <a:latin typeface="Times New Roman" charset="0"/>
              </a:rPr>
              <a:t>X</a:t>
            </a:r>
            <a:r>
              <a:rPr lang="en-US" sz="2400" dirty="0">
                <a:latin typeface="Tahoma" charset="0"/>
              </a:rPr>
              <a:t> is average of the first 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 err="1">
                <a:latin typeface="Times New Roman" charset="0"/>
                <a:sym typeface="Symbol" charset="0"/>
              </a:rPr>
              <a:t>i</a:t>
            </a:r>
            <a:r>
              <a:rPr lang="en-US" sz="2400" dirty="0">
                <a:latin typeface="Times New Roman" charset="0"/>
                <a:sym typeface="Symbol" charset="0"/>
              </a:rPr>
              <a:t> </a:t>
            </a:r>
            <a:r>
              <a:rPr lang="en-US" sz="2400" dirty="0">
                <a:latin typeface="Symbol" charset="0"/>
                <a:sym typeface="Symbol" charset="0"/>
              </a:rPr>
              <a:t>+</a:t>
            </a:r>
            <a:r>
              <a:rPr lang="en-US" sz="2400" dirty="0">
                <a:latin typeface="Times New Roman" charset="0"/>
                <a:sym typeface="Symbol" charset="0"/>
              </a:rPr>
              <a:t> 1) </a:t>
            </a:r>
            <a:r>
              <a:rPr lang="en-US" sz="2400" dirty="0">
                <a:latin typeface="Tahoma" charset="0"/>
              </a:rPr>
              <a:t>elements of </a:t>
            </a:r>
            <a:r>
              <a:rPr lang="en-US" sz="2400" b="1" i="1" dirty="0">
                <a:latin typeface="Times New Roman" charset="0"/>
              </a:rPr>
              <a:t>X</a:t>
            </a:r>
            <a:r>
              <a:rPr lang="en-US" sz="2400" b="1" dirty="0">
                <a:latin typeface="Times New Roman" charset="0"/>
              </a:rPr>
              <a:t>:</a:t>
            </a:r>
            <a:endParaRPr lang="en-US" sz="2400" dirty="0">
              <a:latin typeface="Tahoma" charset="0"/>
            </a:endParaRPr>
          </a:p>
          <a:p>
            <a:pPr algn="ctr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000" b="1" i="1" dirty="0">
                <a:latin typeface="Times New Roman" charset="0"/>
                <a:sym typeface="Symbol" charset="0"/>
              </a:rPr>
              <a:t>A</a:t>
            </a:r>
            <a:r>
              <a:rPr lang="en-US" sz="2000" dirty="0">
                <a:latin typeface="Times New Roman" charset="0"/>
                <a:sym typeface="Symbol" charset="0"/>
              </a:rPr>
              <a:t>[</a:t>
            </a:r>
            <a:r>
              <a:rPr lang="en-US" sz="2000" b="1" i="1" dirty="0" err="1">
                <a:latin typeface="Times New Roman" charset="0"/>
                <a:sym typeface="Symbol" charset="0"/>
              </a:rPr>
              <a:t>i</a:t>
            </a:r>
            <a:r>
              <a:rPr lang="en-US" sz="2000" dirty="0">
                <a:latin typeface="Times New Roman" charset="0"/>
                <a:sym typeface="Symbol" charset="0"/>
              </a:rPr>
              <a:t>]</a:t>
            </a:r>
            <a:r>
              <a:rPr lang="en-US" sz="2000" b="1" i="1" dirty="0">
                <a:latin typeface="Times New Roman" charset="0"/>
                <a:sym typeface="Symbol" charset="0"/>
              </a:rPr>
              <a:t> </a:t>
            </a:r>
            <a:r>
              <a:rPr lang="en-US" sz="2400" dirty="0">
                <a:latin typeface="Symbol" charset="0"/>
                <a:sym typeface="Symbol" charset="0"/>
              </a:rPr>
              <a:t>= (</a:t>
            </a:r>
            <a:r>
              <a:rPr lang="en-US" sz="2000" b="1" i="1" dirty="0">
                <a:latin typeface="Times New Roman" charset="0"/>
                <a:sym typeface="Symbol" charset="0"/>
              </a:rPr>
              <a:t>X</a:t>
            </a:r>
            <a:r>
              <a:rPr lang="en-US" sz="2000" dirty="0">
                <a:latin typeface="Times New Roman" charset="0"/>
                <a:sym typeface="Symbol" charset="0"/>
              </a:rPr>
              <a:t>[0] </a:t>
            </a:r>
            <a:r>
              <a:rPr lang="en-US" sz="2400" dirty="0">
                <a:latin typeface="Symbol" charset="0"/>
                <a:sym typeface="Symbol" charset="0"/>
              </a:rPr>
              <a:t>+</a:t>
            </a:r>
            <a:r>
              <a:rPr lang="en-US" sz="2000" dirty="0">
                <a:latin typeface="Times New Roman" charset="0"/>
                <a:sym typeface="Symbol" charset="0"/>
              </a:rPr>
              <a:t> </a:t>
            </a:r>
            <a:r>
              <a:rPr lang="en-US" sz="2000" b="1" i="1" dirty="0">
                <a:latin typeface="Times New Roman" charset="0"/>
                <a:sym typeface="Symbol" charset="0"/>
              </a:rPr>
              <a:t>X</a:t>
            </a:r>
            <a:r>
              <a:rPr lang="en-US" sz="2000" dirty="0">
                <a:latin typeface="Times New Roman" charset="0"/>
                <a:sym typeface="Symbol" charset="0"/>
              </a:rPr>
              <a:t>[1] </a:t>
            </a:r>
            <a:r>
              <a:rPr lang="en-US" sz="2400" dirty="0">
                <a:latin typeface="Symbol" charset="0"/>
                <a:sym typeface="Symbol" charset="0"/>
              </a:rPr>
              <a:t>+</a:t>
            </a:r>
            <a:r>
              <a:rPr lang="en-US" sz="2000" dirty="0">
                <a:latin typeface="Times New Roman" charset="0"/>
                <a:sym typeface="Symbol" charset="0"/>
              </a:rPr>
              <a:t> </a:t>
            </a:r>
            <a:r>
              <a:rPr lang="en-US" sz="2000" dirty="0">
                <a:latin typeface="Times New Roman" charset="0"/>
              </a:rPr>
              <a:t>… </a:t>
            </a:r>
            <a:r>
              <a:rPr lang="en-US" sz="2400" dirty="0">
                <a:latin typeface="Symbol" charset="0"/>
                <a:sym typeface="Symbol" charset="0"/>
              </a:rPr>
              <a:t>+</a:t>
            </a:r>
            <a:r>
              <a:rPr lang="en-US" sz="2000" dirty="0">
                <a:latin typeface="Times New Roman" charset="0"/>
              </a:rPr>
              <a:t> </a:t>
            </a:r>
            <a:r>
              <a:rPr lang="en-US" sz="2000" b="1" i="1" dirty="0">
                <a:latin typeface="Times New Roman" charset="0"/>
                <a:sym typeface="Symbol" charset="0"/>
              </a:rPr>
              <a:t>X</a:t>
            </a:r>
            <a:r>
              <a:rPr lang="en-US" sz="2000" dirty="0">
                <a:latin typeface="Times New Roman" charset="0"/>
                <a:sym typeface="Symbol" charset="0"/>
              </a:rPr>
              <a:t>[</a:t>
            </a:r>
            <a:r>
              <a:rPr lang="en-US" sz="2000" b="1" i="1" dirty="0" err="1">
                <a:latin typeface="Times New Roman" charset="0"/>
                <a:sym typeface="Symbol" charset="0"/>
              </a:rPr>
              <a:t>i</a:t>
            </a:r>
            <a:r>
              <a:rPr lang="en-US" sz="2000" dirty="0">
                <a:latin typeface="Times New Roman" charset="0"/>
                <a:sym typeface="Symbol" charset="0"/>
              </a:rPr>
              <a:t>])/(</a:t>
            </a:r>
            <a:r>
              <a:rPr lang="en-US" sz="2000" i="1" dirty="0">
                <a:latin typeface="Times New Roman" charset="0"/>
                <a:sym typeface="Symbol" charset="0"/>
              </a:rPr>
              <a:t>i</a:t>
            </a:r>
            <a:r>
              <a:rPr lang="en-US" sz="2000" dirty="0">
                <a:latin typeface="Times New Roman" charset="0"/>
                <a:sym typeface="Symbol" charset="0"/>
              </a:rPr>
              <a:t>+1)</a:t>
            </a:r>
          </a:p>
          <a:p>
            <a:pPr eaLnBrk="1" hangingPunct="1">
              <a:lnSpc>
                <a:spcPct val="90000"/>
              </a:lnSpc>
            </a:pPr>
            <a:endParaRPr lang="en-US" sz="800" dirty="0">
              <a:latin typeface="Tahoma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Computing the array </a:t>
            </a:r>
            <a:r>
              <a:rPr lang="en-US" sz="2400" b="1" i="1" dirty="0">
                <a:latin typeface="Times New Roman" charset="0"/>
              </a:rPr>
              <a:t>A</a:t>
            </a:r>
            <a:r>
              <a:rPr lang="en-US" sz="2400" dirty="0">
                <a:latin typeface="Tahoma" charset="0"/>
              </a:rPr>
              <a:t> of prefix averages of another array </a:t>
            </a:r>
            <a:r>
              <a:rPr lang="en-US" sz="2400" b="1" i="1" dirty="0">
                <a:latin typeface="Times New Roman" charset="0"/>
              </a:rPr>
              <a:t>X</a:t>
            </a:r>
            <a:r>
              <a:rPr lang="en-US" sz="2400" dirty="0">
                <a:latin typeface="Tahoma" charset="0"/>
              </a:rPr>
              <a:t> has applications to financial analysis</a:t>
            </a: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330876"/>
              </p:ext>
            </p:extLst>
          </p:nvPr>
        </p:nvGraphicFramePr>
        <p:xfrm>
          <a:off x="5181600" y="1676400"/>
          <a:ext cx="3876675" cy="431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2" name="Worksheet" r:id="rId3" imgW="3162300" imgH="3606800" progId="Excel.Sheet.8">
                  <p:embed/>
                </p:oleObj>
              </mc:Choice>
              <mc:Fallback>
                <p:oleObj name="Worksheet" r:id="rId3" imgW="3162300" imgH="36068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676400"/>
                        <a:ext cx="3876675" cy="431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686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814ABCA-5370-DC43-AD86-73D5EFCD1807}" type="slidenum">
              <a:rPr lang="en-US" sz="1400"/>
              <a:pPr eaLnBrk="1" hangingPunct="1"/>
              <a:t>21</a:t>
            </a:fld>
            <a:endParaRPr lang="en-US" sz="1400"/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4400">
                <a:solidFill>
                  <a:schemeClr val="tx2"/>
                </a:solidFill>
              </a:rPr>
              <a:t>Prefix Averages (Quadratic)</a:t>
            </a:r>
          </a:p>
        </p:txBody>
      </p:sp>
      <p:sp>
        <p:nvSpPr>
          <p:cNvPr id="36868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762000" y="1600200"/>
            <a:ext cx="7848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/>
              <a:t>The following algorithm computes prefix averages in quadratic time by applying the definition</a:t>
            </a:r>
          </a:p>
        </p:txBody>
      </p:sp>
      <p:sp>
        <p:nvSpPr>
          <p:cNvPr id="36869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49" y="2438400"/>
            <a:ext cx="8777551" cy="34452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78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6AEF34B-92C3-BB4E-AB3E-D8ABE608E88D}" type="slidenum">
              <a:rPr lang="en-US" sz="1400"/>
              <a:pPr eaLnBrk="1" hangingPunct="1"/>
              <a:t>22</a:t>
            </a:fld>
            <a:endParaRPr lang="en-US" sz="14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Arithmetic Progression</a:t>
            </a:r>
          </a:p>
        </p:txBody>
      </p:sp>
      <p:sp>
        <p:nvSpPr>
          <p:cNvPr id="3789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905000"/>
            <a:ext cx="3886200" cy="39624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Tahoma" charset="0"/>
              </a:rPr>
              <a:t>The running time of </a:t>
            </a:r>
            <a:r>
              <a:rPr lang="en-US" sz="2400" dirty="0">
                <a:solidFill>
                  <a:schemeClr val="tx2"/>
                </a:solidFill>
              </a:rPr>
              <a:t>prefixAverage1</a:t>
            </a:r>
            <a:r>
              <a:rPr lang="en-US" sz="2400" b="1" i="1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2400" dirty="0">
                <a:latin typeface="Tahoma" charset="0"/>
              </a:rPr>
              <a:t>is</a:t>
            </a:r>
            <a:br>
              <a:rPr lang="en-US" sz="2400" dirty="0">
                <a:latin typeface="Tahoma" charset="0"/>
              </a:rPr>
            </a:br>
            <a:r>
              <a:rPr lang="en-US" sz="2400" b="1" i="1" dirty="0">
                <a:latin typeface="Times New Roman" charset="0"/>
              </a:rPr>
              <a:t>O</a:t>
            </a:r>
            <a:r>
              <a:rPr lang="en-US" sz="2400" dirty="0">
                <a:latin typeface="Times New Roman" charset="0"/>
                <a:sym typeface="Symbol" charset="0"/>
              </a:rPr>
              <a:t>(1 </a:t>
            </a:r>
            <a:r>
              <a:rPr lang="en-US" sz="2400" dirty="0">
                <a:latin typeface="Symbol" charset="0"/>
                <a:sym typeface="Symbol" charset="0"/>
              </a:rPr>
              <a:t>+ </a:t>
            </a:r>
            <a:r>
              <a:rPr lang="en-US" sz="2400" dirty="0">
                <a:latin typeface="Times New Roman" charset="0"/>
                <a:sym typeface="Symbol" charset="0"/>
              </a:rPr>
              <a:t>2 </a:t>
            </a:r>
            <a:r>
              <a:rPr lang="en-US" sz="2400" dirty="0">
                <a:latin typeface="Symbol" charset="0"/>
                <a:sym typeface="Symbol" charset="0"/>
              </a:rPr>
              <a:t>+ </a:t>
            </a:r>
            <a:r>
              <a:rPr lang="en-US" sz="2400" dirty="0">
                <a:latin typeface="Times New Roman" charset="0"/>
                <a:sym typeface="Symbol" charset="0"/>
              </a:rPr>
              <a:t>…</a:t>
            </a:r>
            <a:r>
              <a:rPr lang="en-US" sz="2400" dirty="0">
                <a:latin typeface="Symbol" charset="0"/>
                <a:sym typeface="Symbol" charset="0"/>
              </a:rPr>
              <a:t>+ 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)</a:t>
            </a:r>
            <a:endParaRPr lang="en-US" sz="2400" dirty="0">
              <a:latin typeface="Tahoma" charset="0"/>
            </a:endParaRPr>
          </a:p>
          <a:p>
            <a:pPr eaLnBrk="1" hangingPunct="1"/>
            <a:r>
              <a:rPr lang="en-US" sz="2400" dirty="0">
                <a:latin typeface="Tahoma" charset="0"/>
              </a:rPr>
              <a:t>The sum of the first 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dirty="0">
                <a:latin typeface="Tahoma" charset="0"/>
              </a:rPr>
              <a:t> integers is </a:t>
            </a:r>
            <a:r>
              <a:rPr lang="en-US" sz="2400" b="1" i="1" dirty="0">
                <a:latin typeface="Times New Roman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</a:rPr>
              <a:t>n</a:t>
            </a:r>
            <a:r>
              <a:rPr lang="en-US" sz="2400" dirty="0">
                <a:latin typeface="Times New Roman" charset="0"/>
                <a:sym typeface="Symbol" charset="0"/>
              </a:rPr>
              <a:t> </a:t>
            </a:r>
            <a:r>
              <a:rPr lang="en-US" sz="2400" dirty="0">
                <a:latin typeface="Symbol" charset="0"/>
                <a:sym typeface="Symbol" charset="0"/>
              </a:rPr>
              <a:t>+ </a:t>
            </a:r>
            <a:r>
              <a:rPr lang="en-US" sz="2400" dirty="0">
                <a:latin typeface="Times New Roman" charset="0"/>
                <a:sym typeface="Symbol" charset="0"/>
              </a:rPr>
              <a:t>1) </a:t>
            </a:r>
            <a:r>
              <a:rPr lang="en-US" sz="2400" b="1" dirty="0">
                <a:latin typeface="Symbol" charset="0"/>
                <a:sym typeface="Symbol" charset="0"/>
              </a:rPr>
              <a:t>/ </a:t>
            </a:r>
            <a:r>
              <a:rPr lang="en-US" sz="2400" dirty="0">
                <a:latin typeface="Times New Roman" charset="0"/>
                <a:sym typeface="Symbol" charset="0"/>
              </a:rPr>
              <a:t>2</a:t>
            </a:r>
          </a:p>
          <a:p>
            <a:pPr lvl="1" eaLnBrk="1" hangingPunct="1"/>
            <a:r>
              <a:rPr lang="en-US" sz="2000" dirty="0">
                <a:latin typeface="Tahoma" charset="0"/>
                <a:sym typeface="Symbol" charset="0"/>
              </a:rPr>
              <a:t>There is a simple visual proof of this fact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Thus, algorithm </a:t>
            </a:r>
            <a:r>
              <a:rPr lang="en-US" sz="2400" dirty="0">
                <a:solidFill>
                  <a:schemeClr val="tx2"/>
                </a:solidFill>
              </a:rPr>
              <a:t>prefixAverage1</a:t>
            </a:r>
            <a:r>
              <a:rPr lang="en-US" sz="2400" b="1" i="1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2400" dirty="0" smtClean="0">
                <a:latin typeface="Tahoma" charset="0"/>
              </a:rPr>
              <a:t>runs </a:t>
            </a:r>
            <a:r>
              <a:rPr lang="en-US" sz="2400" dirty="0">
                <a:latin typeface="Tahoma" charset="0"/>
              </a:rPr>
              <a:t>in </a:t>
            </a:r>
            <a:r>
              <a:rPr lang="en-US" sz="2400" b="1" i="1" dirty="0">
                <a:latin typeface="Times New Roman" charset="0"/>
                <a:sym typeface="Symbol" charset="0"/>
              </a:rPr>
              <a:t>O</a:t>
            </a:r>
            <a:r>
              <a:rPr lang="en-US" sz="2400" dirty="0">
                <a:latin typeface="Times New Roman" charset="0"/>
                <a:sym typeface="Symbol" charset="0"/>
              </a:rPr>
              <a:t>(</a:t>
            </a:r>
            <a:r>
              <a:rPr lang="en-US" sz="2400" b="1" i="1" dirty="0">
                <a:latin typeface="Times New Roman" charset="0"/>
                <a:sym typeface="Symbol" charset="0"/>
              </a:rPr>
              <a:t>n</a:t>
            </a:r>
            <a:r>
              <a:rPr lang="en-US" sz="2400" baseline="30000" dirty="0">
                <a:latin typeface="Times New Roman" charset="0"/>
                <a:sym typeface="Symbol" charset="0"/>
              </a:rPr>
              <a:t>2</a:t>
            </a:r>
            <a:r>
              <a:rPr lang="en-US" sz="2400" dirty="0">
                <a:latin typeface="Times New Roman" charset="0"/>
                <a:sym typeface="Symbol" charset="0"/>
              </a:rPr>
              <a:t>) </a:t>
            </a:r>
            <a:r>
              <a:rPr lang="en-US" sz="2400" dirty="0">
                <a:latin typeface="Tahoma" charset="0"/>
              </a:rPr>
              <a:t>time </a:t>
            </a:r>
          </a:p>
        </p:txBody>
      </p:sp>
      <p:graphicFrame>
        <p:nvGraphicFramePr>
          <p:cNvPr id="37893" name="Object 6"/>
          <p:cNvGraphicFramePr>
            <a:graphicFrameLocks noChangeAspect="1"/>
          </p:cNvGraphicFramePr>
          <p:nvPr/>
        </p:nvGraphicFramePr>
        <p:xfrm>
          <a:off x="4876800" y="1514475"/>
          <a:ext cx="3981450" cy="456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9" name="Chart" r:id="rId3" imgW="3771900" imgH="4051300" progId="MSGraph.Chart.8">
                  <p:embed followColorScheme="full"/>
                </p:oleObj>
              </mc:Choice>
              <mc:Fallback>
                <p:oleObj name="Chart" r:id="rId3" imgW="3771900" imgH="4051300" progId="MSGraph.Chart.8">
                  <p:embed followColorScheme="full"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514475"/>
                        <a:ext cx="3981450" cy="456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3891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6DCBC4F-D038-274F-9A65-786A10AB474E}" type="slidenum">
              <a:rPr lang="en-US" sz="1400"/>
              <a:pPr eaLnBrk="1" hangingPunct="1"/>
              <a:t>23</a:t>
            </a:fld>
            <a:endParaRPr lang="en-US" sz="1400"/>
          </a:p>
        </p:txBody>
      </p:sp>
      <p:sp>
        <p:nvSpPr>
          <p:cNvPr id="38915" name="Rectangle 2"/>
          <p:cNvSpPr>
            <a:spLocks noChangeArrowheads="1"/>
          </p:cNvSpPr>
          <p:nvPr/>
        </p:nvSpPr>
        <p:spPr bwMode="auto">
          <a:xfrm>
            <a:off x="609600" y="3048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4400" dirty="0">
                <a:solidFill>
                  <a:schemeClr val="tx2"/>
                </a:solidFill>
              </a:rPr>
              <a:t>Prefix Averages 2 </a:t>
            </a:r>
            <a:r>
              <a:rPr lang="en-US" sz="4400" dirty="0" smtClean="0">
                <a:solidFill>
                  <a:schemeClr val="tx2"/>
                </a:solidFill>
              </a:rPr>
              <a:t>(Linear)</a:t>
            </a:r>
            <a:endParaRPr lang="en-US" sz="4400" dirty="0">
              <a:solidFill>
                <a:schemeClr val="tx2"/>
              </a:solidFill>
            </a:endParaRPr>
          </a:p>
        </p:txBody>
      </p:sp>
      <p:sp>
        <p:nvSpPr>
          <p:cNvPr id="38916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600200"/>
            <a:ext cx="7848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/>
              <a:t>The following algorithm uses </a:t>
            </a:r>
            <a:r>
              <a:rPr lang="en-US" dirty="0" smtClean="0"/>
              <a:t>a running summation to improve the efficiency</a:t>
            </a:r>
            <a:endParaRPr lang="en-US" b="1" i="1" dirty="0">
              <a:latin typeface="Times New Roman" charset="0"/>
              <a:sym typeface="Symbol" charset="0"/>
            </a:endParaRPr>
          </a:p>
        </p:txBody>
      </p:sp>
      <p:sp>
        <p:nvSpPr>
          <p:cNvPr id="38918" name="Rectangle 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5867400"/>
            <a:ext cx="7848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lang="en-US" dirty="0">
                <a:latin typeface="+mj-lt"/>
              </a:rPr>
              <a:t>Algorithm </a:t>
            </a:r>
            <a:r>
              <a:rPr lang="en-US" dirty="0" smtClean="0">
                <a:solidFill>
                  <a:schemeClr val="tx2"/>
                </a:solidFill>
              </a:rPr>
              <a:t>prefixAverage2</a:t>
            </a:r>
            <a:r>
              <a:rPr lang="en-US" dirty="0" smtClean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 smtClean="0">
                <a:latin typeface="+mj-lt"/>
              </a:rPr>
              <a:t>runs </a:t>
            </a:r>
            <a:r>
              <a:rPr lang="en-US" dirty="0">
                <a:latin typeface="+mj-lt"/>
              </a:rPr>
              <a:t>in</a:t>
            </a:r>
            <a:r>
              <a:rPr lang="en-US" dirty="0"/>
              <a:t> </a:t>
            </a:r>
            <a:r>
              <a:rPr lang="en-US" b="1" i="1" dirty="0">
                <a:latin typeface="Times New Roman" charset="0"/>
                <a:sym typeface="Symbol" charset="0"/>
              </a:rPr>
              <a:t>O</a:t>
            </a:r>
            <a:r>
              <a:rPr lang="en-US" dirty="0">
                <a:latin typeface="Times New Roman" charset="0"/>
                <a:sym typeface="Symbol" charset="0"/>
              </a:rPr>
              <a:t>(</a:t>
            </a:r>
            <a:r>
              <a:rPr lang="en-US" b="1" i="1" dirty="0" smtClean="0">
                <a:latin typeface="Times New Roman" charset="0"/>
                <a:sym typeface="Symbol" charset="0"/>
              </a:rPr>
              <a:t>n</a:t>
            </a:r>
            <a:r>
              <a:rPr lang="en-US" dirty="0" smtClean="0">
                <a:latin typeface="Times New Roman" charset="0"/>
                <a:sym typeface="Symbol" charset="0"/>
              </a:rPr>
              <a:t>) </a:t>
            </a:r>
            <a:r>
              <a:rPr lang="en-US" dirty="0"/>
              <a:t>time!</a:t>
            </a:r>
          </a:p>
        </p:txBody>
      </p:sp>
      <p:sp>
        <p:nvSpPr>
          <p:cNvPr id="2" name="Date Placeholder 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541233"/>
            <a:ext cx="8902836" cy="32499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6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Math you need to Review</a:t>
            </a:r>
          </a:p>
        </p:txBody>
      </p:sp>
      <p:sp>
        <p:nvSpPr>
          <p:cNvPr id="40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half" idx="1"/>
          </p:nvPr>
        </p:nvSpPr>
        <p:spPr>
          <a:xfrm>
            <a:off x="3962400" y="1600200"/>
            <a:ext cx="4343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BE2D00"/>
                </a:solidFill>
                <a:latin typeface="Tahoma" charset="0"/>
              </a:rPr>
              <a:t>Properties of powers: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dirty="0">
                <a:latin typeface="Tahoma" charset="0"/>
              </a:rPr>
              <a:t>a</a:t>
            </a:r>
            <a:r>
              <a:rPr lang="en-US" baseline="30000" dirty="0">
                <a:latin typeface="Tahoma" charset="0"/>
              </a:rPr>
              <a:t>(</a:t>
            </a:r>
            <a:r>
              <a:rPr lang="en-US" baseline="30000" dirty="0" err="1">
                <a:latin typeface="Tahoma" charset="0"/>
              </a:rPr>
              <a:t>b+c</a:t>
            </a:r>
            <a:r>
              <a:rPr lang="en-US" baseline="30000" dirty="0">
                <a:latin typeface="Tahoma" charset="0"/>
              </a:rPr>
              <a:t>)</a:t>
            </a:r>
            <a:r>
              <a:rPr lang="en-US" dirty="0">
                <a:latin typeface="Tahoma" charset="0"/>
              </a:rPr>
              <a:t> = a</a:t>
            </a:r>
            <a:r>
              <a:rPr lang="en-US" baseline="30000" dirty="0">
                <a:latin typeface="Tahoma" charset="0"/>
              </a:rPr>
              <a:t>b</a:t>
            </a:r>
            <a:r>
              <a:rPr lang="en-US" dirty="0">
                <a:latin typeface="Tahoma" charset="0"/>
              </a:rPr>
              <a:t>a </a:t>
            </a:r>
            <a:r>
              <a:rPr lang="en-US" baseline="30000" dirty="0">
                <a:latin typeface="Tahoma" charset="0"/>
              </a:rPr>
              <a:t>c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dirty="0" err="1">
                <a:latin typeface="Tahoma" charset="0"/>
              </a:rPr>
              <a:t>a</a:t>
            </a:r>
            <a:r>
              <a:rPr lang="en-US" baseline="30000" dirty="0" err="1">
                <a:latin typeface="Tahoma" charset="0"/>
              </a:rPr>
              <a:t>bc</a:t>
            </a:r>
            <a:r>
              <a:rPr lang="en-US" dirty="0">
                <a:latin typeface="Tahoma" charset="0"/>
              </a:rPr>
              <a:t> = (</a:t>
            </a:r>
            <a:r>
              <a:rPr lang="en-US" dirty="0" err="1">
                <a:latin typeface="Tahoma" charset="0"/>
              </a:rPr>
              <a:t>a</a:t>
            </a:r>
            <a:r>
              <a:rPr lang="en-US" baseline="30000" dirty="0" err="1">
                <a:latin typeface="Tahoma" charset="0"/>
              </a:rPr>
              <a:t>b</a:t>
            </a:r>
            <a:r>
              <a:rPr lang="en-US" dirty="0">
                <a:latin typeface="Tahoma" charset="0"/>
              </a:rPr>
              <a:t>)</a:t>
            </a:r>
            <a:r>
              <a:rPr lang="en-US" baseline="30000" dirty="0">
                <a:latin typeface="Tahoma" charset="0"/>
              </a:rPr>
              <a:t>c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dirty="0" err="1">
                <a:latin typeface="Tahoma" charset="0"/>
              </a:rPr>
              <a:t>a</a:t>
            </a:r>
            <a:r>
              <a:rPr lang="en-US" baseline="30000" dirty="0" err="1">
                <a:latin typeface="Tahoma" charset="0"/>
              </a:rPr>
              <a:t>b</a:t>
            </a:r>
            <a:r>
              <a:rPr lang="en-US" dirty="0">
                <a:latin typeface="Tahoma" charset="0"/>
              </a:rPr>
              <a:t> /a</a:t>
            </a:r>
            <a:r>
              <a:rPr lang="en-US" baseline="30000" dirty="0">
                <a:latin typeface="Tahoma" charset="0"/>
              </a:rPr>
              <a:t>c</a:t>
            </a:r>
            <a:r>
              <a:rPr lang="en-US" dirty="0">
                <a:latin typeface="Tahoma" charset="0"/>
              </a:rPr>
              <a:t> = a</a:t>
            </a:r>
            <a:r>
              <a:rPr lang="en-US" baseline="30000" dirty="0">
                <a:latin typeface="Tahoma" charset="0"/>
              </a:rPr>
              <a:t>(b-c)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dirty="0">
                <a:latin typeface="Tahoma" charset="0"/>
              </a:rPr>
              <a:t>b = a </a:t>
            </a:r>
            <a:r>
              <a:rPr lang="en-US" baseline="30000" dirty="0" err="1">
                <a:latin typeface="Tahoma" charset="0"/>
              </a:rPr>
              <a:t>log</a:t>
            </a:r>
            <a:r>
              <a:rPr lang="en-US" baseline="-11000" dirty="0" err="1">
                <a:latin typeface="Tahoma" charset="0"/>
              </a:rPr>
              <a:t>a</a:t>
            </a:r>
            <a:r>
              <a:rPr lang="en-US" baseline="30000" dirty="0" err="1">
                <a:latin typeface="Tahoma" charset="0"/>
              </a:rPr>
              <a:t>b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dirty="0" err="1">
                <a:latin typeface="Tahoma" charset="0"/>
              </a:rPr>
              <a:t>b</a:t>
            </a:r>
            <a:r>
              <a:rPr lang="en-US" baseline="30000" dirty="0" err="1">
                <a:latin typeface="Tahoma" charset="0"/>
              </a:rPr>
              <a:t>c</a:t>
            </a:r>
            <a:r>
              <a:rPr lang="en-US" dirty="0">
                <a:latin typeface="Tahoma" charset="0"/>
              </a:rPr>
              <a:t> = a </a:t>
            </a:r>
            <a:r>
              <a:rPr lang="en-US" baseline="30000" dirty="0">
                <a:latin typeface="Tahoma" charset="0"/>
              </a:rPr>
              <a:t>c*</a:t>
            </a:r>
            <a:r>
              <a:rPr lang="en-US" baseline="30000" dirty="0" err="1">
                <a:latin typeface="Tahoma" charset="0"/>
              </a:rPr>
              <a:t>log</a:t>
            </a:r>
            <a:r>
              <a:rPr lang="en-US" baseline="-11000" dirty="0" err="1">
                <a:latin typeface="Tahoma" charset="0"/>
              </a:rPr>
              <a:t>a</a:t>
            </a:r>
            <a:r>
              <a:rPr lang="en-US" baseline="30000" dirty="0" err="1">
                <a:latin typeface="Tahoma" charset="0"/>
              </a:rPr>
              <a:t>b</a:t>
            </a:r>
            <a:endParaRPr lang="en-US" dirty="0">
              <a:latin typeface="Tahoma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BE2D00"/>
                </a:solidFill>
                <a:latin typeface="Tahoma" charset="0"/>
              </a:rPr>
              <a:t>Properties </a:t>
            </a:r>
            <a:r>
              <a:rPr lang="en-US" sz="2400" dirty="0">
                <a:solidFill>
                  <a:srgbClr val="BE2D00"/>
                </a:solidFill>
                <a:latin typeface="Tahoma" charset="0"/>
              </a:rPr>
              <a:t>of logarithms: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>
                <a:latin typeface="Tahoma" charset="0"/>
              </a:rPr>
              <a:t>(</a:t>
            </a:r>
            <a:r>
              <a:rPr lang="en-US" dirty="0" err="1">
                <a:latin typeface="Tahoma" charset="0"/>
              </a:rPr>
              <a:t>xy</a:t>
            </a:r>
            <a:r>
              <a:rPr lang="en-US" dirty="0">
                <a:latin typeface="Tahoma" charset="0"/>
              </a:rPr>
              <a:t>) = 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x</a:t>
            </a:r>
            <a:r>
              <a:rPr lang="en-US" dirty="0">
                <a:latin typeface="Tahoma" charset="0"/>
              </a:rPr>
              <a:t> + 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y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>
                <a:latin typeface="Tahoma" charset="0"/>
              </a:rPr>
              <a:t> (x/y) = 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x</a:t>
            </a:r>
            <a:r>
              <a:rPr lang="en-US" dirty="0">
                <a:latin typeface="Tahoma" charset="0"/>
              </a:rPr>
              <a:t> - 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y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xa</a:t>
            </a:r>
            <a:r>
              <a:rPr lang="en-US" dirty="0">
                <a:latin typeface="Tahoma" charset="0"/>
              </a:rPr>
              <a:t> = </a:t>
            </a:r>
            <a:r>
              <a:rPr lang="en-US" dirty="0" err="1">
                <a:latin typeface="Tahoma" charset="0"/>
              </a:rPr>
              <a:t>alog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x</a:t>
            </a:r>
            <a:endParaRPr lang="en-US" dirty="0">
              <a:latin typeface="Tahoma" charset="0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b</a:t>
            </a:r>
            <a:r>
              <a:rPr lang="en-US" dirty="0" err="1">
                <a:latin typeface="Tahoma" charset="0"/>
              </a:rPr>
              <a:t>a</a:t>
            </a:r>
            <a:r>
              <a:rPr lang="en-US" dirty="0">
                <a:latin typeface="Tahoma" charset="0"/>
              </a:rPr>
              <a:t> = </a:t>
            </a:r>
            <a:r>
              <a:rPr lang="en-US" dirty="0" err="1">
                <a:latin typeface="Tahoma" charset="0"/>
              </a:rPr>
              <a:t>log</a:t>
            </a:r>
            <a:r>
              <a:rPr lang="en-US" baseline="-25000" dirty="0" err="1">
                <a:latin typeface="Tahoma" charset="0"/>
              </a:rPr>
              <a:t>x</a:t>
            </a:r>
            <a:r>
              <a:rPr lang="en-US" dirty="0" err="1">
                <a:latin typeface="Tahoma" charset="0"/>
              </a:rPr>
              <a:t>a</a:t>
            </a:r>
            <a:r>
              <a:rPr lang="en-US" dirty="0">
                <a:latin typeface="Tahoma" charset="0"/>
              </a:rPr>
              <a:t>/</a:t>
            </a:r>
            <a:r>
              <a:rPr lang="en-US" dirty="0" err="1" smtClean="0">
                <a:latin typeface="Tahoma" charset="0"/>
              </a:rPr>
              <a:t>log</a:t>
            </a:r>
            <a:r>
              <a:rPr lang="en-US" baseline="-25000" dirty="0" err="1" smtClean="0">
                <a:latin typeface="Tahoma" charset="0"/>
              </a:rPr>
              <a:t>x</a:t>
            </a:r>
            <a:r>
              <a:rPr lang="en-US" dirty="0" err="1" smtClean="0">
                <a:latin typeface="Tahoma" charset="0"/>
              </a:rPr>
              <a:t>b</a:t>
            </a:r>
            <a:endParaRPr lang="en-US" dirty="0">
              <a:latin typeface="Tahoma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609600" y="1600200"/>
            <a:ext cx="3200400" cy="4419600"/>
          </a:xfrm>
        </p:spPr>
        <p:txBody>
          <a:bodyPr/>
          <a:lstStyle/>
          <a:p>
            <a:r>
              <a:rPr lang="en-US" dirty="0"/>
              <a:t>Summations</a:t>
            </a:r>
          </a:p>
          <a:p>
            <a:r>
              <a:rPr lang="en-US" dirty="0" smtClean="0"/>
              <a:t>Powers</a:t>
            </a:r>
          </a:p>
          <a:p>
            <a:r>
              <a:rPr lang="en-US" dirty="0" smtClean="0"/>
              <a:t>Logarithms</a:t>
            </a:r>
          </a:p>
          <a:p>
            <a:r>
              <a:rPr lang="en-US" dirty="0" smtClean="0"/>
              <a:t>Proof </a:t>
            </a:r>
            <a:r>
              <a:rPr lang="en-US" dirty="0"/>
              <a:t>techniques</a:t>
            </a:r>
          </a:p>
          <a:p>
            <a:r>
              <a:rPr lang="en-US" dirty="0"/>
              <a:t>Basic probability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0967" name="Date Placeholder 7"/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dirty="0" smtClean="0"/>
              <a:t>© 2014 Goodrich, Tamassia, Goldwasser</a:t>
            </a:r>
            <a:endParaRPr lang="en-US" sz="1400" dirty="0"/>
          </a:p>
        </p:txBody>
      </p:sp>
      <p:sp>
        <p:nvSpPr>
          <p:cNvPr id="4096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4096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5C4A2D8-D6BA-CD48-8D6D-6FB56050A668}" type="slidenum">
              <a:rPr lang="en-US" sz="1400"/>
              <a:pPr eaLnBrk="1" hangingPunct="1"/>
              <a:t>24</a:t>
            </a:fld>
            <a:endParaRPr lang="en-US" sz="1400"/>
          </a:p>
        </p:txBody>
      </p:sp>
      <p:graphicFrame>
        <p:nvGraphicFramePr>
          <p:cNvPr id="40964" name="Object 7"/>
          <p:cNvGraphicFramePr>
            <a:graphicFrameLocks noChangeAspect="1"/>
          </p:cNvGraphicFramePr>
          <p:nvPr/>
        </p:nvGraphicFramePr>
        <p:xfrm>
          <a:off x="7813675" y="228600"/>
          <a:ext cx="87312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2" name="Clip" r:id="rId3" imgW="4668780" imgH="10589019" progId="MS_ClipArt_Gallery.2">
                  <p:embed/>
                </p:oleObj>
              </mc:Choice>
              <mc:Fallback>
                <p:oleObj name="Clip" r:id="rId3" imgW="4668780" imgH="10589019" progId="MS_ClipArt_Gallery.2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3675" y="228600"/>
                        <a:ext cx="873125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4198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7B3F26E-FFFF-C140-AA33-3CD3420294A3}" type="slidenum">
              <a:rPr lang="en-US" sz="1400"/>
              <a:pPr eaLnBrk="1" hangingPunct="1"/>
              <a:t>25</a:t>
            </a:fld>
            <a:endParaRPr lang="en-US" sz="1400"/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685800" y="533400"/>
            <a:ext cx="6629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>
                <a:solidFill>
                  <a:schemeClr val="tx2"/>
                </a:solidFill>
              </a:rPr>
              <a:t>Relatives of Big-Oh</a:t>
            </a:r>
          </a:p>
        </p:txBody>
      </p:sp>
      <p:sp>
        <p:nvSpPr>
          <p:cNvPr id="41988" name="Rectangle 3"/>
          <p:cNvSpPr>
            <a:spLocks noChangeArrowheads="1"/>
          </p:cNvSpPr>
          <p:nvPr/>
        </p:nvSpPr>
        <p:spPr bwMode="auto">
          <a:xfrm>
            <a:off x="838200" y="1600200"/>
            <a:ext cx="7543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>
                <a:solidFill>
                  <a:srgbClr val="BE2D00"/>
                </a:solidFill>
              </a:rPr>
              <a:t>big-Omega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dirty="0"/>
              <a:t>f(n) is </a:t>
            </a:r>
            <a:r>
              <a:rPr lang="en-US" dirty="0">
                <a:sym typeface="Symbol" charset="0"/>
              </a:rPr>
              <a:t>(g(n)) if there is a constant c &gt; 0 </a:t>
            </a:r>
            <a:r>
              <a:rPr lang="en-US" dirty="0" smtClean="0">
                <a:sym typeface="Symbol" charset="0"/>
              </a:rPr>
              <a:t/>
            </a:r>
            <a:br>
              <a:rPr lang="en-US" dirty="0" smtClean="0">
                <a:sym typeface="Symbol" charset="0"/>
              </a:rPr>
            </a:br>
            <a:r>
              <a:rPr lang="en-US" dirty="0" smtClean="0">
                <a:sym typeface="Symbol" charset="0"/>
              </a:rPr>
              <a:t>and </a:t>
            </a:r>
            <a:r>
              <a:rPr lang="en-US" dirty="0">
                <a:sym typeface="Symbol" charset="0"/>
              </a:rPr>
              <a:t>an integer constant n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  1 such that </a:t>
            </a:r>
          </a:p>
          <a:p>
            <a:pPr marL="742950" lvl="1" indent="-285750" algn="ctr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r>
              <a:rPr lang="en-US" dirty="0">
                <a:sym typeface="Symbol" charset="0"/>
              </a:rPr>
              <a:t>	f(n)  </a:t>
            </a:r>
            <a:r>
              <a:rPr lang="en-US" dirty="0" smtClean="0">
                <a:sym typeface="Symbol" charset="0"/>
              </a:rPr>
              <a:t>c</a:t>
            </a:r>
            <a:r>
              <a:rPr lang="en-US" dirty="0">
                <a:cs typeface="Arial" charset="0"/>
                <a:sym typeface="Symbol" charset="0"/>
              </a:rPr>
              <a:t> </a:t>
            </a:r>
            <a:r>
              <a:rPr lang="en-US" dirty="0" smtClean="0">
                <a:sym typeface="Symbol" charset="0"/>
              </a:rPr>
              <a:t>g</a:t>
            </a:r>
            <a:r>
              <a:rPr lang="en-US" dirty="0">
                <a:sym typeface="Symbol" charset="0"/>
              </a:rPr>
              <a:t>(n) for n  n</a:t>
            </a:r>
            <a:r>
              <a:rPr lang="en-US" baseline="-25000" dirty="0">
                <a:sym typeface="Symbol" charset="0"/>
              </a:rPr>
              <a:t>0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None/>
            </a:pPr>
            <a:endParaRPr lang="en-US" baseline="-25000" dirty="0">
              <a:sym typeface="Symbol" charset="0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dirty="0">
                <a:solidFill>
                  <a:srgbClr val="BE2D00"/>
                </a:solidFill>
              </a:rPr>
              <a:t>big-Theta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dirty="0"/>
              <a:t>f(n) is </a:t>
            </a:r>
            <a:r>
              <a:rPr lang="en-US" dirty="0">
                <a:sym typeface="Symbol" charset="0"/>
              </a:rPr>
              <a:t>(g(n)) if there are constants c’ &gt; 0 and c’’ &gt; 0 and an integer constant n</a:t>
            </a:r>
            <a:r>
              <a:rPr lang="en-US" baseline="-25000" dirty="0">
                <a:sym typeface="Symbol" charset="0"/>
              </a:rPr>
              <a:t>0</a:t>
            </a:r>
            <a:r>
              <a:rPr lang="en-US" dirty="0">
                <a:sym typeface="Symbol" charset="0"/>
              </a:rPr>
              <a:t>  1 such </a:t>
            </a:r>
            <a:r>
              <a:rPr lang="en-US" dirty="0" smtClean="0">
                <a:sym typeface="Symbol" charset="0"/>
              </a:rPr>
              <a:t>that</a:t>
            </a:r>
            <a:endParaRPr lang="en-US" dirty="0">
              <a:sym typeface="Symbol" charset="0"/>
            </a:endParaRPr>
          </a:p>
          <a:p>
            <a:pPr lvl="1" algn="ctr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60000"/>
            </a:pPr>
            <a:r>
              <a:rPr lang="en-US" dirty="0" err="1" smtClean="0">
                <a:sym typeface="Symbol" charset="0"/>
              </a:rPr>
              <a:t>c’</a:t>
            </a:r>
            <a:r>
              <a:rPr lang="en-US" altLang="ja-JP" dirty="0" err="1" smtClean="0">
                <a:sym typeface="Symbol" charset="0"/>
              </a:rPr>
              <a:t>g</a:t>
            </a:r>
            <a:r>
              <a:rPr lang="en-US" altLang="ja-JP" dirty="0">
                <a:sym typeface="Symbol" charset="0"/>
              </a:rPr>
              <a:t>(n)  f(n)  </a:t>
            </a:r>
            <a:r>
              <a:rPr lang="en-US" altLang="ja-JP" dirty="0" err="1">
                <a:sym typeface="Symbol" charset="0"/>
              </a:rPr>
              <a:t>c</a:t>
            </a:r>
            <a:r>
              <a:rPr lang="en-US" dirty="0" err="1">
                <a:sym typeface="Symbol" charset="0"/>
              </a:rPr>
              <a:t>’</a:t>
            </a:r>
            <a:r>
              <a:rPr lang="en-US" dirty="0" err="1" smtClean="0">
                <a:sym typeface="Symbol" charset="0"/>
              </a:rPr>
              <a:t>’</a:t>
            </a:r>
            <a:r>
              <a:rPr lang="en-US" altLang="ja-JP" dirty="0" err="1" smtClean="0">
                <a:sym typeface="Symbol" charset="0"/>
              </a:rPr>
              <a:t>g</a:t>
            </a:r>
            <a:r>
              <a:rPr lang="en-US" altLang="ja-JP" dirty="0">
                <a:sym typeface="Symbol" charset="0"/>
              </a:rPr>
              <a:t>(n) for n  n</a:t>
            </a:r>
            <a:r>
              <a:rPr lang="en-US" altLang="ja-JP" baseline="-25000" dirty="0">
                <a:sym typeface="Symbol" charset="0"/>
              </a:rPr>
              <a:t>0</a:t>
            </a:r>
            <a:endParaRPr lang="en-US" dirty="0"/>
          </a:p>
        </p:txBody>
      </p:sp>
      <p:graphicFrame>
        <p:nvGraphicFramePr>
          <p:cNvPr id="41989" name="Object 4"/>
          <p:cNvGraphicFramePr>
            <a:graphicFrameLocks noChangeAspect="1"/>
          </p:cNvGraphicFramePr>
          <p:nvPr/>
        </p:nvGraphicFramePr>
        <p:xfrm>
          <a:off x="6248400" y="228600"/>
          <a:ext cx="239395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5" name="Clip" r:id="rId3" imgW="4332083" imgH="3468986" progId="MS_ClipArt_Gallery.5">
                  <p:embed/>
                </p:oleObj>
              </mc:Choice>
              <mc:Fallback>
                <p:oleObj name="Clip" r:id="rId3" imgW="4332083" imgH="3468986" progId="MS_ClipArt_Gallery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28600"/>
                        <a:ext cx="2393950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5BFE46C5-1096-DD4C-A5C9-6C89F96C4DC3}" type="slidenum">
              <a:rPr lang="en-US" sz="1400"/>
              <a:pPr eaLnBrk="1" hangingPunct="1"/>
              <a:t>26</a:t>
            </a:fld>
            <a:endParaRPr lang="en-US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553200" cy="12954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Intuition for Asymptotic Notation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1066800" y="1676400"/>
            <a:ext cx="6553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chemeClr val="tx2"/>
                </a:solidFill>
              </a:rPr>
              <a:t>big</a:t>
            </a:r>
            <a:r>
              <a:rPr lang="en-US" dirty="0">
                <a:solidFill>
                  <a:schemeClr val="tx2"/>
                </a:solidFill>
              </a:rPr>
              <a:t>-Oh</a:t>
            </a:r>
            <a:endParaRPr lang="en-US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dirty="0"/>
              <a:t>f(n) is </a:t>
            </a:r>
            <a:r>
              <a:rPr lang="en-US" dirty="0">
                <a:sym typeface="Symbol" charset="0"/>
              </a:rPr>
              <a:t>O(g(n)) if f(n) is asymptotically </a:t>
            </a:r>
            <a:r>
              <a:rPr lang="en-US" dirty="0">
                <a:solidFill>
                  <a:srgbClr val="BE2D00"/>
                </a:solidFill>
                <a:sym typeface="Symbol" charset="0"/>
              </a:rPr>
              <a:t>less than or equal to</a:t>
            </a:r>
            <a:r>
              <a:rPr lang="en-US" dirty="0">
                <a:sym typeface="Symbol" charset="0"/>
              </a:rPr>
              <a:t> g(n)</a:t>
            </a:r>
            <a:endParaRPr lang="en-US" sz="200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tx2"/>
                </a:solidFill>
              </a:rPr>
              <a:t>big-Omega</a:t>
            </a: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dirty="0"/>
              <a:t>f(n) is </a:t>
            </a:r>
            <a:r>
              <a:rPr lang="en-US" dirty="0">
                <a:sym typeface="Symbol" charset="0"/>
              </a:rPr>
              <a:t>(g(n)) if f(n) is asymptotically </a:t>
            </a:r>
            <a:r>
              <a:rPr lang="en-US" dirty="0">
                <a:solidFill>
                  <a:srgbClr val="BE2D00"/>
                </a:solidFill>
                <a:sym typeface="Symbol" charset="0"/>
              </a:rPr>
              <a:t>greater than or equal to </a:t>
            </a:r>
            <a:r>
              <a:rPr lang="en-US" dirty="0">
                <a:sym typeface="Symbol" charset="0"/>
              </a:rPr>
              <a:t>g(n)</a:t>
            </a:r>
            <a:endParaRPr lang="en-US" baseline="-25000" dirty="0">
              <a:sym typeface="Symbo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tx2"/>
                </a:solidFill>
              </a:rPr>
              <a:t>big-Theta</a:t>
            </a: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charset="0"/>
              <a:buChar char="n"/>
            </a:pPr>
            <a:r>
              <a:rPr lang="en-US" dirty="0"/>
              <a:t>f(n) is </a:t>
            </a:r>
            <a:r>
              <a:rPr lang="en-US" dirty="0">
                <a:sym typeface="Symbol" charset="0"/>
              </a:rPr>
              <a:t>(g(n)) if f(n) is asymptotically </a:t>
            </a:r>
            <a:r>
              <a:rPr lang="en-US" dirty="0">
                <a:solidFill>
                  <a:srgbClr val="BE2D00"/>
                </a:solidFill>
                <a:sym typeface="Symbol" charset="0"/>
              </a:rPr>
              <a:t>equal to </a:t>
            </a:r>
            <a:r>
              <a:rPr lang="en-US" dirty="0">
                <a:sym typeface="Symbol" charset="0"/>
              </a:rPr>
              <a:t>g(n)</a:t>
            </a: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0"/>
              <a:buNone/>
            </a:pPr>
            <a:endParaRPr lang="en-US" sz="2800" dirty="0">
              <a:sym typeface="Symbol" charset="0"/>
            </a:endParaRPr>
          </a:p>
        </p:txBody>
      </p:sp>
      <p:graphicFrame>
        <p:nvGraphicFramePr>
          <p:cNvPr id="43013" name="Object 6"/>
          <p:cNvGraphicFramePr>
            <a:graphicFrameLocks noChangeAspect="1"/>
          </p:cNvGraphicFramePr>
          <p:nvPr/>
        </p:nvGraphicFramePr>
        <p:xfrm>
          <a:off x="6705600" y="152400"/>
          <a:ext cx="1752600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9" name="Clip" r:id="rId3" imgW="879443" imgH="875763" progId="MS_ClipArt_Gallery.2">
                  <p:embed/>
                </p:oleObj>
              </mc:Choice>
              <mc:Fallback>
                <p:oleObj name="Clip" r:id="rId3" imgW="879443" imgH="875763" progId="MS_ClipArt_Gallery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52400"/>
                        <a:ext cx="1752600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Analysis of Algorithms</a:t>
            </a:r>
          </a:p>
        </p:txBody>
      </p:sp>
      <p:sp>
        <p:nvSpPr>
          <p:cNvPr id="440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DF99DFE-D05D-674A-BCAD-FB35175F756F}" type="slidenum">
              <a:rPr lang="en-US" sz="1400"/>
              <a:pPr eaLnBrk="1" hangingPunct="1"/>
              <a:t>27</a:t>
            </a:fld>
            <a:endParaRPr lang="en-US" sz="1400"/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685800" y="228600"/>
            <a:ext cx="5638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>
                <a:solidFill>
                  <a:schemeClr val="tx2"/>
                </a:solidFill>
              </a:rPr>
              <a:t>Example Uses of the Relatives of Big-Oh</a:t>
            </a: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762000" y="4884738"/>
            <a:ext cx="8077200" cy="136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i="1" dirty="0">
                <a:latin typeface="Times New Roman" charset="0"/>
              </a:rPr>
              <a:t>f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dirty="0">
                <a:latin typeface="Times New Roman" charset="0"/>
              </a:rPr>
              <a:t>) is </a:t>
            </a:r>
            <a:r>
              <a:rPr lang="en-US" dirty="0">
                <a:sym typeface="Symbol" charset="0"/>
              </a:rPr>
              <a:t>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)) if it is 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baseline="30000" dirty="0">
                <a:latin typeface="Times New Roman" charset="0"/>
              </a:rPr>
              <a:t>2</a:t>
            </a:r>
            <a:r>
              <a:rPr lang="en-US" sz="2000" dirty="0">
                <a:latin typeface="Times New Roman" charset="0"/>
              </a:rPr>
              <a:t>) and </a:t>
            </a:r>
            <a:r>
              <a:rPr lang="en-US" sz="2000" i="1" dirty="0">
                <a:latin typeface="Times New Roman" charset="0"/>
                <a:sym typeface="Symbol" charset="0"/>
              </a:rPr>
              <a:t>O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baseline="30000" dirty="0">
                <a:latin typeface="Times New Roman" charset="0"/>
              </a:rPr>
              <a:t>2</a:t>
            </a:r>
            <a:r>
              <a:rPr lang="en-US" sz="2000" dirty="0">
                <a:latin typeface="Times New Roman" charset="0"/>
              </a:rPr>
              <a:t>). We have already seen the former, for the latter recall that </a:t>
            </a:r>
            <a:r>
              <a:rPr lang="en-US" sz="2000" i="1" dirty="0">
                <a:latin typeface="Times New Roman" charset="0"/>
              </a:rPr>
              <a:t>f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dirty="0">
                <a:latin typeface="Times New Roman" charset="0"/>
              </a:rPr>
              <a:t>) is </a:t>
            </a:r>
            <a:r>
              <a:rPr lang="en-US" sz="2000" i="1" dirty="0">
                <a:latin typeface="Times New Roman" charset="0"/>
                <a:sym typeface="Symbol" charset="0"/>
              </a:rPr>
              <a:t>O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)) if there is a constant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&gt; 0 and an integer constant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 1 such that f(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</a:t>
            </a:r>
            <a:r>
              <a:rPr lang="en-US" sz="2000" u="sng" dirty="0">
                <a:latin typeface="Times New Roman" charset="0"/>
                <a:sym typeface="Symbol" charset="0"/>
              </a:rPr>
              <a:t>&lt;</a:t>
            </a:r>
            <a:r>
              <a:rPr lang="en-US" sz="2000" dirty="0">
                <a:latin typeface="Times New Roman" charset="0"/>
                <a:sym typeface="Symbol" charset="0"/>
              </a:rPr>
              <a:t> </a:t>
            </a:r>
            <a:r>
              <a:rPr lang="en-US" sz="2000" i="1" dirty="0" smtClean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cs typeface="Arial" charset="0"/>
                <a:sym typeface="Symbol" charset="0"/>
              </a:rPr>
              <a:t> </a:t>
            </a:r>
            <a:r>
              <a:rPr lang="en-US" sz="2000" i="1" dirty="0" smtClean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for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 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 </a:t>
            </a:r>
            <a:endParaRPr lang="en-US" sz="2000" dirty="0">
              <a:latin typeface="Times New Roman" charset="0"/>
              <a:sym typeface="Symbol" charset="0"/>
            </a:endParaRPr>
          </a:p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>
                <a:latin typeface="Times New Roman" charset="0"/>
                <a:sym typeface="Symbol" charset="0"/>
              </a:rPr>
              <a:t>Let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= 5 and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= 1</a:t>
            </a:r>
            <a:endParaRPr lang="en-US" sz="2000" baseline="-25000" dirty="0">
              <a:latin typeface="Times New Roman" charset="0"/>
              <a:sym typeface="Symbol" charset="0"/>
            </a:endParaRPr>
          </a:p>
        </p:txBody>
      </p:sp>
      <p:sp>
        <p:nvSpPr>
          <p:cNvPr id="44037" name="Rectangle 6"/>
          <p:cNvSpPr>
            <a:spLocks noChangeArrowheads="1"/>
          </p:cNvSpPr>
          <p:nvPr/>
        </p:nvSpPr>
        <p:spPr bwMode="auto">
          <a:xfrm>
            <a:off x="762000" y="4478338"/>
            <a:ext cx="7924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spcBef>
                <a:spcPct val="20000"/>
              </a:spcBef>
              <a:buSzPct val="75000"/>
              <a:buFont typeface="Wingdings" charset="0"/>
              <a:buChar char="n"/>
            </a:pPr>
            <a:r>
              <a:rPr lang="en-US" sz="2000" b="1" dirty="0">
                <a:latin typeface="Times New Roman" charset="0"/>
              </a:rPr>
              <a:t>5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baseline="30000" dirty="0">
                <a:latin typeface="Times New Roman" charset="0"/>
              </a:rPr>
              <a:t>2</a:t>
            </a:r>
            <a:r>
              <a:rPr lang="en-US" sz="2000" b="1" dirty="0">
                <a:latin typeface="Times New Roman" charset="0"/>
              </a:rPr>
              <a:t> is </a:t>
            </a:r>
            <a:r>
              <a:rPr lang="en-US" dirty="0">
                <a:sym typeface="Symbol" charset="0"/>
              </a:rPr>
              <a:t></a:t>
            </a:r>
            <a:r>
              <a:rPr lang="en-US" sz="2000" b="1" dirty="0">
                <a:latin typeface="Times New Roman" charset="0"/>
              </a:rPr>
              <a:t>(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baseline="30000" dirty="0">
                <a:latin typeface="Times New Roman" charset="0"/>
              </a:rPr>
              <a:t>2</a:t>
            </a:r>
            <a:r>
              <a:rPr lang="en-US" sz="2000" b="1" dirty="0">
                <a:latin typeface="Times New Roman" charset="0"/>
              </a:rPr>
              <a:t>)</a:t>
            </a: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762000" y="35306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i="1" dirty="0">
                <a:latin typeface="Times New Roman" charset="0"/>
              </a:rPr>
              <a:t>f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dirty="0">
                <a:latin typeface="Times New Roman" charset="0"/>
              </a:rPr>
              <a:t>) is </a:t>
            </a:r>
            <a:r>
              <a:rPr lang="en-US" sz="2000" dirty="0">
                <a:latin typeface="Times New Roman" charset="0"/>
                <a:sym typeface="Symbol" charset="0"/>
              </a:rPr>
              <a:t>(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)) if there is a constant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&gt; 0 and an integer constant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 1 such that f(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 </a:t>
            </a:r>
            <a:r>
              <a:rPr lang="en-US" sz="2000" i="1" dirty="0" smtClean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cs typeface="Arial" charset="0"/>
                <a:sym typeface="Symbol" charset="0"/>
              </a:rPr>
              <a:t> </a:t>
            </a:r>
            <a:r>
              <a:rPr lang="en-US" sz="2000" i="1" dirty="0" smtClean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for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 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</a:p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>
                <a:latin typeface="Times New Roman" charset="0"/>
                <a:sym typeface="Symbol" charset="0"/>
              </a:rPr>
              <a:t>let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= 1 and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= 1</a:t>
            </a:r>
            <a:endParaRPr lang="en-US" sz="2000" baseline="-25000" dirty="0">
              <a:latin typeface="Times New Roman" charset="0"/>
              <a:sym typeface="Symbol" charset="0"/>
            </a:endParaRPr>
          </a:p>
        </p:txBody>
      </p:sp>
      <p:sp>
        <p:nvSpPr>
          <p:cNvPr id="44039" name="Rectangle 8"/>
          <p:cNvSpPr>
            <a:spLocks noChangeArrowheads="1"/>
          </p:cNvSpPr>
          <p:nvPr/>
        </p:nvSpPr>
        <p:spPr bwMode="auto">
          <a:xfrm>
            <a:off x="762000" y="3114675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spcBef>
                <a:spcPct val="20000"/>
              </a:spcBef>
              <a:buSzPct val="75000"/>
              <a:buFont typeface="Wingdings" charset="0"/>
              <a:buChar char="n"/>
            </a:pPr>
            <a:r>
              <a:rPr lang="en-US" sz="2000" b="1" dirty="0">
                <a:latin typeface="Times New Roman" charset="0"/>
              </a:rPr>
              <a:t>5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baseline="30000" dirty="0">
                <a:latin typeface="Times New Roman" charset="0"/>
              </a:rPr>
              <a:t>2</a:t>
            </a:r>
            <a:r>
              <a:rPr lang="en-US" sz="2000" b="1" dirty="0">
                <a:latin typeface="Times New Roman" charset="0"/>
              </a:rPr>
              <a:t> is </a:t>
            </a:r>
            <a:r>
              <a:rPr lang="en-US" sz="2000" b="1" dirty="0">
                <a:latin typeface="Times New Roman" charset="0"/>
                <a:sym typeface="Symbol" charset="0"/>
              </a:rPr>
              <a:t></a:t>
            </a:r>
            <a:r>
              <a:rPr lang="en-US" sz="2000" b="1" dirty="0">
                <a:latin typeface="Times New Roman" charset="0"/>
              </a:rPr>
              <a:t>(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dirty="0">
                <a:latin typeface="Times New Roman" charset="0"/>
              </a:rPr>
              <a:t>)</a:t>
            </a: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762000" y="2166938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i="1" dirty="0">
                <a:latin typeface="Times New Roman" charset="0"/>
              </a:rPr>
              <a:t>f</a:t>
            </a:r>
            <a:r>
              <a:rPr lang="en-US" sz="2000" dirty="0">
                <a:latin typeface="Times New Roman" charset="0"/>
              </a:rPr>
              <a:t>(</a:t>
            </a:r>
            <a:r>
              <a:rPr lang="en-US" sz="2000" i="1" dirty="0">
                <a:latin typeface="Times New Roman" charset="0"/>
              </a:rPr>
              <a:t>n</a:t>
            </a:r>
            <a:r>
              <a:rPr lang="en-US" sz="2000" dirty="0">
                <a:latin typeface="Times New Roman" charset="0"/>
              </a:rPr>
              <a:t>) is </a:t>
            </a:r>
            <a:r>
              <a:rPr lang="en-US" sz="2000" dirty="0">
                <a:latin typeface="Times New Roman" charset="0"/>
                <a:sym typeface="Symbol" charset="0"/>
              </a:rPr>
              <a:t>(</a:t>
            </a:r>
            <a:r>
              <a:rPr lang="en-US" sz="2000" i="1" dirty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)) if there is a constant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&gt; 0 and an integer constant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 1 such that </a:t>
            </a:r>
            <a:r>
              <a:rPr lang="en-US" sz="2000" i="1" dirty="0">
                <a:latin typeface="Times New Roman" charset="0"/>
                <a:sym typeface="Symbol" charset="0"/>
              </a:rPr>
              <a:t>f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 </a:t>
            </a:r>
            <a:r>
              <a:rPr lang="en-US" sz="2000" i="1" dirty="0" smtClean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cs typeface="Arial" charset="0"/>
                <a:sym typeface="Symbol" charset="0"/>
              </a:rPr>
              <a:t> </a:t>
            </a:r>
            <a:r>
              <a:rPr lang="en-US" sz="2000" i="1" dirty="0" smtClean="0">
                <a:latin typeface="Times New Roman" charset="0"/>
                <a:sym typeface="Symbol" charset="0"/>
              </a:rPr>
              <a:t>g</a:t>
            </a:r>
            <a:r>
              <a:rPr lang="en-US" sz="2000" dirty="0">
                <a:latin typeface="Times New Roman" charset="0"/>
                <a:sym typeface="Symbol" charset="0"/>
              </a:rPr>
              <a:t>(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dirty="0">
                <a:latin typeface="Times New Roman" charset="0"/>
                <a:sym typeface="Symbol" charset="0"/>
              </a:rPr>
              <a:t>) for </a:t>
            </a:r>
            <a:r>
              <a:rPr lang="en-US" sz="2000" i="1" dirty="0">
                <a:latin typeface="Times New Roman" charset="0"/>
                <a:sym typeface="Symbol" charset="0"/>
              </a:rPr>
              <a:t>n </a:t>
            </a:r>
            <a:r>
              <a:rPr lang="en-US" sz="2000" dirty="0">
                <a:latin typeface="Times New Roman" charset="0"/>
                <a:sym typeface="Symbol" charset="0"/>
              </a:rPr>
              <a:t>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</a:p>
          <a:p>
            <a:pPr marL="628650" lvl="1" indent="-228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None/>
            </a:pPr>
            <a:r>
              <a:rPr lang="en-US" sz="2000" dirty="0">
                <a:latin typeface="Times New Roman" charset="0"/>
                <a:sym typeface="Symbol" charset="0"/>
              </a:rPr>
              <a:t>let </a:t>
            </a:r>
            <a:r>
              <a:rPr lang="en-US" sz="2000" i="1" dirty="0">
                <a:latin typeface="Times New Roman" charset="0"/>
                <a:sym typeface="Symbol" charset="0"/>
              </a:rPr>
              <a:t>c</a:t>
            </a:r>
            <a:r>
              <a:rPr lang="en-US" sz="2000" dirty="0">
                <a:latin typeface="Times New Roman" charset="0"/>
                <a:sym typeface="Symbol" charset="0"/>
              </a:rPr>
              <a:t> = 5 and </a:t>
            </a:r>
            <a:r>
              <a:rPr lang="en-US" sz="2000" i="1" dirty="0">
                <a:latin typeface="Times New Roman" charset="0"/>
                <a:sym typeface="Symbol" charset="0"/>
              </a:rPr>
              <a:t>n</a:t>
            </a:r>
            <a:r>
              <a:rPr lang="en-US" sz="2000" baseline="-25000" dirty="0">
                <a:latin typeface="Times New Roman" charset="0"/>
                <a:sym typeface="Symbol" charset="0"/>
              </a:rPr>
              <a:t>0</a:t>
            </a:r>
            <a:r>
              <a:rPr lang="en-US" sz="2000" dirty="0">
                <a:latin typeface="Times New Roman" charset="0"/>
                <a:sym typeface="Symbol" charset="0"/>
              </a:rPr>
              <a:t> = 1</a:t>
            </a:r>
          </a:p>
        </p:txBody>
      </p:sp>
      <p:sp>
        <p:nvSpPr>
          <p:cNvPr id="44041" name="Rectangle 10"/>
          <p:cNvSpPr>
            <a:spLocks noChangeArrowheads="1"/>
          </p:cNvSpPr>
          <p:nvPr/>
        </p:nvSpPr>
        <p:spPr bwMode="auto">
          <a:xfrm>
            <a:off x="762000" y="1752600"/>
            <a:ext cx="792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spcBef>
                <a:spcPct val="20000"/>
              </a:spcBef>
              <a:buSzPct val="75000"/>
              <a:buFont typeface="Wingdings" charset="0"/>
              <a:buChar char="n"/>
            </a:pPr>
            <a:r>
              <a:rPr lang="en-US" sz="2000" b="1" dirty="0">
                <a:latin typeface="Times New Roman" charset="0"/>
              </a:rPr>
              <a:t>5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baseline="30000" dirty="0">
                <a:latin typeface="Times New Roman" charset="0"/>
              </a:rPr>
              <a:t>2</a:t>
            </a:r>
            <a:r>
              <a:rPr lang="en-US" sz="2000" b="1" dirty="0">
                <a:latin typeface="Times New Roman" charset="0"/>
              </a:rPr>
              <a:t> is </a:t>
            </a:r>
            <a:r>
              <a:rPr lang="en-US" sz="2000" b="1" dirty="0">
                <a:latin typeface="Times New Roman" charset="0"/>
                <a:sym typeface="Symbol" charset="0"/>
              </a:rPr>
              <a:t></a:t>
            </a:r>
            <a:r>
              <a:rPr lang="en-US" sz="2000" b="1" dirty="0">
                <a:latin typeface="Times New Roman" charset="0"/>
              </a:rPr>
              <a:t>(</a:t>
            </a:r>
            <a:r>
              <a:rPr lang="en-US" sz="2000" b="1" i="1" dirty="0">
                <a:latin typeface="Times New Roman" charset="0"/>
              </a:rPr>
              <a:t>n</a:t>
            </a:r>
            <a:r>
              <a:rPr lang="en-US" sz="2000" b="1" baseline="30000" dirty="0">
                <a:latin typeface="Times New Roman" charset="0"/>
              </a:rPr>
              <a:t>2</a:t>
            </a:r>
            <a:r>
              <a:rPr lang="en-US" sz="2000" b="1" dirty="0">
                <a:latin typeface="Times New Roman" charset="0"/>
              </a:rPr>
              <a:t>)</a:t>
            </a:r>
          </a:p>
        </p:txBody>
      </p:sp>
      <p:graphicFrame>
        <p:nvGraphicFramePr>
          <p:cNvPr id="44042" name="Object 11"/>
          <p:cNvGraphicFramePr>
            <a:graphicFrameLocks noChangeAspect="1"/>
          </p:cNvGraphicFramePr>
          <p:nvPr/>
        </p:nvGraphicFramePr>
        <p:xfrm>
          <a:off x="6781800" y="381000"/>
          <a:ext cx="14668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8" name="Clip" r:id="rId4" imgW="789792" imgH="903405" progId="MS_ClipArt_Gallery.2">
                  <p:embed/>
                </p:oleObj>
              </mc:Choice>
              <mc:Fallback>
                <p:oleObj name="Clip" r:id="rId4" imgW="789792" imgH="903405" progId="MS_ClipArt_Gallery.2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81000"/>
                        <a:ext cx="146685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Date Placeholder 1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smtClean="0"/>
              <a:t>© 2014 Goodrich, Tamassia, Goldwasser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utoUpdateAnimBg="0"/>
      <p:bldP spid="45063" grpId="0" autoUpdateAnimBg="0"/>
      <p:bldP spid="45065" grpId="0" autoUpdateAnimBg="0"/>
    </p:bldLst>
  </p:timing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4349</TotalTime>
  <Words>1647</Words>
  <Application>Microsoft Office PowerPoint</Application>
  <PresentationFormat>On-screen Show (4:3)</PresentationFormat>
  <Paragraphs>281</Paragraphs>
  <Slides>27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ＭＳ Ｐゴシック</vt:lpstr>
      <vt:lpstr>Arial</vt:lpstr>
      <vt:lpstr>Symbol</vt:lpstr>
      <vt:lpstr>Tahoma</vt:lpstr>
      <vt:lpstr>Times</vt:lpstr>
      <vt:lpstr>Times New Roman</vt:lpstr>
      <vt:lpstr>Wingdings</vt:lpstr>
      <vt:lpstr>Blueprint</vt:lpstr>
      <vt:lpstr>Clip</vt:lpstr>
      <vt:lpstr>Chart</vt:lpstr>
      <vt:lpstr>Worksheet</vt:lpstr>
      <vt:lpstr>Analysis of Algorithms</vt:lpstr>
      <vt:lpstr>Running Time</vt:lpstr>
      <vt:lpstr>Experimental  Studies</vt:lpstr>
      <vt:lpstr>Limitations of Experiments</vt:lpstr>
      <vt:lpstr>Theoretical Analysis</vt:lpstr>
      <vt:lpstr>Seven Important Functions</vt:lpstr>
      <vt:lpstr>Functions Graphed  Using “Normal” Scale</vt:lpstr>
      <vt:lpstr>Primitive Operations</vt:lpstr>
      <vt:lpstr>Counting Primitive Operations</vt:lpstr>
      <vt:lpstr>Estimating Running Time</vt:lpstr>
      <vt:lpstr>Growth Rate of Running Time</vt:lpstr>
      <vt:lpstr> Comparison of Two Algorithms</vt:lpstr>
      <vt:lpstr>Constant Factors</vt:lpstr>
      <vt:lpstr>Big-Oh Notation</vt:lpstr>
      <vt:lpstr>Big-Oh Example</vt:lpstr>
      <vt:lpstr>PowerPoint Presentation</vt:lpstr>
      <vt:lpstr>Big-Oh and Growth Rate</vt:lpstr>
      <vt:lpstr>Big-Oh Rules</vt:lpstr>
      <vt:lpstr>Asymptotic Algorithm Analysis</vt:lpstr>
      <vt:lpstr>Computing Prefix Averages</vt:lpstr>
      <vt:lpstr>PowerPoint Presentation</vt:lpstr>
      <vt:lpstr>Arithmetic Progression</vt:lpstr>
      <vt:lpstr>PowerPoint Presentation</vt:lpstr>
      <vt:lpstr>Math you need to Review</vt:lpstr>
      <vt:lpstr>PowerPoint Presentation</vt:lpstr>
      <vt:lpstr>Intuition for Asymptotic Notation</vt:lpstr>
      <vt:lpstr>PowerPoint Presentation</vt:lpstr>
    </vt:vector>
  </TitlesOfParts>
  <Company>Brown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Houssein Dhayné</cp:lastModifiedBy>
  <cp:revision>167</cp:revision>
  <dcterms:created xsi:type="dcterms:W3CDTF">2002-01-21T02:22:10Z</dcterms:created>
  <dcterms:modified xsi:type="dcterms:W3CDTF">2021-11-02T15:09:06Z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90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C:\Work\html</vt:lpwstr>
  </property>
</Properties>
</file>