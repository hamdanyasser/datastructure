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56" r:id="rId2"/>
    <p:sldId id="310" r:id="rId3"/>
    <p:sldId id="315" r:id="rId4"/>
    <p:sldId id="322" r:id="rId5"/>
    <p:sldId id="316" r:id="rId6"/>
    <p:sldId id="317" r:id="rId7"/>
    <p:sldId id="323" r:id="rId8"/>
    <p:sldId id="318" r:id="rId9"/>
    <p:sldId id="324" r:id="rId10"/>
    <p:sldId id="319" r:id="rId11"/>
    <p:sldId id="325" r:id="rId12"/>
    <p:sldId id="326" r:id="rId13"/>
  </p:sldIdLst>
  <p:sldSz cx="9144000" cy="6858000" type="screen4x3"/>
  <p:notesSz cx="7302500" cy="9588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4F6"/>
    <a:srgbClr val="6289F8"/>
    <a:srgbClr val="8097F8"/>
    <a:srgbClr val="2C61F6"/>
    <a:srgbClr val="F8F0D0"/>
    <a:srgbClr val="F2E4AA"/>
    <a:srgbClr val="000000"/>
    <a:srgbClr val="F4E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60" autoAdjust="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r>
              <a:rPr lang="en-US"/>
              <a:t>Sequences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41ABB1DF-ED12-5E42-843A-E263E4E852F0}" type="datetime8">
              <a:rPr lang="en-US"/>
              <a:pPr>
                <a:defRPr/>
              </a:pPr>
              <a:t>10/17/2021 12:15 PM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EFAB5508-3369-F344-84DD-A68DBF1874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539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r>
              <a:rPr lang="en-US"/>
              <a:t>Sequences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4CDC5F77-A1B5-FB44-AF01-7ED84044CBA7}" type="datetime8">
              <a:rPr lang="en-US"/>
              <a:pPr>
                <a:defRPr/>
              </a:pPr>
              <a:t>10/17/2021 12:15 PM</a:t>
            </a:fld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99FDBDB3-B060-8645-8990-A5EE355B04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35453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Sequences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17F54C8-526F-AE42-B077-5B11EF1ADDF8}" type="datetime8">
              <a:rPr lang="en-US"/>
              <a:pPr>
                <a:defRPr/>
              </a:pPr>
              <a:t>10/17/2021 12:15 PM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E2B13-AA8C-684C-92D8-E5640C5EFACE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5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sp>
        <p:nvSpPr>
          <p:cNvPr id="69" name="Text Box 68"/>
          <p:cNvSpPr txBox="1">
            <a:spLocks noChangeArrowheads="1"/>
          </p:cNvSpPr>
          <p:nvPr userDrawn="1"/>
        </p:nvSpPr>
        <p:spPr bwMode="auto">
          <a:xfrm>
            <a:off x="255588" y="6400800"/>
            <a:ext cx="34020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cs typeface="+mn-cs"/>
              </a:rPr>
              <a:t>© </a:t>
            </a:r>
            <a:r>
              <a:rPr lang="en-US" sz="1400" dirty="0" smtClean="0">
                <a:cs typeface="+mn-cs"/>
              </a:rPr>
              <a:t>2014 </a:t>
            </a:r>
            <a:r>
              <a:rPr lang="en-US" sz="1400" dirty="0">
                <a:cs typeface="+mn-cs"/>
              </a:rPr>
              <a:t>Goodrich, </a:t>
            </a:r>
            <a:r>
              <a:rPr lang="en-US" sz="1400" dirty="0" err="1">
                <a:cs typeface="+mn-cs"/>
              </a:rPr>
              <a:t>Tamassia</a:t>
            </a:r>
            <a:r>
              <a:rPr lang="en-US" sz="1400" dirty="0">
                <a:cs typeface="+mn-cs"/>
              </a:rPr>
              <a:t>, </a:t>
            </a:r>
            <a:r>
              <a:rPr lang="en-US" sz="1400" dirty="0" err="1">
                <a:cs typeface="+mn-cs"/>
              </a:rPr>
              <a:t>Goldwasser</a:t>
            </a:r>
            <a:endParaRPr lang="en-US" sz="1400" dirty="0">
              <a:cs typeface="+mn-cs"/>
            </a:endParaRPr>
          </a:p>
        </p:txBody>
      </p: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charset="0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965CE9-10C6-F64E-9CF3-552ACC454A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9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47AD7A-B800-AC4D-8A41-722672342C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98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C8E176-B0B5-A846-BF0F-C4D4FBC6BF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57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F1A01AD-7268-1644-BFA3-70C7188031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79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22C3-F7B0-894A-8438-6785735A5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85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91D216-4731-9048-ABF5-BCEB2B611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81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717C7E-BF83-964A-9273-B73E2BE876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0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957508-2D35-494A-9884-0380BE456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06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6DE827-6D80-524B-8B77-BE63AFBF1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29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DD0868-D886-2B45-A3B0-AB7719533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70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1BD16A5-8DFF-DF42-BC01-750B9D6DB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85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77B991-3830-AF43-81A8-035556A7FD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56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0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4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5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8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1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2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3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  <p:sp>
          <p:nvSpPr>
            <p:cNvPr id="415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5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5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415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sp>
        <p:nvSpPr>
          <p:cNvPr id="415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6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cs typeface="+mn-cs"/>
              </a:defRPr>
            </a:lvl1pPr>
          </a:lstStyle>
          <a:p>
            <a:pPr>
              <a:defRPr/>
            </a:pPr>
            <a:fld id="{B66870BA-0503-A249-98D7-27DF6CF05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64" name="Text Box 68"/>
          <p:cNvSpPr txBox="1">
            <a:spLocks noChangeArrowheads="1"/>
          </p:cNvSpPr>
          <p:nvPr userDrawn="1"/>
        </p:nvSpPr>
        <p:spPr bwMode="auto">
          <a:xfrm>
            <a:off x="255588" y="6400800"/>
            <a:ext cx="34020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cs typeface="+mn-cs"/>
              </a:rPr>
              <a:t>© </a:t>
            </a:r>
            <a:r>
              <a:rPr lang="en-US" sz="1400" dirty="0" smtClean="0">
                <a:cs typeface="+mn-cs"/>
              </a:rPr>
              <a:t>2014 </a:t>
            </a:r>
            <a:r>
              <a:rPr lang="en-US" sz="1400" dirty="0">
                <a:cs typeface="+mn-cs"/>
              </a:rPr>
              <a:t>Goodrich, </a:t>
            </a:r>
            <a:r>
              <a:rPr lang="en-US" sz="1400" dirty="0" err="1">
                <a:cs typeface="+mn-cs"/>
              </a:rPr>
              <a:t>Tamassia</a:t>
            </a:r>
            <a:r>
              <a:rPr lang="en-US" sz="1400" dirty="0">
                <a:cs typeface="+mn-cs"/>
              </a:rPr>
              <a:t>, </a:t>
            </a:r>
            <a:r>
              <a:rPr lang="en-US" sz="1400" dirty="0" err="1">
                <a:cs typeface="+mn-cs"/>
              </a:rPr>
              <a:t>Goldwasser</a:t>
            </a:r>
            <a:endParaRPr lang="en-US" sz="1400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charset="0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9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D464B1-9A36-3A42-BA9A-A4CE366EA0D1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3322" name="Line 250"/>
          <p:cNvSpPr>
            <a:spLocks noChangeShapeType="1"/>
          </p:cNvSpPr>
          <p:nvPr/>
        </p:nvSpPr>
        <p:spPr bwMode="auto">
          <a:xfrm>
            <a:off x="2709863" y="4264025"/>
            <a:ext cx="441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Singly Linked Lists</a:t>
            </a:r>
          </a:p>
        </p:txBody>
      </p:sp>
      <p:pic>
        <p:nvPicPr>
          <p:cNvPr id="3316" name="Picture 2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733800"/>
            <a:ext cx="871538" cy="1060450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317" name="Picture 2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88" y="3752850"/>
            <a:ext cx="871537" cy="1020763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318" name="Picture 24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3873500"/>
            <a:ext cx="873125" cy="779463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319" name="Picture 24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363" y="3841750"/>
            <a:ext cx="871537" cy="842963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 </a:t>
            </a:r>
            <a:r>
              <a:rPr lang="en-US" sz="1800" dirty="0" smtClean="0">
                <a:solidFill>
                  <a:schemeClr val="tx2"/>
                </a:solidFill>
              </a:rPr>
              <a:t>Data Structures and Algorithms in Java, 6</a:t>
            </a:r>
            <a:r>
              <a:rPr lang="en-US" sz="1800" baseline="30000" dirty="0" smtClean="0">
                <a:solidFill>
                  <a:schemeClr val="tx2"/>
                </a:solidFill>
              </a:rPr>
              <a:t>th</a:t>
            </a:r>
            <a:r>
              <a:rPr lang="en-US" sz="1800" dirty="0" smtClean="0">
                <a:solidFill>
                  <a:schemeClr val="tx2"/>
                </a:solidFill>
              </a:rPr>
              <a:t> edition</a:t>
            </a:r>
            <a:r>
              <a:rPr lang="en-US" sz="1800" dirty="0" smtClean="0"/>
              <a:t>, by M. T. Goodrich, R. Tamassia, and M. H. Goldwasser, Wiley, 2014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607C54-B5E4-E246-B28A-376B00F65C36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Singly Linked List</a:t>
            </a:r>
            <a:endParaRPr lang="en-US" dirty="0" smtClean="0">
              <a:cs typeface="Tahoma" charset="0"/>
            </a:endParaRPr>
          </a:p>
        </p:txBody>
      </p:sp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4114800" cy="2819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cs typeface="+mn-cs"/>
              </a:rPr>
              <a:t>A singly linked list is a concrete data structure consisting of a sequence of nodes, starting from a head pointer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cs typeface="+mn-cs"/>
              </a:rPr>
              <a:t>Each node stores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element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link to the next node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5486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6934200" y="1981200"/>
            <a:ext cx="669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cs typeface="+mn-cs"/>
              </a:rPr>
              <a:t>next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242821" y="3438525"/>
            <a:ext cx="10951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 smtClean="0">
                <a:solidFill>
                  <a:schemeClr val="tx2"/>
                </a:solidFill>
                <a:cs typeface="+mn-cs"/>
              </a:rPr>
              <a:t>element</a:t>
            </a:r>
            <a:endParaRPr lang="en-US" sz="20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6858000" y="33528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>
                <a:cs typeface="+mn-cs"/>
              </a:rPr>
              <a:t>node</a:t>
            </a:r>
          </a:p>
        </p:txBody>
      </p:sp>
      <p:sp>
        <p:nvSpPr>
          <p:cNvPr id="73742" name="AutoShape 14"/>
          <p:cNvSpPr>
            <a:spLocks noChangeArrowheads="1"/>
          </p:cNvSpPr>
          <p:nvPr/>
        </p:nvSpPr>
        <p:spPr bwMode="auto">
          <a:xfrm>
            <a:off x="5181600" y="1828800"/>
            <a:ext cx="2590800" cy="2133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45" name="Rectangle 17"/>
          <p:cNvSpPr>
            <a:spLocks noChangeArrowheads="1"/>
          </p:cNvSpPr>
          <p:nvPr/>
        </p:nvSpPr>
        <p:spPr bwMode="auto">
          <a:xfrm>
            <a:off x="60960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46" name="Line 18"/>
          <p:cNvSpPr>
            <a:spLocks noChangeShapeType="1"/>
          </p:cNvSpPr>
          <p:nvPr/>
        </p:nvSpPr>
        <p:spPr bwMode="auto">
          <a:xfrm>
            <a:off x="5791200" y="243840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47" name="Line 19"/>
          <p:cNvSpPr>
            <a:spLocks noChangeShapeType="1"/>
          </p:cNvSpPr>
          <p:nvPr/>
        </p:nvSpPr>
        <p:spPr bwMode="auto">
          <a:xfrm flipV="1">
            <a:off x="6400800" y="24384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48" name="Rectangle 20"/>
          <p:cNvSpPr>
            <a:spLocks noChangeArrowheads="1"/>
          </p:cNvSpPr>
          <p:nvPr/>
        </p:nvSpPr>
        <p:spPr bwMode="auto">
          <a:xfrm>
            <a:off x="13096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0" name="Text Box 22"/>
          <p:cNvSpPr txBox="1">
            <a:spLocks noChangeArrowheads="1"/>
          </p:cNvSpPr>
          <p:nvPr/>
        </p:nvSpPr>
        <p:spPr bwMode="auto">
          <a:xfrm>
            <a:off x="1454150" y="59277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  <a:cs typeface="+mn-cs"/>
              </a:rPr>
              <a:t>A</a:t>
            </a:r>
          </a:p>
        </p:txBody>
      </p:sp>
      <p:sp>
        <p:nvSpPr>
          <p:cNvPr id="73752" name="Rectangle 24"/>
          <p:cNvSpPr>
            <a:spLocks noChangeArrowheads="1"/>
          </p:cNvSpPr>
          <p:nvPr/>
        </p:nvSpPr>
        <p:spPr bwMode="auto">
          <a:xfrm>
            <a:off x="19192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3" name="Line 25"/>
          <p:cNvSpPr>
            <a:spLocks noChangeShapeType="1"/>
          </p:cNvSpPr>
          <p:nvPr/>
        </p:nvSpPr>
        <p:spPr bwMode="auto">
          <a:xfrm>
            <a:off x="1614488" y="502285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4" name="Line 26"/>
          <p:cNvSpPr>
            <a:spLocks noChangeShapeType="1"/>
          </p:cNvSpPr>
          <p:nvPr/>
        </p:nvSpPr>
        <p:spPr bwMode="auto">
          <a:xfrm flipV="1">
            <a:off x="2224088" y="50228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5" name="Rectangle 27"/>
          <p:cNvSpPr>
            <a:spLocks noChangeArrowheads="1"/>
          </p:cNvSpPr>
          <p:nvPr/>
        </p:nvSpPr>
        <p:spPr bwMode="auto">
          <a:xfrm>
            <a:off x="31384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6" name="Rectangle 28"/>
          <p:cNvSpPr>
            <a:spLocks noChangeArrowheads="1"/>
          </p:cNvSpPr>
          <p:nvPr/>
        </p:nvSpPr>
        <p:spPr bwMode="auto">
          <a:xfrm>
            <a:off x="37480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7" name="Line 29"/>
          <p:cNvSpPr>
            <a:spLocks noChangeShapeType="1"/>
          </p:cNvSpPr>
          <p:nvPr/>
        </p:nvSpPr>
        <p:spPr bwMode="auto">
          <a:xfrm flipV="1">
            <a:off x="4052888" y="50228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8" name="Rectangle 30"/>
          <p:cNvSpPr>
            <a:spLocks noChangeArrowheads="1"/>
          </p:cNvSpPr>
          <p:nvPr/>
        </p:nvSpPr>
        <p:spPr bwMode="auto">
          <a:xfrm>
            <a:off x="49672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59" name="Rectangle 31"/>
          <p:cNvSpPr>
            <a:spLocks noChangeArrowheads="1"/>
          </p:cNvSpPr>
          <p:nvPr/>
        </p:nvSpPr>
        <p:spPr bwMode="auto">
          <a:xfrm>
            <a:off x="55768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0" name="Line 32"/>
          <p:cNvSpPr>
            <a:spLocks noChangeShapeType="1"/>
          </p:cNvSpPr>
          <p:nvPr/>
        </p:nvSpPr>
        <p:spPr bwMode="auto">
          <a:xfrm flipV="1">
            <a:off x="5881688" y="50228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1" name="Rectangle 33"/>
          <p:cNvSpPr>
            <a:spLocks noChangeArrowheads="1"/>
          </p:cNvSpPr>
          <p:nvPr/>
        </p:nvSpPr>
        <p:spPr bwMode="auto">
          <a:xfrm>
            <a:off x="67960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2" name="Rectangle 34"/>
          <p:cNvSpPr>
            <a:spLocks noChangeArrowheads="1"/>
          </p:cNvSpPr>
          <p:nvPr/>
        </p:nvSpPr>
        <p:spPr bwMode="auto">
          <a:xfrm>
            <a:off x="7405688" y="47180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3" name="Line 35"/>
          <p:cNvSpPr>
            <a:spLocks noChangeShapeType="1"/>
          </p:cNvSpPr>
          <p:nvPr/>
        </p:nvSpPr>
        <p:spPr bwMode="auto">
          <a:xfrm flipV="1">
            <a:off x="7710488" y="50228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5" name="Text Box 37"/>
          <p:cNvSpPr txBox="1">
            <a:spLocks noChangeArrowheads="1"/>
          </p:cNvSpPr>
          <p:nvPr/>
        </p:nvSpPr>
        <p:spPr bwMode="auto">
          <a:xfrm>
            <a:off x="3282950" y="59277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  <a:cs typeface="+mn-cs"/>
              </a:rPr>
              <a:t>B</a:t>
            </a:r>
          </a:p>
        </p:txBody>
      </p:sp>
      <p:sp>
        <p:nvSpPr>
          <p:cNvPr id="73766" name="Line 38"/>
          <p:cNvSpPr>
            <a:spLocks noChangeShapeType="1"/>
          </p:cNvSpPr>
          <p:nvPr/>
        </p:nvSpPr>
        <p:spPr bwMode="auto">
          <a:xfrm>
            <a:off x="3443288" y="502285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7" name="Text Box 39"/>
          <p:cNvSpPr txBox="1">
            <a:spLocks noChangeArrowheads="1"/>
          </p:cNvSpPr>
          <p:nvPr/>
        </p:nvSpPr>
        <p:spPr bwMode="auto">
          <a:xfrm>
            <a:off x="5111750" y="59277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  <a:cs typeface="+mn-cs"/>
              </a:rPr>
              <a:t>C</a:t>
            </a:r>
          </a:p>
        </p:txBody>
      </p:sp>
      <p:sp>
        <p:nvSpPr>
          <p:cNvPr id="73768" name="Line 40"/>
          <p:cNvSpPr>
            <a:spLocks noChangeShapeType="1"/>
          </p:cNvSpPr>
          <p:nvPr/>
        </p:nvSpPr>
        <p:spPr bwMode="auto">
          <a:xfrm>
            <a:off x="5272088" y="502285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69" name="Text Box 41"/>
          <p:cNvSpPr txBox="1">
            <a:spLocks noChangeArrowheads="1"/>
          </p:cNvSpPr>
          <p:nvPr/>
        </p:nvSpPr>
        <p:spPr bwMode="auto">
          <a:xfrm>
            <a:off x="6931025" y="5927725"/>
            <a:ext cx="357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  <a:cs typeface="+mn-cs"/>
              </a:rPr>
              <a:t>D</a:t>
            </a:r>
          </a:p>
        </p:txBody>
      </p:sp>
      <p:sp>
        <p:nvSpPr>
          <p:cNvPr id="73770" name="Line 42"/>
          <p:cNvSpPr>
            <a:spLocks noChangeShapeType="1"/>
          </p:cNvSpPr>
          <p:nvPr/>
        </p:nvSpPr>
        <p:spPr bwMode="auto">
          <a:xfrm>
            <a:off x="7100888" y="502285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3771" name="Text Box 43"/>
          <p:cNvSpPr txBox="1">
            <a:spLocks noChangeArrowheads="1"/>
          </p:cNvSpPr>
          <p:nvPr/>
        </p:nvSpPr>
        <p:spPr bwMode="auto">
          <a:xfrm>
            <a:off x="8597900" y="4824413"/>
            <a:ext cx="393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>
                <a:cs typeface="+mn-cs"/>
                <a:sym typeface="Symbol" charset="0"/>
              </a:rPr>
              <a:t></a:t>
            </a:r>
            <a:endParaRPr lang="en-US" sz="2000" b="1">
              <a:cs typeface="+mn-cs"/>
            </a:endParaRPr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533400" y="4648200"/>
            <a:ext cx="762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193675" y="4267200"/>
            <a:ext cx="739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cs typeface="+mn-cs"/>
              </a:rPr>
              <a:t>head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A Nested Node Class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600200"/>
            <a:ext cx="8287879" cy="365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cs typeface="+mj-cs"/>
              </a:rPr>
              <a:t>Accessor</a:t>
            </a:r>
            <a:r>
              <a:rPr lang="en-US" dirty="0" smtClean="0">
                <a:cs typeface="+mj-cs"/>
              </a:rPr>
              <a:t> Methods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7315200" cy="427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101" y="1600200"/>
            <a:ext cx="6110923" cy="4196342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8BC69-93EB-FE4E-A66D-5628BCD68BCA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Inserting at the Head</a:t>
            </a:r>
          </a:p>
        </p:txBody>
      </p:sp>
      <p:sp>
        <p:nvSpPr>
          <p:cNvPr id="80901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600200"/>
            <a:ext cx="2514600" cy="45720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/>
              <a:buChar char="•"/>
              <a:defRPr/>
            </a:pPr>
            <a:r>
              <a:rPr lang="en-US" dirty="0" smtClean="0">
                <a:cs typeface="+mn-cs"/>
              </a:rPr>
              <a:t>Allocate new node</a:t>
            </a:r>
          </a:p>
          <a:p>
            <a:pPr eaLnBrk="1" hangingPunct="1">
              <a:buFont typeface="Arial"/>
              <a:buChar char="•"/>
              <a:defRPr/>
            </a:pPr>
            <a:r>
              <a:rPr lang="en-US" dirty="0" smtClean="0">
                <a:cs typeface="+mn-cs"/>
              </a:rPr>
              <a:t>Insert new element</a:t>
            </a:r>
          </a:p>
          <a:p>
            <a:pPr eaLnBrk="1" hangingPunct="1">
              <a:buFont typeface="Arial"/>
              <a:buChar char="•"/>
              <a:defRPr/>
            </a:pPr>
            <a:r>
              <a:rPr lang="en-US" dirty="0" smtClean="0">
                <a:cs typeface="+mn-cs"/>
              </a:rPr>
              <a:t>Have new node point to old head</a:t>
            </a:r>
          </a:p>
          <a:p>
            <a:pPr eaLnBrk="1" hangingPunct="1">
              <a:buFont typeface="Arial"/>
              <a:buChar char="•"/>
              <a:defRPr/>
            </a:pPr>
            <a:r>
              <a:rPr lang="en-US" dirty="0" smtClean="0">
                <a:cs typeface="+mn-cs"/>
              </a:rPr>
              <a:t>Update head to point to new node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068" y="1619118"/>
            <a:ext cx="6260732" cy="3943482"/>
          </a:xfrm>
          <a:prstGeom prst="rect">
            <a:avLst/>
          </a:prstGeom>
        </p:spPr>
      </p:pic>
      <p:sp>
        <p:nvSpPr>
          <p:cNvPr id="83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Inserting at the 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600200"/>
            <a:ext cx="2667000" cy="4724400"/>
          </a:xfrm>
        </p:spPr>
        <p:txBody>
          <a:bodyPr>
            <a:normAutofit fontScale="70000" lnSpcReduction="20000"/>
          </a:bodyPr>
          <a:lstStyle/>
          <a:p>
            <a:pPr marL="164592" indent="-164592">
              <a:lnSpc>
                <a:spcPct val="130000"/>
              </a:lnSpc>
              <a:buFont typeface="Arial"/>
              <a:buChar char="•"/>
              <a:defRPr/>
            </a:pPr>
            <a:r>
              <a:rPr lang="en-US" dirty="0"/>
              <a:t>Allocate a new node</a:t>
            </a:r>
          </a:p>
          <a:p>
            <a:pPr marL="164592" indent="-164592">
              <a:lnSpc>
                <a:spcPct val="130000"/>
              </a:lnSpc>
              <a:buFont typeface="Arial"/>
              <a:buChar char="•"/>
              <a:defRPr/>
            </a:pPr>
            <a:r>
              <a:rPr lang="en-US" dirty="0"/>
              <a:t>Insert new element</a:t>
            </a:r>
          </a:p>
          <a:p>
            <a:pPr marL="164592" indent="-164592">
              <a:lnSpc>
                <a:spcPct val="130000"/>
              </a:lnSpc>
              <a:buFont typeface="Arial"/>
              <a:buChar char="•"/>
              <a:defRPr/>
            </a:pPr>
            <a:r>
              <a:rPr lang="en-US" dirty="0"/>
              <a:t>Have new node point to null</a:t>
            </a:r>
          </a:p>
          <a:p>
            <a:pPr marL="164592" indent="-164592">
              <a:lnSpc>
                <a:spcPct val="130000"/>
              </a:lnSpc>
              <a:buFont typeface="Arial"/>
              <a:buChar char="•"/>
              <a:defRPr/>
            </a:pPr>
            <a:r>
              <a:rPr lang="en-US" dirty="0"/>
              <a:t>Have old last node point to new node</a:t>
            </a:r>
          </a:p>
          <a:p>
            <a:pPr marL="164592" indent="-164592">
              <a:lnSpc>
                <a:spcPct val="130000"/>
              </a:lnSpc>
              <a:buFont typeface="Arial"/>
              <a:buChar char="•"/>
              <a:defRPr/>
            </a:pPr>
            <a:r>
              <a:rPr lang="en-US" dirty="0"/>
              <a:t>Update tail to point to new node</a:t>
            </a:r>
          </a:p>
          <a:p>
            <a:pPr marL="164592" indent="-164592">
              <a:lnSpc>
                <a:spcPct val="130000"/>
              </a:lnSpc>
              <a:buNone/>
            </a:pP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7DBD51-81D5-A640-98A5-53A0A04368B2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/>
            </a:r>
            <a:br>
              <a:rPr lang="en-US" dirty="0" smtClean="0">
                <a:cs typeface="+mj-cs"/>
              </a:rPr>
            </a:br>
            <a:r>
              <a:rPr lang="en-US" dirty="0">
                <a:cs typeface="+mj-cs"/>
              </a:rPr>
              <a:t/>
            </a:r>
            <a:br>
              <a:rPr lang="en-US" dirty="0">
                <a:cs typeface="+mj-cs"/>
              </a:rPr>
            </a:br>
            <a:r>
              <a:rPr lang="en-US" dirty="0" smtClean="0">
                <a:cs typeface="+mj-cs"/>
              </a:rPr>
              <a:t>Java Methods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5000"/>
            <a:ext cx="756771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60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115"/>
          <a:stretch/>
        </p:blipFill>
        <p:spPr>
          <a:xfrm>
            <a:off x="2568417" y="1524001"/>
            <a:ext cx="6346983" cy="4434558"/>
          </a:xfrm>
          <a:prstGeom prst="rect">
            <a:avLst/>
          </a:prstGeom>
        </p:spPr>
      </p:pic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Removing at the Head</a:t>
            </a:r>
          </a:p>
        </p:txBody>
      </p:sp>
      <p:sp>
        <p:nvSpPr>
          <p:cNvPr id="86027" name="Rectangle 11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2133600" cy="43434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30000"/>
              </a:lnSpc>
              <a:buFont typeface="Arial"/>
              <a:buChar char="•"/>
              <a:defRPr/>
            </a:pPr>
            <a:r>
              <a:rPr lang="en-US" sz="2800" dirty="0" smtClean="0">
                <a:cs typeface="+mn-cs"/>
              </a:rPr>
              <a:t>Update head to point to next node in the list</a:t>
            </a:r>
          </a:p>
          <a:p>
            <a:pPr eaLnBrk="1" hangingPunct="1">
              <a:lnSpc>
                <a:spcPct val="130000"/>
              </a:lnSpc>
              <a:buFont typeface="Arial"/>
              <a:buChar char="•"/>
              <a:defRPr/>
            </a:pPr>
            <a:r>
              <a:rPr lang="en-US" sz="2800" dirty="0" smtClean="0">
                <a:cs typeface="+mn-cs"/>
              </a:rPr>
              <a:t>Allow garbage collector to reclaim the former first node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B3EECF-45F9-C847-AE8D-CA1CB9ED80CC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Java Method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7391400" cy="23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88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Removing at the Tail </a:t>
            </a:r>
          </a:p>
        </p:txBody>
      </p:sp>
      <p:sp>
        <p:nvSpPr>
          <p:cNvPr id="911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696200" cy="2209800"/>
          </a:xfrm>
        </p:spPr>
        <p:txBody>
          <a:bodyPr>
            <a:normAutofit/>
          </a:bodyPr>
          <a:lstStyle/>
          <a:p>
            <a:pPr eaLnBrk="1" hangingPunct="1">
              <a:buFont typeface="Arial"/>
              <a:buChar char="•"/>
              <a:defRPr/>
            </a:pPr>
            <a:r>
              <a:rPr lang="en-US" sz="2800" dirty="0" smtClean="0">
                <a:cs typeface="+mn-cs"/>
              </a:rPr>
              <a:t>Removing at the tail of a singly linked list is not efficient!</a:t>
            </a:r>
          </a:p>
          <a:p>
            <a:pPr eaLnBrk="1" hangingPunct="1">
              <a:buFont typeface="Arial"/>
              <a:buChar char="•"/>
              <a:defRPr/>
            </a:pPr>
            <a:r>
              <a:rPr lang="en-US" sz="2800" dirty="0" smtClean="0">
                <a:cs typeface="+mn-cs"/>
              </a:rPr>
              <a:t>There is no constant-time way to update the tail to point to the previous node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7DD964-6A90-F944-BF58-C277EA93D231}" type="slidenum">
              <a:rPr lang="en-US"/>
              <a:pPr>
                <a:defRPr/>
              </a:pPr>
              <a:t>10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267200"/>
            <a:ext cx="8610600" cy="1321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Circularly 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47AD7A-B800-AC4D-8A41-722672342C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92225"/>
            <a:ext cx="6510081" cy="20773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81" y="3694196"/>
            <a:ext cx="7596188" cy="243990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 bwMode="auto">
          <a:xfrm flipV="1">
            <a:off x="457200" y="3657600"/>
            <a:ext cx="8458200" cy="365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47756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Optimization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Singly Linked Lists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47AD7A-B800-AC4D-8A41-722672342C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828800"/>
            <a:ext cx="8210550" cy="365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58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3944</TotalTime>
  <Words>257</Words>
  <Application>Microsoft Office PowerPoint</Application>
  <PresentationFormat>On-screen Show (4:3)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Symbol</vt:lpstr>
      <vt:lpstr>Tahoma</vt:lpstr>
      <vt:lpstr>Times New Roman</vt:lpstr>
      <vt:lpstr>Wingdings</vt:lpstr>
      <vt:lpstr>Blueprint</vt:lpstr>
      <vt:lpstr>Singly Linked Lists</vt:lpstr>
      <vt:lpstr>Singly Linked List</vt:lpstr>
      <vt:lpstr>A Nested Node Class</vt:lpstr>
      <vt:lpstr>Accessor Methods</vt:lpstr>
      <vt:lpstr>Inserting at the Head</vt:lpstr>
      <vt:lpstr>Inserting at the Tail</vt:lpstr>
      <vt:lpstr>  Java Methods</vt:lpstr>
      <vt:lpstr>Removing at the Head</vt:lpstr>
      <vt:lpstr>Java Method</vt:lpstr>
      <vt:lpstr>Removing at the Tail </vt:lpstr>
      <vt:lpstr>Circularly Linked Lists</vt:lpstr>
      <vt:lpstr>Additional Optimization </vt:lpstr>
    </vt:vector>
  </TitlesOfParts>
  <Company>Brown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Houssein Dhayné</cp:lastModifiedBy>
  <cp:revision>418</cp:revision>
  <cp:lastPrinted>2014-03-19T01:33:26Z</cp:lastPrinted>
  <dcterms:created xsi:type="dcterms:W3CDTF">2002-01-21T02:22:10Z</dcterms:created>
  <dcterms:modified xsi:type="dcterms:W3CDTF">2021-10-17T15:58:18Z</dcterms:modified>
</cp:coreProperties>
</file>