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256" r:id="rId2"/>
    <p:sldId id="284" r:id="rId3"/>
    <p:sldId id="312" r:id="rId4"/>
    <p:sldId id="313" r:id="rId5"/>
    <p:sldId id="314" r:id="rId6"/>
    <p:sldId id="308" r:id="rId7"/>
    <p:sldId id="311" r:id="rId8"/>
    <p:sldId id="315" r:id="rId9"/>
    <p:sldId id="300" r:id="rId10"/>
    <p:sldId id="316" r:id="rId11"/>
    <p:sldId id="302" r:id="rId12"/>
    <p:sldId id="317" r:id="rId13"/>
    <p:sldId id="318" r:id="rId14"/>
    <p:sldId id="319" r:id="rId15"/>
    <p:sldId id="320" r:id="rId16"/>
  </p:sldIdLst>
  <p:sldSz cx="9144000" cy="6858000" type="screen4x3"/>
  <p:notesSz cx="7302500" cy="9588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674F6"/>
    <a:srgbClr val="6289F8"/>
    <a:srgbClr val="8097F8"/>
    <a:srgbClr val="2C61F6"/>
    <a:srgbClr val="F8F0D0"/>
    <a:srgbClr val="F2E4AA"/>
    <a:srgbClr val="8DA8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9.xml"/><Relationship Id="rId2" Type="http://schemas.openxmlformats.org/officeDocument/2006/relationships/slide" Target="slides/slide3.xml"/><Relationship Id="rId1" Type="http://schemas.openxmlformats.org/officeDocument/2006/relationships/slide" Target="slides/slide2.xml"/><Relationship Id="rId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>
              <a:defRPr sz="13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Vectors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6F7136FB-31BA-CB4A-87AA-32DC01BCFB65}" type="datetime8">
              <a:rPr lang="en-US"/>
              <a:pPr>
                <a:defRPr/>
              </a:pPr>
              <a:t>10/17/2021 1:21 PM</a:t>
            </a:fld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>
              <a:defRPr sz="13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5FE6B67F-00B3-B149-874A-00497CB71D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676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>
              <a:defRPr sz="13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Vectors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FBD3F05B-BFAD-2148-B44F-1714043EEFDE}" type="datetime8">
              <a:rPr lang="en-US"/>
              <a:pPr>
                <a:defRPr/>
              </a:pPr>
              <a:t>10/17/2021 1:21 PM</a:t>
            </a:fld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>
              <a:defRPr sz="13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3AB91E9F-D7EE-9A4D-ACD8-4A8E862AC8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6089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300"/>
              <a:t>Vectors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390EDE6-56C7-CB48-87F9-FBBCCB6EEE5A}" type="datetime8">
              <a:rPr lang="en-US" sz="1300"/>
              <a:pPr eaLnBrk="1" hangingPunct="1"/>
              <a:t>10/17/2021 1:21 PM</a:t>
            </a:fld>
            <a:endParaRPr lang="en-US" sz="1300"/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03313437-112A-0242-93B8-76B11281F174}" type="slidenum">
              <a:rPr lang="en-US" sz="1300"/>
              <a:pPr eaLnBrk="1" hangingPunct="1"/>
              <a:t>1</a:t>
            </a:fld>
            <a:endParaRPr lang="en-US" sz="1300"/>
          </a:p>
        </p:txBody>
      </p:sp>
      <p:sp>
        <p:nvSpPr>
          <p:cNvPr id="81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81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9" name="Date Placeholder 7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70" name="Slide Number Placeholder 7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45FF4-3F27-514E-98CB-674D4A2BD0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1" name="Footer Placeholder 7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Arrays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81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Arrays</a:t>
            </a: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621E6-FCEB-7C4E-BF29-3B284E7491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48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9624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600200"/>
            <a:ext cx="39624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Arrays</a:t>
            </a: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C68DF-F770-834A-BF12-D11772B28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17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 w 43195"/>
                  <a:gd name="T1" fmla="*/ 0 h 43200"/>
                  <a:gd name="T2" fmla="*/ 0 w 43195"/>
                  <a:gd name="T3" fmla="*/ 1 h 43200"/>
                  <a:gd name="T4" fmla="*/ 1 w 43195"/>
                  <a:gd name="T5" fmla="*/ 1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924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6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Arrays</a:t>
            </a:r>
            <a:endParaRPr lang="en-US"/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B3DA4AD3-EC00-9240-B975-D0E14B21F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3" r:id="rId2"/>
    <p:sldLayoutId id="2147483664" r:id="rId3"/>
  </p:sldLayoutIdLst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charset="0"/>
        <a:buChar char="q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charset="0"/>
        <a:buChar char="n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charset="0"/>
        <a:buChar char="w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0"/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Arrays</a:t>
            </a:r>
            <a:endParaRPr lang="en-US" sz="1400"/>
          </a:p>
        </p:txBody>
      </p:sp>
      <p:sp>
        <p:nvSpPr>
          <p:cNvPr id="7170" name="Rectangle 71"/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42DB98D5-CAC9-9C42-8985-CEE899BACA0D}" type="slidenum">
              <a:rPr lang="en-US" sz="1400"/>
              <a:pPr eaLnBrk="1" hangingPunct="1"/>
              <a:t>1</a:t>
            </a:fld>
            <a:endParaRPr lang="en-US" sz="140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0668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Tahoma" charset="0"/>
              </a:rPr>
              <a:t>Arrays</a:t>
            </a:r>
            <a:endParaRPr lang="en-US" dirty="0">
              <a:latin typeface="Tahoma" charset="0"/>
            </a:endParaRPr>
          </a:p>
        </p:txBody>
      </p:sp>
      <p:sp>
        <p:nvSpPr>
          <p:cNvPr id="7172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057400"/>
            <a:ext cx="2228088" cy="3123488"/>
          </a:xfrm>
          <a:prstGeom prst="rect">
            <a:avLst/>
          </a:prstGeom>
        </p:spPr>
      </p:pic>
      <p:sp>
        <p:nvSpPr>
          <p:cNvPr id="7" name="Subtitle 1"/>
          <p:cNvSpPr>
            <a:spLocks noGrp="1"/>
          </p:cNvSpPr>
          <p:nvPr>
            <p:ph type="subTitle" idx="1"/>
          </p:nvPr>
        </p:nvSpPr>
        <p:spPr>
          <a:xfrm>
            <a:off x="914400" y="381000"/>
            <a:ext cx="6629400" cy="9906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Presentation for use with the textbook </a:t>
            </a:r>
            <a:r>
              <a:rPr lang="en-US" sz="1800" dirty="0" smtClean="0">
                <a:solidFill>
                  <a:schemeClr val="tx2"/>
                </a:solidFill>
              </a:rPr>
              <a:t>Data Structures and Algorithms in Java, 6</a:t>
            </a:r>
            <a:r>
              <a:rPr lang="en-US" sz="1800" baseline="30000" dirty="0" smtClean="0">
                <a:solidFill>
                  <a:schemeClr val="tx2"/>
                </a:solidFill>
              </a:rPr>
              <a:t>th</a:t>
            </a:r>
            <a:r>
              <a:rPr lang="en-US" sz="1800" dirty="0" smtClean="0">
                <a:solidFill>
                  <a:schemeClr val="tx2"/>
                </a:solidFill>
              </a:rPr>
              <a:t> edition</a:t>
            </a:r>
            <a:r>
              <a:rPr lang="en-US" sz="1800" dirty="0" smtClean="0"/>
              <a:t>, by M. T. Goodrich, R. Tamassia, and M. H. Goldwasser, Wiley, 2014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Arrays</a:t>
            </a:r>
            <a:endParaRPr lang="en-US" sz="1400"/>
          </a:p>
        </p:txBody>
      </p:sp>
      <p:sp>
        <p:nvSpPr>
          <p:cNvPr id="921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49A9F579-00BF-2B4E-9163-685D08097BE3}" type="slidenum">
              <a:rPr lang="en-US" sz="1400"/>
              <a:pPr eaLnBrk="1" hangingPunct="1"/>
              <a:t>2</a:t>
            </a:fld>
            <a:endParaRPr lang="en-US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Tahoma" charset="0"/>
              </a:rPr>
              <a:t>Array Definition</a:t>
            </a:r>
            <a:endParaRPr lang="en-US" dirty="0">
              <a:latin typeface="Tahoma" charset="0"/>
            </a:endParaRPr>
          </a:p>
        </p:txBody>
      </p:sp>
      <p:sp>
        <p:nvSpPr>
          <p:cNvPr id="922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524000"/>
            <a:ext cx="7543800" cy="3581400"/>
          </a:xfrm>
        </p:spPr>
        <p:txBody>
          <a:bodyPr/>
          <a:lstStyle/>
          <a:p>
            <a:pPr eaLnBrk="1" hangingPunct="1"/>
            <a:r>
              <a:rPr lang="en-US" dirty="0" smtClean="0"/>
              <a:t>An </a:t>
            </a:r>
            <a:r>
              <a:rPr lang="en-US" b="1" i="1" dirty="0" smtClean="0"/>
              <a:t>array</a:t>
            </a:r>
            <a:r>
              <a:rPr lang="en-US" dirty="0" smtClean="0"/>
              <a:t> is </a:t>
            </a:r>
            <a:r>
              <a:rPr lang="en-US" dirty="0"/>
              <a:t>a sequenced collection of variables all of the same type. Each variable, or </a:t>
            </a:r>
            <a:r>
              <a:rPr lang="en-US" b="1" i="1" dirty="0"/>
              <a:t>cell</a:t>
            </a:r>
            <a:r>
              <a:rPr lang="en-US" dirty="0"/>
              <a:t>, in an array has an </a:t>
            </a:r>
            <a:r>
              <a:rPr lang="en-US" b="1" i="1" dirty="0"/>
              <a:t>index</a:t>
            </a:r>
            <a:r>
              <a:rPr lang="en-US" dirty="0"/>
              <a:t>, which uniquely refers to the value stored in that cell. The cells of an </a:t>
            </a:r>
            <a:r>
              <a:rPr lang="en-US" dirty="0" smtClean="0"/>
              <a:t>array, A, </a:t>
            </a:r>
            <a:r>
              <a:rPr lang="en-US" dirty="0"/>
              <a:t>are numbered 0, 1, 2, and so on. </a:t>
            </a:r>
          </a:p>
          <a:p>
            <a:pPr eaLnBrk="1" hangingPunct="1"/>
            <a:r>
              <a:rPr lang="en-US" dirty="0"/>
              <a:t>Each value stored in an array </a:t>
            </a:r>
            <a:r>
              <a:rPr lang="en-US" dirty="0" smtClean="0"/>
              <a:t>is often </a:t>
            </a:r>
            <a:r>
              <a:rPr lang="en-US" dirty="0"/>
              <a:t>called an </a:t>
            </a:r>
            <a:r>
              <a:rPr lang="en-US" b="1" i="1" dirty="0"/>
              <a:t>element </a:t>
            </a:r>
            <a:r>
              <a:rPr lang="en-US" dirty="0"/>
              <a:t>of that array. </a:t>
            </a:r>
          </a:p>
          <a:p>
            <a:pPr eaLnBrk="1" hangingPunct="1"/>
            <a:endParaRPr lang="en-US" dirty="0">
              <a:latin typeface="Times New Roman" charset="0"/>
            </a:endParaRPr>
          </a:p>
        </p:txBody>
      </p:sp>
      <p:sp>
        <p:nvSpPr>
          <p:cNvPr id="9221" name="Rectangle 58"/>
          <p:cNvSpPr>
            <a:spLocks noChangeArrowheads="1"/>
          </p:cNvSpPr>
          <p:nvPr/>
        </p:nvSpPr>
        <p:spPr bwMode="auto">
          <a:xfrm>
            <a:off x="1524000" y="5334000"/>
            <a:ext cx="296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A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9222" name="Rectangle 59"/>
          <p:cNvSpPr>
            <a:spLocks noChangeArrowheads="1"/>
          </p:cNvSpPr>
          <p:nvPr/>
        </p:nvSpPr>
        <p:spPr bwMode="auto">
          <a:xfrm>
            <a:off x="2057400" y="57229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0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9223" name="Rectangle 60"/>
          <p:cNvSpPr>
            <a:spLocks noChangeArrowheads="1"/>
          </p:cNvSpPr>
          <p:nvPr/>
        </p:nvSpPr>
        <p:spPr bwMode="auto">
          <a:xfrm>
            <a:off x="2362200" y="57229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1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9224" name="Rectangle 61"/>
          <p:cNvSpPr>
            <a:spLocks noChangeArrowheads="1"/>
          </p:cNvSpPr>
          <p:nvPr/>
        </p:nvSpPr>
        <p:spPr bwMode="auto">
          <a:xfrm>
            <a:off x="2667000" y="57229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2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9225" name="Rectangle 65"/>
          <p:cNvSpPr>
            <a:spLocks noChangeArrowheads="1"/>
          </p:cNvSpPr>
          <p:nvPr/>
        </p:nvSpPr>
        <p:spPr bwMode="auto">
          <a:xfrm>
            <a:off x="5334000" y="5722938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n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9226" name="Rectangle 82"/>
          <p:cNvSpPr>
            <a:spLocks noChangeArrowheads="1"/>
          </p:cNvSpPr>
          <p:nvPr/>
        </p:nvSpPr>
        <p:spPr bwMode="auto">
          <a:xfrm>
            <a:off x="19812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227" name="Rectangle 83"/>
          <p:cNvSpPr>
            <a:spLocks noChangeArrowheads="1"/>
          </p:cNvSpPr>
          <p:nvPr/>
        </p:nvSpPr>
        <p:spPr bwMode="auto">
          <a:xfrm>
            <a:off x="22860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Rectangle 84"/>
          <p:cNvSpPr>
            <a:spLocks noChangeArrowheads="1"/>
          </p:cNvSpPr>
          <p:nvPr/>
        </p:nvSpPr>
        <p:spPr bwMode="auto">
          <a:xfrm>
            <a:off x="25908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Rectangle 85"/>
          <p:cNvSpPr>
            <a:spLocks noChangeArrowheads="1"/>
          </p:cNvSpPr>
          <p:nvPr/>
        </p:nvSpPr>
        <p:spPr bwMode="auto">
          <a:xfrm>
            <a:off x="28956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Rectangle 86"/>
          <p:cNvSpPr>
            <a:spLocks noChangeArrowheads="1"/>
          </p:cNvSpPr>
          <p:nvPr/>
        </p:nvSpPr>
        <p:spPr bwMode="auto">
          <a:xfrm>
            <a:off x="32004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Rectangle 87"/>
          <p:cNvSpPr>
            <a:spLocks noChangeArrowheads="1"/>
          </p:cNvSpPr>
          <p:nvPr/>
        </p:nvSpPr>
        <p:spPr bwMode="auto">
          <a:xfrm>
            <a:off x="35052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2" name="Rectangle 88"/>
          <p:cNvSpPr>
            <a:spLocks noChangeArrowheads="1"/>
          </p:cNvSpPr>
          <p:nvPr/>
        </p:nvSpPr>
        <p:spPr bwMode="auto">
          <a:xfrm>
            <a:off x="3810000" y="5410200"/>
            <a:ext cx="304800" cy="304800"/>
          </a:xfrm>
          <a:prstGeom prst="rect">
            <a:avLst/>
          </a:prstGeom>
          <a:solidFill>
            <a:schemeClr val="bg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233" name="Rectangle 89"/>
          <p:cNvSpPr>
            <a:spLocks noChangeArrowheads="1"/>
          </p:cNvSpPr>
          <p:nvPr/>
        </p:nvSpPr>
        <p:spPr bwMode="auto">
          <a:xfrm>
            <a:off x="41148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Rectangle 90"/>
          <p:cNvSpPr>
            <a:spLocks noChangeArrowheads="1"/>
          </p:cNvSpPr>
          <p:nvPr/>
        </p:nvSpPr>
        <p:spPr bwMode="auto">
          <a:xfrm>
            <a:off x="44196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5" name="Rectangle 91"/>
          <p:cNvSpPr>
            <a:spLocks noChangeArrowheads="1"/>
          </p:cNvSpPr>
          <p:nvPr/>
        </p:nvSpPr>
        <p:spPr bwMode="auto">
          <a:xfrm>
            <a:off x="47244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6" name="Rectangle 92"/>
          <p:cNvSpPr>
            <a:spLocks noChangeArrowheads="1"/>
          </p:cNvSpPr>
          <p:nvPr/>
        </p:nvSpPr>
        <p:spPr bwMode="auto">
          <a:xfrm>
            <a:off x="50292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7" name="Rectangle 93"/>
          <p:cNvSpPr>
            <a:spLocks noChangeArrowheads="1"/>
          </p:cNvSpPr>
          <p:nvPr/>
        </p:nvSpPr>
        <p:spPr bwMode="auto">
          <a:xfrm>
            <a:off x="53340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Rectangle 94"/>
          <p:cNvSpPr>
            <a:spLocks noChangeArrowheads="1"/>
          </p:cNvSpPr>
          <p:nvPr/>
        </p:nvSpPr>
        <p:spPr bwMode="auto">
          <a:xfrm>
            <a:off x="56388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9" name="Rectangle 95"/>
          <p:cNvSpPr>
            <a:spLocks noChangeArrowheads="1"/>
          </p:cNvSpPr>
          <p:nvPr/>
        </p:nvSpPr>
        <p:spPr bwMode="auto">
          <a:xfrm>
            <a:off x="59436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40" name="Rectangle 96"/>
          <p:cNvSpPr>
            <a:spLocks noChangeArrowheads="1"/>
          </p:cNvSpPr>
          <p:nvPr/>
        </p:nvSpPr>
        <p:spPr bwMode="auto">
          <a:xfrm>
            <a:off x="62484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41" name="Rectangle 97"/>
          <p:cNvSpPr>
            <a:spLocks noChangeArrowheads="1"/>
          </p:cNvSpPr>
          <p:nvPr/>
        </p:nvSpPr>
        <p:spPr bwMode="auto">
          <a:xfrm>
            <a:off x="65532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Rectangle 98"/>
          <p:cNvSpPr>
            <a:spLocks noChangeArrowheads="1"/>
          </p:cNvSpPr>
          <p:nvPr/>
        </p:nvSpPr>
        <p:spPr bwMode="auto">
          <a:xfrm>
            <a:off x="68580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43" name="Rectangle 130"/>
          <p:cNvSpPr>
            <a:spLocks noChangeArrowheads="1"/>
          </p:cNvSpPr>
          <p:nvPr/>
        </p:nvSpPr>
        <p:spPr bwMode="auto">
          <a:xfrm>
            <a:off x="3810000" y="5730875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i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9244" name="Date Placeholder 28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Arrays</a:t>
            </a:r>
            <a:endParaRPr lang="en-US" sz="1400"/>
          </a:p>
        </p:txBody>
      </p:sp>
      <p:sp>
        <p:nvSpPr>
          <p:cNvPr id="921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49A9F579-00BF-2B4E-9163-685D08097BE3}" type="slidenum">
              <a:rPr lang="en-US" sz="1400"/>
              <a:pPr eaLnBrk="1" hangingPunct="1"/>
              <a:t>3</a:t>
            </a:fld>
            <a:endParaRPr lang="en-US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Tahoma" charset="0"/>
              </a:rPr>
              <a:t>Array Length and Capacity</a:t>
            </a:r>
            <a:endParaRPr lang="en-US" dirty="0">
              <a:latin typeface="Tahoma" charset="0"/>
            </a:endParaRPr>
          </a:p>
        </p:txBody>
      </p:sp>
      <p:sp>
        <p:nvSpPr>
          <p:cNvPr id="922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543800" cy="3352800"/>
          </a:xfrm>
        </p:spPr>
        <p:txBody>
          <a:bodyPr/>
          <a:lstStyle/>
          <a:p>
            <a:pPr eaLnBrk="1" hangingPunct="1"/>
            <a:r>
              <a:rPr lang="en-US" sz="2400" dirty="0" smtClean="0"/>
              <a:t>Since </a:t>
            </a:r>
            <a:r>
              <a:rPr lang="en-US" sz="2400" dirty="0"/>
              <a:t>the length of an array determines the maximum number of things that can be stored in the array, we will sometimes refer to the length of an array as its </a:t>
            </a:r>
            <a:r>
              <a:rPr lang="en-US" sz="2400" b="1" i="1" dirty="0"/>
              <a:t>capacity</a:t>
            </a:r>
            <a:r>
              <a:rPr lang="en-US" sz="2400" dirty="0"/>
              <a:t>. </a:t>
            </a:r>
            <a:endParaRPr lang="en-US" sz="2400" dirty="0" smtClean="0"/>
          </a:p>
          <a:p>
            <a:pPr eaLnBrk="1" hangingPunct="1"/>
            <a:r>
              <a:rPr lang="en-US" sz="2400" dirty="0" smtClean="0"/>
              <a:t>In </a:t>
            </a:r>
            <a:r>
              <a:rPr lang="en-US" sz="2400" dirty="0"/>
              <a:t>Java, the length of an array named </a:t>
            </a:r>
            <a:r>
              <a:rPr lang="en-US" sz="2400" i="1" dirty="0"/>
              <a:t>a </a:t>
            </a:r>
            <a:r>
              <a:rPr lang="en-US" sz="2400" dirty="0"/>
              <a:t>can be accessed using the syntax </a:t>
            </a:r>
            <a:r>
              <a:rPr lang="en-US" sz="2400" i="1" dirty="0" err="1"/>
              <a:t>a</a:t>
            </a:r>
            <a:r>
              <a:rPr lang="en-US" sz="2400" dirty="0" err="1"/>
              <a:t>.length</a:t>
            </a:r>
            <a:r>
              <a:rPr lang="en-US" sz="2400" dirty="0"/>
              <a:t>. Thus, the cells of an </a:t>
            </a:r>
            <a:r>
              <a:rPr lang="en-US" sz="2400" dirty="0" smtClean="0"/>
              <a:t>array, </a:t>
            </a:r>
            <a:r>
              <a:rPr lang="en-US" sz="2400" i="1" dirty="0" smtClean="0"/>
              <a:t>a</a:t>
            </a:r>
            <a:r>
              <a:rPr lang="en-US" sz="2400" dirty="0" smtClean="0"/>
              <a:t>,</a:t>
            </a:r>
            <a:r>
              <a:rPr lang="en-US" sz="2400" i="1" dirty="0" smtClean="0"/>
              <a:t> </a:t>
            </a:r>
            <a:r>
              <a:rPr lang="en-US" sz="2400" dirty="0"/>
              <a:t>are numbered 0, 1, 2, and so on, up through </a:t>
            </a:r>
            <a:r>
              <a:rPr lang="en-US" sz="2400" i="1" dirty="0"/>
              <a:t>a</a:t>
            </a:r>
            <a:r>
              <a:rPr lang="en-US" sz="2400" dirty="0"/>
              <a:t>.length−1, and the cell with index </a:t>
            </a:r>
            <a:r>
              <a:rPr lang="en-US" sz="2400" i="1" dirty="0"/>
              <a:t>k </a:t>
            </a:r>
            <a:r>
              <a:rPr lang="en-US" sz="2400" dirty="0"/>
              <a:t>can be accessed with syntax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/>
              <a:t>k</a:t>
            </a:r>
            <a:r>
              <a:rPr lang="en-US" sz="2400" dirty="0"/>
              <a:t>]. </a:t>
            </a:r>
          </a:p>
          <a:p>
            <a:pPr eaLnBrk="1" hangingPunct="1"/>
            <a:endParaRPr lang="en-US" sz="2400" dirty="0">
              <a:latin typeface="Times New Roman" charset="0"/>
            </a:endParaRPr>
          </a:p>
        </p:txBody>
      </p:sp>
      <p:sp>
        <p:nvSpPr>
          <p:cNvPr id="9221" name="Rectangle 58"/>
          <p:cNvSpPr>
            <a:spLocks noChangeArrowheads="1"/>
          </p:cNvSpPr>
          <p:nvPr/>
        </p:nvSpPr>
        <p:spPr bwMode="auto">
          <a:xfrm>
            <a:off x="1524000" y="5334000"/>
            <a:ext cx="2968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accent2"/>
                </a:solidFill>
                <a:latin typeface="Times New Roman" charset="0"/>
              </a:rPr>
              <a:t>a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9222" name="Rectangle 59"/>
          <p:cNvSpPr>
            <a:spLocks noChangeArrowheads="1"/>
          </p:cNvSpPr>
          <p:nvPr/>
        </p:nvSpPr>
        <p:spPr bwMode="auto">
          <a:xfrm>
            <a:off x="2057400" y="57229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0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9223" name="Rectangle 60"/>
          <p:cNvSpPr>
            <a:spLocks noChangeArrowheads="1"/>
          </p:cNvSpPr>
          <p:nvPr/>
        </p:nvSpPr>
        <p:spPr bwMode="auto">
          <a:xfrm>
            <a:off x="2362200" y="57229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1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9224" name="Rectangle 61"/>
          <p:cNvSpPr>
            <a:spLocks noChangeArrowheads="1"/>
          </p:cNvSpPr>
          <p:nvPr/>
        </p:nvSpPr>
        <p:spPr bwMode="auto">
          <a:xfrm>
            <a:off x="2667000" y="57229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2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9225" name="Rectangle 65"/>
          <p:cNvSpPr>
            <a:spLocks noChangeArrowheads="1"/>
          </p:cNvSpPr>
          <p:nvPr/>
        </p:nvSpPr>
        <p:spPr bwMode="auto">
          <a:xfrm>
            <a:off x="5334000" y="5722938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n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9226" name="Rectangle 82"/>
          <p:cNvSpPr>
            <a:spLocks noChangeArrowheads="1"/>
          </p:cNvSpPr>
          <p:nvPr/>
        </p:nvSpPr>
        <p:spPr bwMode="auto">
          <a:xfrm>
            <a:off x="19812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227" name="Rectangle 83"/>
          <p:cNvSpPr>
            <a:spLocks noChangeArrowheads="1"/>
          </p:cNvSpPr>
          <p:nvPr/>
        </p:nvSpPr>
        <p:spPr bwMode="auto">
          <a:xfrm>
            <a:off x="22860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Rectangle 84"/>
          <p:cNvSpPr>
            <a:spLocks noChangeArrowheads="1"/>
          </p:cNvSpPr>
          <p:nvPr/>
        </p:nvSpPr>
        <p:spPr bwMode="auto">
          <a:xfrm>
            <a:off x="25908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Rectangle 85"/>
          <p:cNvSpPr>
            <a:spLocks noChangeArrowheads="1"/>
          </p:cNvSpPr>
          <p:nvPr/>
        </p:nvSpPr>
        <p:spPr bwMode="auto">
          <a:xfrm>
            <a:off x="28956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Rectangle 86"/>
          <p:cNvSpPr>
            <a:spLocks noChangeArrowheads="1"/>
          </p:cNvSpPr>
          <p:nvPr/>
        </p:nvSpPr>
        <p:spPr bwMode="auto">
          <a:xfrm>
            <a:off x="32004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Rectangle 87"/>
          <p:cNvSpPr>
            <a:spLocks noChangeArrowheads="1"/>
          </p:cNvSpPr>
          <p:nvPr/>
        </p:nvSpPr>
        <p:spPr bwMode="auto">
          <a:xfrm>
            <a:off x="35052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2" name="Rectangle 88"/>
          <p:cNvSpPr>
            <a:spLocks noChangeArrowheads="1"/>
          </p:cNvSpPr>
          <p:nvPr/>
        </p:nvSpPr>
        <p:spPr bwMode="auto">
          <a:xfrm>
            <a:off x="3810000" y="5410200"/>
            <a:ext cx="304800" cy="304800"/>
          </a:xfrm>
          <a:prstGeom prst="rect">
            <a:avLst/>
          </a:prstGeom>
          <a:solidFill>
            <a:schemeClr val="bg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233" name="Rectangle 89"/>
          <p:cNvSpPr>
            <a:spLocks noChangeArrowheads="1"/>
          </p:cNvSpPr>
          <p:nvPr/>
        </p:nvSpPr>
        <p:spPr bwMode="auto">
          <a:xfrm>
            <a:off x="41148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Rectangle 90"/>
          <p:cNvSpPr>
            <a:spLocks noChangeArrowheads="1"/>
          </p:cNvSpPr>
          <p:nvPr/>
        </p:nvSpPr>
        <p:spPr bwMode="auto">
          <a:xfrm>
            <a:off x="44196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5" name="Rectangle 91"/>
          <p:cNvSpPr>
            <a:spLocks noChangeArrowheads="1"/>
          </p:cNvSpPr>
          <p:nvPr/>
        </p:nvSpPr>
        <p:spPr bwMode="auto">
          <a:xfrm>
            <a:off x="47244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6" name="Rectangle 92"/>
          <p:cNvSpPr>
            <a:spLocks noChangeArrowheads="1"/>
          </p:cNvSpPr>
          <p:nvPr/>
        </p:nvSpPr>
        <p:spPr bwMode="auto">
          <a:xfrm>
            <a:off x="50292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7" name="Rectangle 93"/>
          <p:cNvSpPr>
            <a:spLocks noChangeArrowheads="1"/>
          </p:cNvSpPr>
          <p:nvPr/>
        </p:nvSpPr>
        <p:spPr bwMode="auto">
          <a:xfrm>
            <a:off x="53340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Rectangle 94"/>
          <p:cNvSpPr>
            <a:spLocks noChangeArrowheads="1"/>
          </p:cNvSpPr>
          <p:nvPr/>
        </p:nvSpPr>
        <p:spPr bwMode="auto">
          <a:xfrm>
            <a:off x="56388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9" name="Rectangle 95"/>
          <p:cNvSpPr>
            <a:spLocks noChangeArrowheads="1"/>
          </p:cNvSpPr>
          <p:nvPr/>
        </p:nvSpPr>
        <p:spPr bwMode="auto">
          <a:xfrm>
            <a:off x="59436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40" name="Rectangle 96"/>
          <p:cNvSpPr>
            <a:spLocks noChangeArrowheads="1"/>
          </p:cNvSpPr>
          <p:nvPr/>
        </p:nvSpPr>
        <p:spPr bwMode="auto">
          <a:xfrm>
            <a:off x="62484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41" name="Rectangle 97"/>
          <p:cNvSpPr>
            <a:spLocks noChangeArrowheads="1"/>
          </p:cNvSpPr>
          <p:nvPr/>
        </p:nvSpPr>
        <p:spPr bwMode="auto">
          <a:xfrm>
            <a:off x="65532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Rectangle 98"/>
          <p:cNvSpPr>
            <a:spLocks noChangeArrowheads="1"/>
          </p:cNvSpPr>
          <p:nvPr/>
        </p:nvSpPr>
        <p:spPr bwMode="auto">
          <a:xfrm>
            <a:off x="68580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43" name="Rectangle 130"/>
          <p:cNvSpPr>
            <a:spLocks noChangeArrowheads="1"/>
          </p:cNvSpPr>
          <p:nvPr/>
        </p:nvSpPr>
        <p:spPr bwMode="auto">
          <a:xfrm>
            <a:off x="3810000" y="5730875"/>
            <a:ext cx="2825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accent2"/>
                </a:solidFill>
                <a:latin typeface="Times New Roman" charset="0"/>
              </a:rPr>
              <a:t>k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9244" name="Date Placeholder 28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331707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Declaring Arrays (first way)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first way to create an array is to use an assignment to a literal form when initially declaring the array, using a syntax as: 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The </a:t>
            </a:r>
            <a:r>
              <a:rPr lang="en-US" sz="2400" i="1" dirty="0" err="1"/>
              <a:t>elementType</a:t>
            </a:r>
            <a:r>
              <a:rPr lang="en-US" sz="2400" i="1" dirty="0"/>
              <a:t> </a:t>
            </a:r>
            <a:r>
              <a:rPr lang="en-US" sz="2400" dirty="0"/>
              <a:t>can be any Java base type or class name, and </a:t>
            </a:r>
            <a:r>
              <a:rPr lang="en-US" sz="2400" i="1" dirty="0" err="1"/>
              <a:t>arrayName</a:t>
            </a:r>
            <a:r>
              <a:rPr lang="en-US" sz="2400" i="1" dirty="0"/>
              <a:t> </a:t>
            </a:r>
            <a:r>
              <a:rPr lang="en-US" sz="2400" dirty="0"/>
              <a:t>can be any valid Java identifier. The initial values must be of the same type as the array. </a:t>
            </a:r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Arrays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621E6-FCEB-7C4E-BF29-3B284E7491F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971800"/>
            <a:ext cx="7543800" cy="51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15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Declaring Arrays (second way)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924800" cy="4495800"/>
          </a:xfrm>
        </p:spPr>
        <p:txBody>
          <a:bodyPr/>
          <a:lstStyle/>
          <a:p>
            <a:r>
              <a:rPr lang="en-US" sz="2800" dirty="0"/>
              <a:t>The second way to create an array is to use the </a:t>
            </a:r>
            <a:r>
              <a:rPr lang="en-US" sz="2800" b="1" dirty="0"/>
              <a:t>new</a:t>
            </a:r>
            <a:r>
              <a:rPr lang="en-US" sz="2800" dirty="0"/>
              <a:t> operator. </a:t>
            </a:r>
          </a:p>
          <a:p>
            <a:pPr lvl="1"/>
            <a:r>
              <a:rPr lang="en-US" sz="2400" dirty="0" smtClean="0"/>
              <a:t>However</a:t>
            </a:r>
            <a:r>
              <a:rPr lang="en-US" sz="2400" dirty="0"/>
              <a:t>, because an array is not an instance of a class, we do not use a typical </a:t>
            </a:r>
            <a:r>
              <a:rPr lang="en-US" sz="2400" dirty="0" smtClean="0"/>
              <a:t>constructor. </a:t>
            </a:r>
            <a:r>
              <a:rPr lang="en-US" sz="2400" dirty="0"/>
              <a:t>Instead we use the syntax: </a:t>
            </a:r>
            <a:endParaRPr lang="en-US" sz="2400" dirty="0" smtClean="0"/>
          </a:p>
          <a:p>
            <a:pPr marL="0" indent="0">
              <a:buNone/>
            </a:pPr>
            <a:r>
              <a:rPr lang="en-US" sz="2800" b="1" dirty="0" smtClean="0"/>
              <a:t>		new </a:t>
            </a:r>
            <a:r>
              <a:rPr lang="en-US" sz="2800" i="1" dirty="0" err="1"/>
              <a:t>elementType</a:t>
            </a:r>
            <a:r>
              <a:rPr lang="en-US" sz="2800" dirty="0"/>
              <a:t>[</a:t>
            </a:r>
            <a:r>
              <a:rPr lang="en-US" sz="2800" i="1" dirty="0"/>
              <a:t>length</a:t>
            </a:r>
            <a:r>
              <a:rPr lang="en-US" sz="2800" dirty="0"/>
              <a:t>] </a:t>
            </a:r>
            <a:endParaRPr lang="en-US" sz="2800" dirty="0" smtClean="0"/>
          </a:p>
          <a:p>
            <a:r>
              <a:rPr lang="en-US" sz="2800" i="1" dirty="0" smtClean="0"/>
              <a:t>length </a:t>
            </a:r>
            <a:r>
              <a:rPr lang="en-US" sz="2800" dirty="0"/>
              <a:t>is a positive integer denoting the length of the new array. </a:t>
            </a:r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b="1" dirty="0"/>
              <a:t>new</a:t>
            </a:r>
            <a:r>
              <a:rPr lang="en-US" sz="2800" dirty="0"/>
              <a:t> operator returns a reference to the new array, and typically this would be assigned to an array variable. </a:t>
            </a:r>
            <a:endParaRPr lang="en-US" sz="2800" dirty="0" smtClean="0"/>
          </a:p>
          <a:p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Arrays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621E6-FCEB-7C4E-BF29-3B284E7491F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74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239000" cy="1143000"/>
          </a:xfrm>
        </p:spPr>
        <p:txBody>
          <a:bodyPr/>
          <a:lstStyle/>
          <a:p>
            <a:r>
              <a:rPr lang="en-US">
                <a:latin typeface="Tahoma" charset="0"/>
              </a:rPr>
              <a:t>Arrays of Characters or Object References</a:t>
            </a:r>
          </a:p>
        </p:txBody>
      </p:sp>
      <p:sp>
        <p:nvSpPr>
          <p:cNvPr id="18434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Tahoma" charset="0"/>
              </a:rPr>
              <a:t>An array can store primitive elements, such as </a:t>
            </a:r>
            <a:r>
              <a:rPr lang="en-US" sz="2800" dirty="0" smtClean="0">
                <a:latin typeface="Tahoma" charset="0"/>
              </a:rPr>
              <a:t>characters</a:t>
            </a:r>
            <a:r>
              <a:rPr lang="en-US" sz="2800" b="1" dirty="0" smtClean="0">
                <a:latin typeface="Tahoma" charset="0"/>
              </a:rPr>
              <a:t>.</a:t>
            </a:r>
            <a:endParaRPr lang="en-US" sz="2800" b="1" dirty="0">
              <a:latin typeface="Tahoma" charset="0"/>
            </a:endParaRPr>
          </a:p>
          <a:p>
            <a:endParaRPr lang="en-US" sz="2800" dirty="0">
              <a:latin typeface="Tahoma" charset="0"/>
            </a:endParaRPr>
          </a:p>
          <a:p>
            <a:endParaRPr lang="en-US" sz="2800" dirty="0">
              <a:latin typeface="Tahoma" charset="0"/>
            </a:endParaRPr>
          </a:p>
          <a:p>
            <a:r>
              <a:rPr lang="en-US" sz="2800" dirty="0">
                <a:latin typeface="Tahoma" charset="0"/>
              </a:rPr>
              <a:t>An array can also store references to objects.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Arrays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15465A-8C0E-4645-9685-A2C113D4DA4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18438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514600"/>
            <a:ext cx="2971800" cy="113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938" y="4114800"/>
            <a:ext cx="59817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924800" cy="1143000"/>
          </a:xfrm>
        </p:spPr>
        <p:txBody>
          <a:bodyPr/>
          <a:lstStyle/>
          <a:p>
            <a:r>
              <a:rPr lang="en-US" dirty="0" smtClean="0">
                <a:latin typeface="Tahoma" charset="0"/>
              </a:rPr>
              <a:t>Java Example: Game Entries</a:t>
            </a:r>
            <a:endParaRPr lang="en-US" dirty="0">
              <a:latin typeface="Tahom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4572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600" dirty="0" smtClean="0"/>
              <a:t>A game entry stores the name of a player and her best score so far in a game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Arrays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33600"/>
            <a:ext cx="7620000" cy="413465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6B892B-653F-8642-98BD-2CC6242338D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ahoma" charset="0"/>
              </a:rPr>
              <a:t>Java Example: Scoreboard</a:t>
            </a:r>
            <a:endParaRPr lang="en-US" dirty="0">
              <a:latin typeface="Tahoma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Arrays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6B892B-653F-8642-98BD-2CC6242338DE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10514"/>
            <a:ext cx="8080184" cy="2604486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12954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dirty="0" smtClean="0"/>
              <a:t>Keep track of  players and their best scores in an array, board</a:t>
            </a:r>
          </a:p>
          <a:p>
            <a:pPr lvl="1">
              <a:lnSpc>
                <a:spcPct val="120000"/>
              </a:lnSpc>
            </a:pPr>
            <a:r>
              <a:rPr lang="en-US" sz="1800" dirty="0"/>
              <a:t>T</a:t>
            </a:r>
            <a:r>
              <a:rPr lang="en-US" sz="1800" dirty="0" smtClean="0"/>
              <a:t>he elements of board are objects of class </a:t>
            </a:r>
            <a:r>
              <a:rPr lang="en-US" sz="1800" dirty="0" err="1" smtClean="0"/>
              <a:t>GameEntry</a:t>
            </a:r>
            <a:endParaRPr lang="en-US" sz="1800" dirty="0" smtClean="0"/>
          </a:p>
          <a:p>
            <a:pPr lvl="1">
              <a:lnSpc>
                <a:spcPct val="120000"/>
              </a:lnSpc>
            </a:pPr>
            <a:r>
              <a:rPr lang="en-US" sz="1800" dirty="0" smtClean="0"/>
              <a:t>Array board is sorted by score</a:t>
            </a:r>
          </a:p>
          <a:p>
            <a:pPr lvl="1">
              <a:lnSpc>
                <a:spcPct val="12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38070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dirty="0" smtClean="0"/>
              <a:t>Arrays</a:t>
            </a:r>
            <a:endParaRPr lang="en-US" sz="1400" dirty="0"/>
          </a:p>
        </p:txBody>
      </p:sp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24884CDC-1E26-0C42-9EF2-C23C976FBF5F}" type="slidenum">
              <a:rPr lang="en-US" sz="1400"/>
              <a:pPr eaLnBrk="1" hangingPunct="1"/>
              <a:t>9</a:t>
            </a:fld>
            <a:endParaRPr lang="en-US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Tahoma" charset="0"/>
              </a:rPr>
              <a:t>Adding an Entry</a:t>
            </a:r>
            <a:endParaRPr lang="en-US" dirty="0">
              <a:latin typeface="Tahoma" charset="0"/>
            </a:endParaRPr>
          </a:p>
        </p:txBody>
      </p:sp>
      <p:sp>
        <p:nvSpPr>
          <p:cNvPr id="1024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7239000" cy="152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latin typeface="Tahoma" charset="0"/>
              </a:rPr>
              <a:t>To add an entry e into array board at index </a:t>
            </a:r>
            <a:r>
              <a:rPr lang="en-US" sz="2400" dirty="0" err="1" smtClean="0">
                <a:latin typeface="Tahoma" charset="0"/>
              </a:rPr>
              <a:t>i</a:t>
            </a:r>
            <a:r>
              <a:rPr lang="en-US" sz="2400" dirty="0" smtClean="0">
                <a:latin typeface="Tahoma" charset="0"/>
              </a:rPr>
              <a:t>, we </a:t>
            </a:r>
            <a:r>
              <a:rPr lang="en-US" sz="2400" dirty="0">
                <a:latin typeface="Tahoma" charset="0"/>
              </a:rPr>
              <a:t>need to make room for </a:t>
            </a:r>
            <a:r>
              <a:rPr lang="en-US" sz="2400" dirty="0" smtClean="0">
                <a:latin typeface="Tahoma" charset="0"/>
              </a:rPr>
              <a:t>it by </a:t>
            </a:r>
            <a:r>
              <a:rPr lang="en-US" sz="2400" dirty="0">
                <a:latin typeface="Tahoma" charset="0"/>
              </a:rPr>
              <a:t>shifting forward the </a:t>
            </a:r>
            <a:r>
              <a:rPr lang="en-US" sz="2400" b="1" i="1" dirty="0">
                <a:latin typeface="Times New Roman" charset="0"/>
              </a:rPr>
              <a:t>n </a:t>
            </a:r>
            <a:r>
              <a:rPr lang="en-US" sz="2400" dirty="0">
                <a:latin typeface="Symbol" charset="0"/>
              </a:rPr>
              <a:t>-</a:t>
            </a:r>
            <a:r>
              <a:rPr lang="en-US" sz="2400" b="1" i="1" dirty="0">
                <a:latin typeface="Times New Roman" charset="0"/>
              </a:rPr>
              <a:t> </a:t>
            </a:r>
            <a:r>
              <a:rPr lang="en-US" sz="2400" b="1" i="1" dirty="0" err="1">
                <a:latin typeface="Times New Roman" charset="0"/>
              </a:rPr>
              <a:t>i</a:t>
            </a:r>
            <a:r>
              <a:rPr lang="en-US" sz="2400" dirty="0">
                <a:latin typeface="Tahoma" charset="0"/>
              </a:rPr>
              <a:t> </a:t>
            </a:r>
            <a:r>
              <a:rPr lang="en-US" sz="2400" dirty="0" smtClean="0">
                <a:latin typeface="Tahoma" charset="0"/>
              </a:rPr>
              <a:t>entries </a:t>
            </a:r>
            <a:r>
              <a:rPr lang="en-US" sz="2400" b="1" i="1" dirty="0" smtClean="0">
                <a:latin typeface="Times New Roman" charset="0"/>
              </a:rPr>
              <a:t>board</a:t>
            </a:r>
            <a:r>
              <a:rPr lang="en-US" sz="2400" dirty="0" smtClean="0">
                <a:latin typeface="Times New Roman" charset="0"/>
              </a:rPr>
              <a:t>[</a:t>
            </a:r>
            <a:r>
              <a:rPr lang="en-US" sz="2400" b="1" i="1" dirty="0" err="1">
                <a:latin typeface="Times New Roman" charset="0"/>
              </a:rPr>
              <a:t>i</a:t>
            </a:r>
            <a:r>
              <a:rPr lang="en-US" sz="2400" dirty="0">
                <a:latin typeface="Times New Roman" charset="0"/>
              </a:rPr>
              <a:t>], …, </a:t>
            </a:r>
            <a:r>
              <a:rPr lang="en-US" sz="2400" b="1" i="1" dirty="0" smtClean="0">
                <a:latin typeface="Times New Roman" charset="0"/>
              </a:rPr>
              <a:t>board</a:t>
            </a:r>
            <a:r>
              <a:rPr lang="en-US" sz="2400" dirty="0" smtClean="0">
                <a:latin typeface="Times New Roman" charset="0"/>
              </a:rPr>
              <a:t>[</a:t>
            </a:r>
            <a:r>
              <a:rPr lang="en-US" sz="2400" b="1" i="1" dirty="0">
                <a:latin typeface="Times New Roman" charset="0"/>
              </a:rPr>
              <a:t>n </a:t>
            </a:r>
            <a:r>
              <a:rPr lang="en-US" sz="2400" dirty="0" smtClean="0">
                <a:latin typeface="Symbol" charset="0"/>
              </a:rPr>
              <a:t>-</a:t>
            </a:r>
            <a:r>
              <a:rPr lang="en-US" sz="2400" b="1" i="1" dirty="0" smtClean="0">
                <a:latin typeface="Times New Roman" charset="0"/>
              </a:rPr>
              <a:t> </a:t>
            </a:r>
            <a:r>
              <a:rPr lang="en-US" sz="2400" dirty="0">
                <a:latin typeface="Times New Roman" charset="0"/>
              </a:rPr>
              <a:t>1</a:t>
            </a:r>
            <a:r>
              <a:rPr lang="en-US" sz="2400" dirty="0" smtClean="0">
                <a:latin typeface="Times New Roman" charset="0"/>
              </a:rPr>
              <a:t>]</a:t>
            </a:r>
            <a:endParaRPr lang="en-US" sz="2400" dirty="0">
              <a:latin typeface="Times New Roman" charset="0"/>
            </a:endParaRPr>
          </a:p>
        </p:txBody>
      </p:sp>
      <p:sp>
        <p:nvSpPr>
          <p:cNvPr id="10245" name="Rectangle 55"/>
          <p:cNvSpPr>
            <a:spLocks noChangeArrowheads="1"/>
          </p:cNvSpPr>
          <p:nvPr/>
        </p:nvSpPr>
        <p:spPr bwMode="auto">
          <a:xfrm>
            <a:off x="1227137" y="3048000"/>
            <a:ext cx="11350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accent2"/>
                </a:solidFill>
                <a:latin typeface="Times New Roman" charset="0"/>
              </a:rPr>
              <a:t>board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0246" name="Rectangle 56"/>
          <p:cNvSpPr>
            <a:spLocks noChangeArrowheads="1"/>
          </p:cNvSpPr>
          <p:nvPr/>
        </p:nvSpPr>
        <p:spPr bwMode="auto">
          <a:xfrm>
            <a:off x="2514600" y="342527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0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47" name="Rectangle 57"/>
          <p:cNvSpPr>
            <a:spLocks noChangeArrowheads="1"/>
          </p:cNvSpPr>
          <p:nvPr/>
        </p:nvSpPr>
        <p:spPr bwMode="auto">
          <a:xfrm>
            <a:off x="2819400" y="342527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1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48" name="Rectangle 58"/>
          <p:cNvSpPr>
            <a:spLocks noChangeArrowheads="1"/>
          </p:cNvSpPr>
          <p:nvPr/>
        </p:nvSpPr>
        <p:spPr bwMode="auto">
          <a:xfrm>
            <a:off x="3124200" y="342527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2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49" name="Rectangle 59"/>
          <p:cNvSpPr>
            <a:spLocks noChangeArrowheads="1"/>
          </p:cNvSpPr>
          <p:nvPr/>
        </p:nvSpPr>
        <p:spPr bwMode="auto">
          <a:xfrm>
            <a:off x="5791200" y="3425270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n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0250" name="Rectangle 60"/>
          <p:cNvSpPr>
            <a:spLocks noChangeArrowheads="1"/>
          </p:cNvSpPr>
          <p:nvPr/>
        </p:nvSpPr>
        <p:spPr bwMode="auto">
          <a:xfrm>
            <a:off x="2438400" y="31125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251" name="Rectangle 61"/>
          <p:cNvSpPr>
            <a:spLocks noChangeArrowheads="1"/>
          </p:cNvSpPr>
          <p:nvPr/>
        </p:nvSpPr>
        <p:spPr bwMode="auto">
          <a:xfrm>
            <a:off x="2743200" y="31125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2" name="Rectangle 62"/>
          <p:cNvSpPr>
            <a:spLocks noChangeArrowheads="1"/>
          </p:cNvSpPr>
          <p:nvPr/>
        </p:nvSpPr>
        <p:spPr bwMode="auto">
          <a:xfrm>
            <a:off x="3048000" y="31125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Rectangle 63"/>
          <p:cNvSpPr>
            <a:spLocks noChangeArrowheads="1"/>
          </p:cNvSpPr>
          <p:nvPr/>
        </p:nvSpPr>
        <p:spPr bwMode="auto">
          <a:xfrm>
            <a:off x="3352800" y="31125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Rectangle 64"/>
          <p:cNvSpPr>
            <a:spLocks noChangeArrowheads="1"/>
          </p:cNvSpPr>
          <p:nvPr/>
        </p:nvSpPr>
        <p:spPr bwMode="auto">
          <a:xfrm>
            <a:off x="3657600" y="31125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Rectangle 65"/>
          <p:cNvSpPr>
            <a:spLocks noChangeArrowheads="1"/>
          </p:cNvSpPr>
          <p:nvPr/>
        </p:nvSpPr>
        <p:spPr bwMode="auto">
          <a:xfrm>
            <a:off x="3962400" y="31125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Rectangle 66"/>
          <p:cNvSpPr>
            <a:spLocks noChangeArrowheads="1"/>
          </p:cNvSpPr>
          <p:nvPr/>
        </p:nvSpPr>
        <p:spPr bwMode="auto">
          <a:xfrm>
            <a:off x="4267200" y="3112532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257" name="Rectangle 67"/>
          <p:cNvSpPr>
            <a:spLocks noChangeArrowheads="1"/>
          </p:cNvSpPr>
          <p:nvPr/>
        </p:nvSpPr>
        <p:spPr bwMode="auto">
          <a:xfrm>
            <a:off x="4572000" y="3112532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Rectangle 68"/>
          <p:cNvSpPr>
            <a:spLocks noChangeArrowheads="1"/>
          </p:cNvSpPr>
          <p:nvPr/>
        </p:nvSpPr>
        <p:spPr bwMode="auto">
          <a:xfrm>
            <a:off x="4876800" y="3112532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9" name="Rectangle 69"/>
          <p:cNvSpPr>
            <a:spLocks noChangeArrowheads="1"/>
          </p:cNvSpPr>
          <p:nvPr/>
        </p:nvSpPr>
        <p:spPr bwMode="auto">
          <a:xfrm>
            <a:off x="5181600" y="3112532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0" name="Rectangle 70"/>
          <p:cNvSpPr>
            <a:spLocks noChangeArrowheads="1"/>
          </p:cNvSpPr>
          <p:nvPr/>
        </p:nvSpPr>
        <p:spPr bwMode="auto">
          <a:xfrm>
            <a:off x="5486400" y="3112532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Rectangle 71"/>
          <p:cNvSpPr>
            <a:spLocks noChangeArrowheads="1"/>
          </p:cNvSpPr>
          <p:nvPr/>
        </p:nvSpPr>
        <p:spPr bwMode="auto">
          <a:xfrm>
            <a:off x="5791200" y="31125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Rectangle 72"/>
          <p:cNvSpPr>
            <a:spLocks noChangeArrowheads="1"/>
          </p:cNvSpPr>
          <p:nvPr/>
        </p:nvSpPr>
        <p:spPr bwMode="auto">
          <a:xfrm>
            <a:off x="6096000" y="31125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3" name="Rectangle 73"/>
          <p:cNvSpPr>
            <a:spLocks noChangeArrowheads="1"/>
          </p:cNvSpPr>
          <p:nvPr/>
        </p:nvSpPr>
        <p:spPr bwMode="auto">
          <a:xfrm>
            <a:off x="6400800" y="31125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4" name="Rectangle 74"/>
          <p:cNvSpPr>
            <a:spLocks noChangeArrowheads="1"/>
          </p:cNvSpPr>
          <p:nvPr/>
        </p:nvSpPr>
        <p:spPr bwMode="auto">
          <a:xfrm>
            <a:off x="6705600" y="31125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5" name="Rectangle 75"/>
          <p:cNvSpPr>
            <a:spLocks noChangeArrowheads="1"/>
          </p:cNvSpPr>
          <p:nvPr/>
        </p:nvSpPr>
        <p:spPr bwMode="auto">
          <a:xfrm>
            <a:off x="7010400" y="31125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6" name="Rectangle 76"/>
          <p:cNvSpPr>
            <a:spLocks noChangeArrowheads="1"/>
          </p:cNvSpPr>
          <p:nvPr/>
        </p:nvSpPr>
        <p:spPr bwMode="auto">
          <a:xfrm>
            <a:off x="7315200" y="31125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7" name="Rectangle 77"/>
          <p:cNvSpPr>
            <a:spLocks noChangeArrowheads="1"/>
          </p:cNvSpPr>
          <p:nvPr/>
        </p:nvSpPr>
        <p:spPr bwMode="auto">
          <a:xfrm>
            <a:off x="4267200" y="3433207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i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0268" name="Rectangle 78"/>
          <p:cNvSpPr>
            <a:spLocks noChangeArrowheads="1"/>
          </p:cNvSpPr>
          <p:nvPr/>
        </p:nvSpPr>
        <p:spPr bwMode="auto">
          <a:xfrm>
            <a:off x="1227137" y="3962401"/>
            <a:ext cx="11350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accent2"/>
                </a:solidFill>
                <a:latin typeface="Times New Roman" charset="0"/>
              </a:rPr>
              <a:t>board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0269" name="Rectangle 79"/>
          <p:cNvSpPr>
            <a:spLocks noChangeArrowheads="1"/>
          </p:cNvSpPr>
          <p:nvPr/>
        </p:nvSpPr>
        <p:spPr bwMode="auto">
          <a:xfrm>
            <a:off x="2514600" y="433967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0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70" name="Rectangle 80"/>
          <p:cNvSpPr>
            <a:spLocks noChangeArrowheads="1"/>
          </p:cNvSpPr>
          <p:nvPr/>
        </p:nvSpPr>
        <p:spPr bwMode="auto">
          <a:xfrm>
            <a:off x="2819400" y="433967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1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71" name="Rectangle 81"/>
          <p:cNvSpPr>
            <a:spLocks noChangeArrowheads="1"/>
          </p:cNvSpPr>
          <p:nvPr/>
        </p:nvSpPr>
        <p:spPr bwMode="auto">
          <a:xfrm>
            <a:off x="3124200" y="433967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2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72" name="Rectangle 82"/>
          <p:cNvSpPr>
            <a:spLocks noChangeArrowheads="1"/>
          </p:cNvSpPr>
          <p:nvPr/>
        </p:nvSpPr>
        <p:spPr bwMode="auto">
          <a:xfrm>
            <a:off x="5791200" y="4339670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n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0273" name="Rectangle 83"/>
          <p:cNvSpPr>
            <a:spLocks noChangeArrowheads="1"/>
          </p:cNvSpPr>
          <p:nvPr/>
        </p:nvSpPr>
        <p:spPr bwMode="auto">
          <a:xfrm>
            <a:off x="2438400" y="40269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274" name="Rectangle 84"/>
          <p:cNvSpPr>
            <a:spLocks noChangeArrowheads="1"/>
          </p:cNvSpPr>
          <p:nvPr/>
        </p:nvSpPr>
        <p:spPr bwMode="auto">
          <a:xfrm>
            <a:off x="2743200" y="40269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5" name="Rectangle 85"/>
          <p:cNvSpPr>
            <a:spLocks noChangeArrowheads="1"/>
          </p:cNvSpPr>
          <p:nvPr/>
        </p:nvSpPr>
        <p:spPr bwMode="auto">
          <a:xfrm>
            <a:off x="3048000" y="40269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6" name="Rectangle 86"/>
          <p:cNvSpPr>
            <a:spLocks noChangeArrowheads="1"/>
          </p:cNvSpPr>
          <p:nvPr/>
        </p:nvSpPr>
        <p:spPr bwMode="auto">
          <a:xfrm>
            <a:off x="3352800" y="40269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7" name="Rectangle 87"/>
          <p:cNvSpPr>
            <a:spLocks noChangeArrowheads="1"/>
          </p:cNvSpPr>
          <p:nvPr/>
        </p:nvSpPr>
        <p:spPr bwMode="auto">
          <a:xfrm>
            <a:off x="3657600" y="40269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8" name="Rectangle 88"/>
          <p:cNvSpPr>
            <a:spLocks noChangeArrowheads="1"/>
          </p:cNvSpPr>
          <p:nvPr/>
        </p:nvSpPr>
        <p:spPr bwMode="auto">
          <a:xfrm>
            <a:off x="3962400" y="40269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9" name="Rectangle 89"/>
          <p:cNvSpPr>
            <a:spLocks noChangeArrowheads="1"/>
          </p:cNvSpPr>
          <p:nvPr/>
        </p:nvSpPr>
        <p:spPr bwMode="auto">
          <a:xfrm>
            <a:off x="4267200" y="40269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280" name="Rectangle 90"/>
          <p:cNvSpPr>
            <a:spLocks noChangeArrowheads="1"/>
          </p:cNvSpPr>
          <p:nvPr/>
        </p:nvSpPr>
        <p:spPr bwMode="auto">
          <a:xfrm>
            <a:off x="4572000" y="4026932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1" name="Rectangle 91"/>
          <p:cNvSpPr>
            <a:spLocks noChangeArrowheads="1"/>
          </p:cNvSpPr>
          <p:nvPr/>
        </p:nvSpPr>
        <p:spPr bwMode="auto">
          <a:xfrm>
            <a:off x="4876800" y="4026932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2" name="Rectangle 92"/>
          <p:cNvSpPr>
            <a:spLocks noChangeArrowheads="1"/>
          </p:cNvSpPr>
          <p:nvPr/>
        </p:nvSpPr>
        <p:spPr bwMode="auto">
          <a:xfrm>
            <a:off x="5181600" y="4026932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3" name="Rectangle 93"/>
          <p:cNvSpPr>
            <a:spLocks noChangeArrowheads="1"/>
          </p:cNvSpPr>
          <p:nvPr/>
        </p:nvSpPr>
        <p:spPr bwMode="auto">
          <a:xfrm>
            <a:off x="5486400" y="4026932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4" name="Rectangle 94"/>
          <p:cNvSpPr>
            <a:spLocks noChangeArrowheads="1"/>
          </p:cNvSpPr>
          <p:nvPr/>
        </p:nvSpPr>
        <p:spPr bwMode="auto">
          <a:xfrm>
            <a:off x="5791200" y="4026932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5" name="Rectangle 95"/>
          <p:cNvSpPr>
            <a:spLocks noChangeArrowheads="1"/>
          </p:cNvSpPr>
          <p:nvPr/>
        </p:nvSpPr>
        <p:spPr bwMode="auto">
          <a:xfrm>
            <a:off x="6096000" y="40269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6" name="Rectangle 96"/>
          <p:cNvSpPr>
            <a:spLocks noChangeArrowheads="1"/>
          </p:cNvSpPr>
          <p:nvPr/>
        </p:nvSpPr>
        <p:spPr bwMode="auto">
          <a:xfrm>
            <a:off x="6400800" y="40269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7" name="Rectangle 97"/>
          <p:cNvSpPr>
            <a:spLocks noChangeArrowheads="1"/>
          </p:cNvSpPr>
          <p:nvPr/>
        </p:nvSpPr>
        <p:spPr bwMode="auto">
          <a:xfrm>
            <a:off x="6705600" y="40269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8" name="Rectangle 98"/>
          <p:cNvSpPr>
            <a:spLocks noChangeArrowheads="1"/>
          </p:cNvSpPr>
          <p:nvPr/>
        </p:nvSpPr>
        <p:spPr bwMode="auto">
          <a:xfrm>
            <a:off x="7010400" y="40269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9" name="Rectangle 99"/>
          <p:cNvSpPr>
            <a:spLocks noChangeArrowheads="1"/>
          </p:cNvSpPr>
          <p:nvPr/>
        </p:nvSpPr>
        <p:spPr bwMode="auto">
          <a:xfrm>
            <a:off x="7315200" y="40269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90" name="Rectangle 100"/>
          <p:cNvSpPr>
            <a:spLocks noChangeArrowheads="1"/>
          </p:cNvSpPr>
          <p:nvPr/>
        </p:nvSpPr>
        <p:spPr bwMode="auto">
          <a:xfrm>
            <a:off x="4267200" y="4347607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i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0292" name="Rectangle 102"/>
          <p:cNvSpPr>
            <a:spLocks noChangeArrowheads="1"/>
          </p:cNvSpPr>
          <p:nvPr/>
        </p:nvSpPr>
        <p:spPr bwMode="auto">
          <a:xfrm>
            <a:off x="2514600" y="525407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0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93" name="Rectangle 103"/>
          <p:cNvSpPr>
            <a:spLocks noChangeArrowheads="1"/>
          </p:cNvSpPr>
          <p:nvPr/>
        </p:nvSpPr>
        <p:spPr bwMode="auto">
          <a:xfrm>
            <a:off x="2819400" y="525407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1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94" name="Rectangle 104"/>
          <p:cNvSpPr>
            <a:spLocks noChangeArrowheads="1"/>
          </p:cNvSpPr>
          <p:nvPr/>
        </p:nvSpPr>
        <p:spPr bwMode="auto">
          <a:xfrm>
            <a:off x="3124200" y="525407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2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95" name="Rectangle 105"/>
          <p:cNvSpPr>
            <a:spLocks noChangeArrowheads="1"/>
          </p:cNvSpPr>
          <p:nvPr/>
        </p:nvSpPr>
        <p:spPr bwMode="auto">
          <a:xfrm>
            <a:off x="6121400" y="5254070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n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0296" name="Rectangle 106"/>
          <p:cNvSpPr>
            <a:spLocks noChangeArrowheads="1"/>
          </p:cNvSpPr>
          <p:nvPr/>
        </p:nvSpPr>
        <p:spPr bwMode="auto">
          <a:xfrm>
            <a:off x="2438400" y="49413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297" name="Rectangle 107"/>
          <p:cNvSpPr>
            <a:spLocks noChangeArrowheads="1"/>
          </p:cNvSpPr>
          <p:nvPr/>
        </p:nvSpPr>
        <p:spPr bwMode="auto">
          <a:xfrm>
            <a:off x="2743200" y="49413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98" name="Rectangle 108"/>
          <p:cNvSpPr>
            <a:spLocks noChangeArrowheads="1"/>
          </p:cNvSpPr>
          <p:nvPr/>
        </p:nvSpPr>
        <p:spPr bwMode="auto">
          <a:xfrm>
            <a:off x="3048000" y="49413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99" name="Rectangle 109"/>
          <p:cNvSpPr>
            <a:spLocks noChangeArrowheads="1"/>
          </p:cNvSpPr>
          <p:nvPr/>
        </p:nvSpPr>
        <p:spPr bwMode="auto">
          <a:xfrm>
            <a:off x="3352800" y="49413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0" name="Rectangle 110"/>
          <p:cNvSpPr>
            <a:spLocks noChangeArrowheads="1"/>
          </p:cNvSpPr>
          <p:nvPr/>
        </p:nvSpPr>
        <p:spPr bwMode="auto">
          <a:xfrm>
            <a:off x="3657600" y="49413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1" name="Rectangle 111"/>
          <p:cNvSpPr>
            <a:spLocks noChangeArrowheads="1"/>
          </p:cNvSpPr>
          <p:nvPr/>
        </p:nvSpPr>
        <p:spPr bwMode="auto">
          <a:xfrm>
            <a:off x="3962400" y="4941332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2" name="Rectangle 112"/>
          <p:cNvSpPr>
            <a:spLocks noChangeArrowheads="1"/>
          </p:cNvSpPr>
          <p:nvPr/>
        </p:nvSpPr>
        <p:spPr bwMode="auto">
          <a:xfrm>
            <a:off x="4267200" y="4941332"/>
            <a:ext cx="304800" cy="304800"/>
          </a:xfrm>
          <a:prstGeom prst="rect">
            <a:avLst/>
          </a:prstGeom>
          <a:solidFill>
            <a:schemeClr val="bg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i="1" dirty="0" smtClean="0">
                <a:latin typeface="Times New Roman" charset="0"/>
              </a:rPr>
              <a:t>e</a:t>
            </a:r>
            <a:endParaRPr lang="en-US" b="1" i="1" dirty="0">
              <a:latin typeface="Times New Roman" charset="0"/>
            </a:endParaRPr>
          </a:p>
        </p:txBody>
      </p:sp>
      <p:sp>
        <p:nvSpPr>
          <p:cNvPr id="10303" name="Rectangle 113"/>
          <p:cNvSpPr>
            <a:spLocks noChangeArrowheads="1"/>
          </p:cNvSpPr>
          <p:nvPr/>
        </p:nvSpPr>
        <p:spPr bwMode="auto">
          <a:xfrm>
            <a:off x="4572000" y="4941332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4" name="Rectangle 114"/>
          <p:cNvSpPr>
            <a:spLocks noChangeArrowheads="1"/>
          </p:cNvSpPr>
          <p:nvPr/>
        </p:nvSpPr>
        <p:spPr bwMode="auto">
          <a:xfrm>
            <a:off x="4876800" y="4941332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5" name="Rectangle 115"/>
          <p:cNvSpPr>
            <a:spLocks noChangeArrowheads="1"/>
          </p:cNvSpPr>
          <p:nvPr/>
        </p:nvSpPr>
        <p:spPr bwMode="auto">
          <a:xfrm>
            <a:off x="5181600" y="4941332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6" name="Rectangle 116"/>
          <p:cNvSpPr>
            <a:spLocks noChangeArrowheads="1"/>
          </p:cNvSpPr>
          <p:nvPr/>
        </p:nvSpPr>
        <p:spPr bwMode="auto">
          <a:xfrm>
            <a:off x="5486400" y="4941332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7" name="Rectangle 117"/>
          <p:cNvSpPr>
            <a:spLocks noChangeArrowheads="1"/>
          </p:cNvSpPr>
          <p:nvPr/>
        </p:nvSpPr>
        <p:spPr bwMode="auto">
          <a:xfrm>
            <a:off x="5791200" y="4941332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8" name="Rectangle 118"/>
          <p:cNvSpPr>
            <a:spLocks noChangeArrowheads="1"/>
          </p:cNvSpPr>
          <p:nvPr/>
        </p:nvSpPr>
        <p:spPr bwMode="auto">
          <a:xfrm>
            <a:off x="6096000" y="49413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9" name="Rectangle 119"/>
          <p:cNvSpPr>
            <a:spLocks noChangeArrowheads="1"/>
          </p:cNvSpPr>
          <p:nvPr/>
        </p:nvSpPr>
        <p:spPr bwMode="auto">
          <a:xfrm>
            <a:off x="6400800" y="49413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10" name="Rectangle 120"/>
          <p:cNvSpPr>
            <a:spLocks noChangeArrowheads="1"/>
          </p:cNvSpPr>
          <p:nvPr/>
        </p:nvSpPr>
        <p:spPr bwMode="auto">
          <a:xfrm>
            <a:off x="6705600" y="49413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11" name="Rectangle 121"/>
          <p:cNvSpPr>
            <a:spLocks noChangeArrowheads="1"/>
          </p:cNvSpPr>
          <p:nvPr/>
        </p:nvSpPr>
        <p:spPr bwMode="auto">
          <a:xfrm>
            <a:off x="7010400" y="49413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12" name="Rectangle 122"/>
          <p:cNvSpPr>
            <a:spLocks noChangeArrowheads="1"/>
          </p:cNvSpPr>
          <p:nvPr/>
        </p:nvSpPr>
        <p:spPr bwMode="auto">
          <a:xfrm>
            <a:off x="7315200" y="4941332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13" name="Rectangle 123"/>
          <p:cNvSpPr>
            <a:spLocks noChangeArrowheads="1"/>
          </p:cNvSpPr>
          <p:nvPr/>
        </p:nvSpPr>
        <p:spPr bwMode="auto">
          <a:xfrm>
            <a:off x="4267200" y="5262007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i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0314" name="AutoShape 124"/>
          <p:cNvCxnSpPr>
            <a:cxnSpLocks noChangeShapeType="1"/>
            <a:stCxn id="10279" idx="0"/>
            <a:endCxn id="10280" idx="0"/>
          </p:cNvCxnSpPr>
          <p:nvPr/>
        </p:nvCxnSpPr>
        <p:spPr bwMode="auto">
          <a:xfrm rot="5400000" flipV="1">
            <a:off x="4571206" y="3856276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315" name="AutoShape 126"/>
          <p:cNvCxnSpPr>
            <a:cxnSpLocks noChangeShapeType="1"/>
          </p:cNvCxnSpPr>
          <p:nvPr/>
        </p:nvCxnSpPr>
        <p:spPr bwMode="auto">
          <a:xfrm rot="5400000" flipV="1">
            <a:off x="4876006" y="3875326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316" name="AutoShape 127"/>
          <p:cNvCxnSpPr>
            <a:cxnSpLocks noChangeShapeType="1"/>
          </p:cNvCxnSpPr>
          <p:nvPr/>
        </p:nvCxnSpPr>
        <p:spPr bwMode="auto">
          <a:xfrm rot="5400000" flipV="1">
            <a:off x="5180806" y="3875326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317" name="AutoShape 128"/>
          <p:cNvCxnSpPr>
            <a:cxnSpLocks noChangeShapeType="1"/>
          </p:cNvCxnSpPr>
          <p:nvPr/>
        </p:nvCxnSpPr>
        <p:spPr bwMode="auto">
          <a:xfrm rot="5400000" flipV="1">
            <a:off x="5485606" y="3875326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318" name="AutoShape 129"/>
          <p:cNvCxnSpPr>
            <a:cxnSpLocks noChangeShapeType="1"/>
          </p:cNvCxnSpPr>
          <p:nvPr/>
        </p:nvCxnSpPr>
        <p:spPr bwMode="auto">
          <a:xfrm rot="5400000" flipV="1">
            <a:off x="5790406" y="3875326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0319" name="Date Placeholder 79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  <p:sp>
        <p:nvSpPr>
          <p:cNvPr id="81" name="Rectangle 78"/>
          <p:cNvSpPr>
            <a:spLocks noChangeArrowheads="1"/>
          </p:cNvSpPr>
          <p:nvPr/>
        </p:nvSpPr>
        <p:spPr bwMode="auto">
          <a:xfrm>
            <a:off x="1227137" y="4953000"/>
            <a:ext cx="11350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accent2"/>
                </a:solidFill>
                <a:latin typeface="Times New Roman" charset="0"/>
              </a:rPr>
              <a:t>board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ahoma" charset="0"/>
              </a:rPr>
              <a:t>Java Example</a:t>
            </a:r>
            <a:endParaRPr lang="en-US" dirty="0">
              <a:latin typeface="Tahoma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Arrays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6B892B-653F-8642-98BD-2CC6242338D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76400"/>
            <a:ext cx="7924800" cy="407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72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Arrays</a:t>
            </a:r>
            <a:endParaRPr lang="en-US" sz="1400"/>
          </a:p>
        </p:txBody>
      </p:sp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28395B9E-DB1A-9A4D-8B28-853AA4693EB7}" type="slidenum">
              <a:rPr lang="en-US" sz="1400"/>
              <a:pPr eaLnBrk="1" hangingPunct="1"/>
              <a:t>11</a:t>
            </a:fld>
            <a:endParaRPr lang="en-US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Tahoma" charset="0"/>
              </a:rPr>
              <a:t>Removing an Entry</a:t>
            </a:r>
            <a:endParaRPr lang="en-US" dirty="0">
              <a:latin typeface="Tahoma" charset="0"/>
            </a:endParaRPr>
          </a:p>
        </p:txBody>
      </p:sp>
      <p:sp>
        <p:nvSpPr>
          <p:cNvPr id="1126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160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latin typeface="Tahoma" charset="0"/>
              </a:rPr>
              <a:t>To remove the entry e at index </a:t>
            </a:r>
            <a:r>
              <a:rPr lang="en-US" sz="2400" dirty="0" err="1" smtClean="0">
                <a:latin typeface="Tahoma" charset="0"/>
              </a:rPr>
              <a:t>i</a:t>
            </a:r>
            <a:r>
              <a:rPr lang="en-US" sz="2400" dirty="0" smtClean="0">
                <a:latin typeface="Tahoma" charset="0"/>
              </a:rPr>
              <a:t>, </a:t>
            </a:r>
            <a:r>
              <a:rPr lang="en-US" sz="2400" dirty="0">
                <a:latin typeface="Tahoma" charset="0"/>
              </a:rPr>
              <a:t>we need to fill the hole left by </a:t>
            </a:r>
            <a:r>
              <a:rPr lang="en-US" sz="2400" dirty="0" smtClean="0">
                <a:latin typeface="Tahoma" charset="0"/>
              </a:rPr>
              <a:t>e </a:t>
            </a:r>
            <a:r>
              <a:rPr lang="en-US" sz="2400" dirty="0">
                <a:latin typeface="Tahoma" charset="0"/>
              </a:rPr>
              <a:t>by shifting backward the </a:t>
            </a:r>
            <a:r>
              <a:rPr lang="en-US" sz="2400" b="1" i="1" dirty="0">
                <a:latin typeface="Times New Roman" charset="0"/>
              </a:rPr>
              <a:t>n </a:t>
            </a:r>
            <a:r>
              <a:rPr lang="en-US" sz="2400" dirty="0">
                <a:latin typeface="Symbol" charset="0"/>
              </a:rPr>
              <a:t>-</a:t>
            </a:r>
            <a:r>
              <a:rPr lang="en-US" sz="2400" b="1" i="1" dirty="0">
                <a:latin typeface="Times New Roman" charset="0"/>
              </a:rPr>
              <a:t> </a:t>
            </a:r>
            <a:r>
              <a:rPr lang="en-US" sz="2400" b="1" i="1" dirty="0" err="1">
                <a:latin typeface="Times New Roman" charset="0"/>
              </a:rPr>
              <a:t>i</a:t>
            </a:r>
            <a:r>
              <a:rPr lang="en-US" sz="2400" b="1" i="1" dirty="0">
                <a:latin typeface="Times New Roman" charset="0"/>
              </a:rPr>
              <a:t> </a:t>
            </a:r>
            <a:r>
              <a:rPr lang="en-US" sz="2400" dirty="0">
                <a:latin typeface="Symbol" charset="0"/>
              </a:rPr>
              <a:t>-</a:t>
            </a:r>
            <a:r>
              <a:rPr lang="en-US" sz="2400" b="1" i="1" dirty="0">
                <a:latin typeface="Times New Roman" charset="0"/>
              </a:rPr>
              <a:t> </a:t>
            </a:r>
            <a:r>
              <a:rPr lang="en-US" sz="2400" dirty="0">
                <a:latin typeface="Times New Roman" charset="0"/>
              </a:rPr>
              <a:t>1</a:t>
            </a:r>
            <a:r>
              <a:rPr lang="en-US" sz="2400" dirty="0">
                <a:latin typeface="Tahoma" charset="0"/>
              </a:rPr>
              <a:t> elements </a:t>
            </a:r>
            <a:r>
              <a:rPr lang="en-US" sz="2400" b="1" i="1" dirty="0" smtClean="0">
                <a:latin typeface="Times New Roman" charset="0"/>
              </a:rPr>
              <a:t>board</a:t>
            </a:r>
            <a:r>
              <a:rPr lang="en-US" sz="2400" dirty="0" smtClean="0">
                <a:latin typeface="Times New Roman" charset="0"/>
              </a:rPr>
              <a:t>[</a:t>
            </a:r>
            <a:r>
              <a:rPr lang="en-US" sz="2400" b="1" i="1" dirty="0" err="1">
                <a:latin typeface="Times New Roman" charset="0"/>
              </a:rPr>
              <a:t>i</a:t>
            </a:r>
            <a:r>
              <a:rPr lang="en-US" sz="2400" b="1" i="1" dirty="0">
                <a:latin typeface="Times New Roman" charset="0"/>
              </a:rPr>
              <a:t> </a:t>
            </a:r>
            <a:r>
              <a:rPr lang="en-US" sz="2400" dirty="0">
                <a:latin typeface="Symbol" charset="0"/>
              </a:rPr>
              <a:t>+</a:t>
            </a:r>
            <a:r>
              <a:rPr lang="en-US" sz="2400" b="1" i="1" dirty="0">
                <a:latin typeface="Times New Roman" charset="0"/>
              </a:rPr>
              <a:t> </a:t>
            </a:r>
            <a:r>
              <a:rPr lang="en-US" sz="2400" dirty="0">
                <a:latin typeface="Times New Roman" charset="0"/>
              </a:rPr>
              <a:t>1], …, </a:t>
            </a:r>
            <a:r>
              <a:rPr lang="en-US" sz="2400" b="1" i="1" dirty="0" smtClean="0">
                <a:latin typeface="Times New Roman" charset="0"/>
              </a:rPr>
              <a:t>board</a:t>
            </a:r>
            <a:r>
              <a:rPr lang="en-US" sz="2400" dirty="0" smtClean="0">
                <a:latin typeface="Times New Roman" charset="0"/>
              </a:rPr>
              <a:t>[</a:t>
            </a:r>
            <a:r>
              <a:rPr lang="en-US" sz="2400" b="1" i="1" dirty="0">
                <a:latin typeface="Times New Roman" charset="0"/>
              </a:rPr>
              <a:t>n </a:t>
            </a:r>
            <a:r>
              <a:rPr lang="en-US" sz="2400" dirty="0" smtClean="0">
                <a:latin typeface="Symbol" charset="0"/>
              </a:rPr>
              <a:t>–</a:t>
            </a:r>
            <a:r>
              <a:rPr lang="en-US" sz="2400" b="1" i="1" dirty="0" smtClean="0">
                <a:latin typeface="Times New Roman" charset="0"/>
              </a:rPr>
              <a:t> </a:t>
            </a:r>
            <a:r>
              <a:rPr lang="en-US" sz="2400" dirty="0">
                <a:latin typeface="Times New Roman" charset="0"/>
              </a:rPr>
              <a:t>1</a:t>
            </a:r>
            <a:r>
              <a:rPr lang="en-US" sz="2400" dirty="0" smtClean="0">
                <a:latin typeface="Times New Roman" charset="0"/>
              </a:rPr>
              <a:t>]</a:t>
            </a:r>
            <a:endParaRPr lang="en-US" sz="2400" dirty="0">
              <a:latin typeface="Times New Roman" charset="0"/>
            </a:endParaRPr>
          </a:p>
        </p:txBody>
      </p:sp>
      <p:sp>
        <p:nvSpPr>
          <p:cNvPr id="11325" name="Rectangle 5"/>
          <p:cNvSpPr>
            <a:spLocks noChangeArrowheads="1"/>
          </p:cNvSpPr>
          <p:nvPr/>
        </p:nvSpPr>
        <p:spPr bwMode="auto">
          <a:xfrm>
            <a:off x="2514600" y="54181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0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326" name="Rectangle 6"/>
          <p:cNvSpPr>
            <a:spLocks noChangeArrowheads="1"/>
          </p:cNvSpPr>
          <p:nvPr/>
        </p:nvSpPr>
        <p:spPr bwMode="auto">
          <a:xfrm>
            <a:off x="2819400" y="54181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1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327" name="Rectangle 7"/>
          <p:cNvSpPr>
            <a:spLocks noChangeArrowheads="1"/>
          </p:cNvSpPr>
          <p:nvPr/>
        </p:nvSpPr>
        <p:spPr bwMode="auto">
          <a:xfrm>
            <a:off x="3124200" y="54181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2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328" name="Rectangle 8"/>
          <p:cNvSpPr>
            <a:spLocks noChangeArrowheads="1"/>
          </p:cNvSpPr>
          <p:nvPr/>
        </p:nvSpPr>
        <p:spPr bwMode="auto">
          <a:xfrm>
            <a:off x="5791200" y="5418138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n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1329" name="Rectangle 9"/>
          <p:cNvSpPr>
            <a:spLocks noChangeArrowheads="1"/>
          </p:cNvSpPr>
          <p:nvPr/>
        </p:nvSpPr>
        <p:spPr bwMode="auto">
          <a:xfrm>
            <a:off x="2438400" y="5105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1330" name="Rectangle 10"/>
          <p:cNvSpPr>
            <a:spLocks noChangeArrowheads="1"/>
          </p:cNvSpPr>
          <p:nvPr/>
        </p:nvSpPr>
        <p:spPr bwMode="auto">
          <a:xfrm>
            <a:off x="2743200" y="5105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31" name="Rectangle 11"/>
          <p:cNvSpPr>
            <a:spLocks noChangeArrowheads="1"/>
          </p:cNvSpPr>
          <p:nvPr/>
        </p:nvSpPr>
        <p:spPr bwMode="auto">
          <a:xfrm>
            <a:off x="3048000" y="5105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32" name="Rectangle 12"/>
          <p:cNvSpPr>
            <a:spLocks noChangeArrowheads="1"/>
          </p:cNvSpPr>
          <p:nvPr/>
        </p:nvSpPr>
        <p:spPr bwMode="auto">
          <a:xfrm>
            <a:off x="3352800" y="5105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33" name="Rectangle 13"/>
          <p:cNvSpPr>
            <a:spLocks noChangeArrowheads="1"/>
          </p:cNvSpPr>
          <p:nvPr/>
        </p:nvSpPr>
        <p:spPr bwMode="auto">
          <a:xfrm>
            <a:off x="3657600" y="5105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34" name="Rectangle 14"/>
          <p:cNvSpPr>
            <a:spLocks noChangeArrowheads="1"/>
          </p:cNvSpPr>
          <p:nvPr/>
        </p:nvSpPr>
        <p:spPr bwMode="auto">
          <a:xfrm>
            <a:off x="3962400" y="5105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35" name="Rectangle 15"/>
          <p:cNvSpPr>
            <a:spLocks noChangeArrowheads="1"/>
          </p:cNvSpPr>
          <p:nvPr/>
        </p:nvSpPr>
        <p:spPr bwMode="auto">
          <a:xfrm>
            <a:off x="4267200" y="51054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1336" name="Rectangle 16"/>
          <p:cNvSpPr>
            <a:spLocks noChangeArrowheads="1"/>
          </p:cNvSpPr>
          <p:nvPr/>
        </p:nvSpPr>
        <p:spPr bwMode="auto">
          <a:xfrm>
            <a:off x="4572000" y="51054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37" name="Rectangle 17"/>
          <p:cNvSpPr>
            <a:spLocks noChangeArrowheads="1"/>
          </p:cNvSpPr>
          <p:nvPr/>
        </p:nvSpPr>
        <p:spPr bwMode="auto">
          <a:xfrm>
            <a:off x="4876800" y="51054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38" name="Rectangle 18"/>
          <p:cNvSpPr>
            <a:spLocks noChangeArrowheads="1"/>
          </p:cNvSpPr>
          <p:nvPr/>
        </p:nvSpPr>
        <p:spPr bwMode="auto">
          <a:xfrm>
            <a:off x="5181600" y="51054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39" name="Rectangle 19"/>
          <p:cNvSpPr>
            <a:spLocks noChangeArrowheads="1"/>
          </p:cNvSpPr>
          <p:nvPr/>
        </p:nvSpPr>
        <p:spPr bwMode="auto">
          <a:xfrm>
            <a:off x="5486400" y="51054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40" name="Rectangle 20"/>
          <p:cNvSpPr>
            <a:spLocks noChangeArrowheads="1"/>
          </p:cNvSpPr>
          <p:nvPr/>
        </p:nvSpPr>
        <p:spPr bwMode="auto">
          <a:xfrm>
            <a:off x="5791200" y="5105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41" name="Rectangle 21"/>
          <p:cNvSpPr>
            <a:spLocks noChangeArrowheads="1"/>
          </p:cNvSpPr>
          <p:nvPr/>
        </p:nvSpPr>
        <p:spPr bwMode="auto">
          <a:xfrm>
            <a:off x="6096000" y="5105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42" name="Rectangle 22"/>
          <p:cNvSpPr>
            <a:spLocks noChangeArrowheads="1"/>
          </p:cNvSpPr>
          <p:nvPr/>
        </p:nvSpPr>
        <p:spPr bwMode="auto">
          <a:xfrm>
            <a:off x="6400800" y="5105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43" name="Rectangle 23"/>
          <p:cNvSpPr>
            <a:spLocks noChangeArrowheads="1"/>
          </p:cNvSpPr>
          <p:nvPr/>
        </p:nvSpPr>
        <p:spPr bwMode="auto">
          <a:xfrm>
            <a:off x="6705600" y="5105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44" name="Rectangle 24"/>
          <p:cNvSpPr>
            <a:spLocks noChangeArrowheads="1"/>
          </p:cNvSpPr>
          <p:nvPr/>
        </p:nvSpPr>
        <p:spPr bwMode="auto">
          <a:xfrm>
            <a:off x="7010400" y="5105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45" name="Rectangle 25"/>
          <p:cNvSpPr>
            <a:spLocks noChangeArrowheads="1"/>
          </p:cNvSpPr>
          <p:nvPr/>
        </p:nvSpPr>
        <p:spPr bwMode="auto">
          <a:xfrm>
            <a:off x="7315200" y="5105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46" name="Rectangle 26"/>
          <p:cNvSpPr>
            <a:spLocks noChangeArrowheads="1"/>
          </p:cNvSpPr>
          <p:nvPr/>
        </p:nvSpPr>
        <p:spPr bwMode="auto">
          <a:xfrm>
            <a:off x="4267200" y="5426075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i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1302" name="Rectangle 51"/>
          <p:cNvSpPr>
            <a:spLocks noChangeArrowheads="1"/>
          </p:cNvSpPr>
          <p:nvPr/>
        </p:nvSpPr>
        <p:spPr bwMode="auto">
          <a:xfrm>
            <a:off x="2514600" y="35893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0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303" name="Rectangle 52"/>
          <p:cNvSpPr>
            <a:spLocks noChangeArrowheads="1"/>
          </p:cNvSpPr>
          <p:nvPr/>
        </p:nvSpPr>
        <p:spPr bwMode="auto">
          <a:xfrm>
            <a:off x="2819400" y="35893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1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304" name="Rectangle 53"/>
          <p:cNvSpPr>
            <a:spLocks noChangeArrowheads="1"/>
          </p:cNvSpPr>
          <p:nvPr/>
        </p:nvSpPr>
        <p:spPr bwMode="auto">
          <a:xfrm>
            <a:off x="3124200" y="35893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2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305" name="Rectangle 54"/>
          <p:cNvSpPr>
            <a:spLocks noChangeArrowheads="1"/>
          </p:cNvSpPr>
          <p:nvPr/>
        </p:nvSpPr>
        <p:spPr bwMode="auto">
          <a:xfrm>
            <a:off x="6121400" y="3589338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n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1306" name="Rectangle 55"/>
          <p:cNvSpPr>
            <a:spLocks noChangeArrowheads="1"/>
          </p:cNvSpPr>
          <p:nvPr/>
        </p:nvSpPr>
        <p:spPr bwMode="auto">
          <a:xfrm>
            <a:off x="2438400" y="3276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1307" name="Rectangle 56"/>
          <p:cNvSpPr>
            <a:spLocks noChangeArrowheads="1"/>
          </p:cNvSpPr>
          <p:nvPr/>
        </p:nvSpPr>
        <p:spPr bwMode="auto">
          <a:xfrm>
            <a:off x="2743200" y="3276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08" name="Rectangle 57"/>
          <p:cNvSpPr>
            <a:spLocks noChangeArrowheads="1"/>
          </p:cNvSpPr>
          <p:nvPr/>
        </p:nvSpPr>
        <p:spPr bwMode="auto">
          <a:xfrm>
            <a:off x="3048000" y="3276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09" name="Rectangle 58"/>
          <p:cNvSpPr>
            <a:spLocks noChangeArrowheads="1"/>
          </p:cNvSpPr>
          <p:nvPr/>
        </p:nvSpPr>
        <p:spPr bwMode="auto">
          <a:xfrm>
            <a:off x="3352800" y="3276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10" name="Rectangle 59"/>
          <p:cNvSpPr>
            <a:spLocks noChangeArrowheads="1"/>
          </p:cNvSpPr>
          <p:nvPr/>
        </p:nvSpPr>
        <p:spPr bwMode="auto">
          <a:xfrm>
            <a:off x="3657600" y="3276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11" name="Rectangle 60"/>
          <p:cNvSpPr>
            <a:spLocks noChangeArrowheads="1"/>
          </p:cNvSpPr>
          <p:nvPr/>
        </p:nvSpPr>
        <p:spPr bwMode="auto">
          <a:xfrm>
            <a:off x="3962400" y="3276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12" name="Rectangle 61"/>
          <p:cNvSpPr>
            <a:spLocks noChangeArrowheads="1"/>
          </p:cNvSpPr>
          <p:nvPr/>
        </p:nvSpPr>
        <p:spPr bwMode="auto">
          <a:xfrm>
            <a:off x="4267200" y="3276600"/>
            <a:ext cx="304800" cy="304800"/>
          </a:xfrm>
          <a:prstGeom prst="rect">
            <a:avLst/>
          </a:prstGeom>
          <a:solidFill>
            <a:schemeClr val="bg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i="1" dirty="0" smtClean="0">
                <a:latin typeface="Times New Roman" charset="0"/>
              </a:rPr>
              <a:t>e</a:t>
            </a:r>
            <a:endParaRPr lang="en-US" b="1" i="1" dirty="0">
              <a:latin typeface="Times New Roman" charset="0"/>
            </a:endParaRPr>
          </a:p>
        </p:txBody>
      </p:sp>
      <p:sp>
        <p:nvSpPr>
          <p:cNvPr id="11313" name="Rectangle 62"/>
          <p:cNvSpPr>
            <a:spLocks noChangeArrowheads="1"/>
          </p:cNvSpPr>
          <p:nvPr/>
        </p:nvSpPr>
        <p:spPr bwMode="auto">
          <a:xfrm>
            <a:off x="4572000" y="32766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14" name="Rectangle 63"/>
          <p:cNvSpPr>
            <a:spLocks noChangeArrowheads="1"/>
          </p:cNvSpPr>
          <p:nvPr/>
        </p:nvSpPr>
        <p:spPr bwMode="auto">
          <a:xfrm>
            <a:off x="4876800" y="32766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15" name="Rectangle 64"/>
          <p:cNvSpPr>
            <a:spLocks noChangeArrowheads="1"/>
          </p:cNvSpPr>
          <p:nvPr/>
        </p:nvSpPr>
        <p:spPr bwMode="auto">
          <a:xfrm>
            <a:off x="5181600" y="32766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16" name="Rectangle 65"/>
          <p:cNvSpPr>
            <a:spLocks noChangeArrowheads="1"/>
          </p:cNvSpPr>
          <p:nvPr/>
        </p:nvSpPr>
        <p:spPr bwMode="auto">
          <a:xfrm>
            <a:off x="5486400" y="32766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17" name="Rectangle 66"/>
          <p:cNvSpPr>
            <a:spLocks noChangeArrowheads="1"/>
          </p:cNvSpPr>
          <p:nvPr/>
        </p:nvSpPr>
        <p:spPr bwMode="auto">
          <a:xfrm>
            <a:off x="5791200" y="32766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18" name="Rectangle 67"/>
          <p:cNvSpPr>
            <a:spLocks noChangeArrowheads="1"/>
          </p:cNvSpPr>
          <p:nvPr/>
        </p:nvSpPr>
        <p:spPr bwMode="auto">
          <a:xfrm>
            <a:off x="6096000" y="3276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19" name="Rectangle 68"/>
          <p:cNvSpPr>
            <a:spLocks noChangeArrowheads="1"/>
          </p:cNvSpPr>
          <p:nvPr/>
        </p:nvSpPr>
        <p:spPr bwMode="auto">
          <a:xfrm>
            <a:off x="6400800" y="3276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20" name="Rectangle 69"/>
          <p:cNvSpPr>
            <a:spLocks noChangeArrowheads="1"/>
          </p:cNvSpPr>
          <p:nvPr/>
        </p:nvSpPr>
        <p:spPr bwMode="auto">
          <a:xfrm>
            <a:off x="6705600" y="3276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21" name="Rectangle 70"/>
          <p:cNvSpPr>
            <a:spLocks noChangeArrowheads="1"/>
          </p:cNvSpPr>
          <p:nvPr/>
        </p:nvSpPr>
        <p:spPr bwMode="auto">
          <a:xfrm>
            <a:off x="7010400" y="3276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22" name="Rectangle 71"/>
          <p:cNvSpPr>
            <a:spLocks noChangeArrowheads="1"/>
          </p:cNvSpPr>
          <p:nvPr/>
        </p:nvSpPr>
        <p:spPr bwMode="auto">
          <a:xfrm>
            <a:off x="7315200" y="3276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323" name="Rectangle 72"/>
          <p:cNvSpPr>
            <a:spLocks noChangeArrowheads="1"/>
          </p:cNvSpPr>
          <p:nvPr/>
        </p:nvSpPr>
        <p:spPr bwMode="auto">
          <a:xfrm>
            <a:off x="4267200" y="3597275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i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1274" name="Rectangle 28"/>
          <p:cNvSpPr>
            <a:spLocks noChangeArrowheads="1"/>
          </p:cNvSpPr>
          <p:nvPr/>
        </p:nvSpPr>
        <p:spPr bwMode="auto">
          <a:xfrm>
            <a:off x="2514600" y="45037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0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275" name="Rectangle 29"/>
          <p:cNvSpPr>
            <a:spLocks noChangeArrowheads="1"/>
          </p:cNvSpPr>
          <p:nvPr/>
        </p:nvSpPr>
        <p:spPr bwMode="auto">
          <a:xfrm>
            <a:off x="2819400" y="45037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1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276" name="Rectangle 30"/>
          <p:cNvSpPr>
            <a:spLocks noChangeArrowheads="1"/>
          </p:cNvSpPr>
          <p:nvPr/>
        </p:nvSpPr>
        <p:spPr bwMode="auto">
          <a:xfrm>
            <a:off x="3124200" y="45037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2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277" name="Rectangle 31"/>
          <p:cNvSpPr>
            <a:spLocks noChangeArrowheads="1"/>
          </p:cNvSpPr>
          <p:nvPr/>
        </p:nvSpPr>
        <p:spPr bwMode="auto">
          <a:xfrm>
            <a:off x="6105525" y="4503738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n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1278" name="Rectangle 32"/>
          <p:cNvSpPr>
            <a:spLocks noChangeArrowheads="1"/>
          </p:cNvSpPr>
          <p:nvPr/>
        </p:nvSpPr>
        <p:spPr bwMode="auto">
          <a:xfrm>
            <a:off x="2438400" y="4191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1279" name="Rectangle 33"/>
          <p:cNvSpPr>
            <a:spLocks noChangeArrowheads="1"/>
          </p:cNvSpPr>
          <p:nvPr/>
        </p:nvSpPr>
        <p:spPr bwMode="auto">
          <a:xfrm>
            <a:off x="2743200" y="4191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0" name="Rectangle 34"/>
          <p:cNvSpPr>
            <a:spLocks noChangeArrowheads="1"/>
          </p:cNvSpPr>
          <p:nvPr/>
        </p:nvSpPr>
        <p:spPr bwMode="auto">
          <a:xfrm>
            <a:off x="3048000" y="4191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1" name="Rectangle 35"/>
          <p:cNvSpPr>
            <a:spLocks noChangeArrowheads="1"/>
          </p:cNvSpPr>
          <p:nvPr/>
        </p:nvSpPr>
        <p:spPr bwMode="auto">
          <a:xfrm>
            <a:off x="3352800" y="4191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2" name="Rectangle 36"/>
          <p:cNvSpPr>
            <a:spLocks noChangeArrowheads="1"/>
          </p:cNvSpPr>
          <p:nvPr/>
        </p:nvSpPr>
        <p:spPr bwMode="auto">
          <a:xfrm>
            <a:off x="3657600" y="4191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3" name="Rectangle 37"/>
          <p:cNvSpPr>
            <a:spLocks noChangeArrowheads="1"/>
          </p:cNvSpPr>
          <p:nvPr/>
        </p:nvSpPr>
        <p:spPr bwMode="auto">
          <a:xfrm>
            <a:off x="3962400" y="4191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4" name="Rectangle 38"/>
          <p:cNvSpPr>
            <a:spLocks noChangeArrowheads="1"/>
          </p:cNvSpPr>
          <p:nvPr/>
        </p:nvSpPr>
        <p:spPr bwMode="auto">
          <a:xfrm>
            <a:off x="4267200" y="4191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1285" name="Rectangle 39"/>
          <p:cNvSpPr>
            <a:spLocks noChangeArrowheads="1"/>
          </p:cNvSpPr>
          <p:nvPr/>
        </p:nvSpPr>
        <p:spPr bwMode="auto">
          <a:xfrm>
            <a:off x="4572000" y="4191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6" name="Rectangle 40"/>
          <p:cNvSpPr>
            <a:spLocks noChangeArrowheads="1"/>
          </p:cNvSpPr>
          <p:nvPr/>
        </p:nvSpPr>
        <p:spPr bwMode="auto">
          <a:xfrm>
            <a:off x="4876800" y="4191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7" name="Rectangle 41"/>
          <p:cNvSpPr>
            <a:spLocks noChangeArrowheads="1"/>
          </p:cNvSpPr>
          <p:nvPr/>
        </p:nvSpPr>
        <p:spPr bwMode="auto">
          <a:xfrm>
            <a:off x="5181600" y="4191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8" name="Rectangle 42"/>
          <p:cNvSpPr>
            <a:spLocks noChangeArrowheads="1"/>
          </p:cNvSpPr>
          <p:nvPr/>
        </p:nvSpPr>
        <p:spPr bwMode="auto">
          <a:xfrm>
            <a:off x="5486400" y="4191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9" name="Rectangle 43"/>
          <p:cNvSpPr>
            <a:spLocks noChangeArrowheads="1"/>
          </p:cNvSpPr>
          <p:nvPr/>
        </p:nvSpPr>
        <p:spPr bwMode="auto">
          <a:xfrm>
            <a:off x="5791200" y="4191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90" name="Rectangle 44"/>
          <p:cNvSpPr>
            <a:spLocks noChangeArrowheads="1"/>
          </p:cNvSpPr>
          <p:nvPr/>
        </p:nvSpPr>
        <p:spPr bwMode="auto">
          <a:xfrm>
            <a:off x="6096000" y="4191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91" name="Rectangle 45"/>
          <p:cNvSpPr>
            <a:spLocks noChangeArrowheads="1"/>
          </p:cNvSpPr>
          <p:nvPr/>
        </p:nvSpPr>
        <p:spPr bwMode="auto">
          <a:xfrm>
            <a:off x="6400800" y="4191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92" name="Rectangle 46"/>
          <p:cNvSpPr>
            <a:spLocks noChangeArrowheads="1"/>
          </p:cNvSpPr>
          <p:nvPr/>
        </p:nvSpPr>
        <p:spPr bwMode="auto">
          <a:xfrm>
            <a:off x="6705600" y="4191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93" name="Rectangle 47"/>
          <p:cNvSpPr>
            <a:spLocks noChangeArrowheads="1"/>
          </p:cNvSpPr>
          <p:nvPr/>
        </p:nvSpPr>
        <p:spPr bwMode="auto">
          <a:xfrm>
            <a:off x="7010400" y="4191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94" name="Rectangle 48"/>
          <p:cNvSpPr>
            <a:spLocks noChangeArrowheads="1"/>
          </p:cNvSpPr>
          <p:nvPr/>
        </p:nvSpPr>
        <p:spPr bwMode="auto">
          <a:xfrm>
            <a:off x="7315200" y="4191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95" name="Rectangle 49"/>
          <p:cNvSpPr>
            <a:spLocks noChangeArrowheads="1"/>
          </p:cNvSpPr>
          <p:nvPr/>
        </p:nvSpPr>
        <p:spPr bwMode="auto">
          <a:xfrm>
            <a:off x="4267200" y="4511675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i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296" name="AutoShape 73"/>
          <p:cNvCxnSpPr>
            <a:cxnSpLocks noChangeShapeType="1"/>
            <a:stCxn id="11284" idx="0"/>
            <a:endCxn id="11285" idx="0"/>
          </p:cNvCxnSpPr>
          <p:nvPr/>
        </p:nvCxnSpPr>
        <p:spPr bwMode="auto">
          <a:xfrm rot="5400000" flipV="1">
            <a:off x="4570413" y="4021138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1297" name="AutoShape 74"/>
          <p:cNvCxnSpPr>
            <a:cxnSpLocks noChangeShapeType="1"/>
          </p:cNvCxnSpPr>
          <p:nvPr/>
        </p:nvCxnSpPr>
        <p:spPr bwMode="auto">
          <a:xfrm rot="5400000" flipV="1">
            <a:off x="4875213" y="4040188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1298" name="AutoShape 75"/>
          <p:cNvCxnSpPr>
            <a:cxnSpLocks noChangeShapeType="1"/>
          </p:cNvCxnSpPr>
          <p:nvPr/>
        </p:nvCxnSpPr>
        <p:spPr bwMode="auto">
          <a:xfrm rot="5400000" flipV="1">
            <a:off x="5180013" y="4040188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1299" name="AutoShape 76"/>
          <p:cNvCxnSpPr>
            <a:cxnSpLocks noChangeShapeType="1"/>
          </p:cNvCxnSpPr>
          <p:nvPr/>
        </p:nvCxnSpPr>
        <p:spPr bwMode="auto">
          <a:xfrm rot="5400000" flipV="1">
            <a:off x="5484813" y="4040188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1300" name="AutoShape 77"/>
          <p:cNvCxnSpPr>
            <a:cxnSpLocks noChangeShapeType="1"/>
          </p:cNvCxnSpPr>
          <p:nvPr/>
        </p:nvCxnSpPr>
        <p:spPr bwMode="auto">
          <a:xfrm rot="5400000" flipV="1">
            <a:off x="5789613" y="4040188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1272" name="Date Placeholder 8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  <p:sp>
        <p:nvSpPr>
          <p:cNvPr id="84" name="Rectangle 55"/>
          <p:cNvSpPr>
            <a:spLocks noChangeArrowheads="1"/>
          </p:cNvSpPr>
          <p:nvPr/>
        </p:nvSpPr>
        <p:spPr bwMode="auto">
          <a:xfrm>
            <a:off x="1150937" y="3200400"/>
            <a:ext cx="11350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accent2"/>
                </a:solidFill>
                <a:latin typeface="Times New Roman" charset="0"/>
              </a:rPr>
              <a:t>board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85" name="Rectangle 78"/>
          <p:cNvSpPr>
            <a:spLocks noChangeArrowheads="1"/>
          </p:cNvSpPr>
          <p:nvPr/>
        </p:nvSpPr>
        <p:spPr bwMode="auto">
          <a:xfrm>
            <a:off x="1143000" y="4114801"/>
            <a:ext cx="11350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accent2"/>
                </a:solidFill>
                <a:latin typeface="Times New Roman" charset="0"/>
              </a:rPr>
              <a:t>board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86" name="Rectangle 78"/>
          <p:cNvSpPr>
            <a:spLocks noChangeArrowheads="1"/>
          </p:cNvSpPr>
          <p:nvPr/>
        </p:nvSpPr>
        <p:spPr bwMode="auto">
          <a:xfrm>
            <a:off x="1143000" y="5105400"/>
            <a:ext cx="11350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accent2"/>
                </a:solidFill>
                <a:latin typeface="Times New Roman" charset="0"/>
              </a:rPr>
              <a:t>board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ahoma" charset="0"/>
              </a:rPr>
              <a:t>Java Example</a:t>
            </a:r>
            <a:endParaRPr lang="en-US" dirty="0">
              <a:latin typeface="Tahoma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Arrays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6B892B-653F-8642-98BD-2CC6242338DE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21" y="1905000"/>
            <a:ext cx="8155279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549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Two-Dimensional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</a:t>
            </a:r>
            <a:r>
              <a:rPr lang="en-US" dirty="0"/>
              <a:t>can define a two-dimensional array to be an array with each of its cells being another array. </a:t>
            </a:r>
            <a:endParaRPr lang="en-US" dirty="0" smtClean="0"/>
          </a:p>
          <a:p>
            <a:r>
              <a:rPr lang="en-US" dirty="0" smtClean="0"/>
              <a:t>Such </a:t>
            </a:r>
            <a:r>
              <a:rPr lang="en-US" dirty="0"/>
              <a:t>a two-dimensional array is sometimes also called a matrix. </a:t>
            </a:r>
            <a:endParaRPr lang="en-US" dirty="0" smtClean="0"/>
          </a:p>
          <a:p>
            <a:pPr lvl="1"/>
            <a:r>
              <a:rPr lang="en-US" dirty="0" smtClean="0"/>
              <a:t>In </a:t>
            </a:r>
            <a:r>
              <a:rPr lang="en-US" dirty="0"/>
              <a:t>Java, we may </a:t>
            </a:r>
            <a:r>
              <a:rPr lang="en-US" dirty="0" smtClean="0"/>
              <a:t>declare </a:t>
            </a:r>
            <a:r>
              <a:rPr lang="en-US" dirty="0"/>
              <a:t>a </a:t>
            </a:r>
            <a:r>
              <a:rPr lang="en-US" dirty="0" smtClean="0"/>
              <a:t>two-dimensional array </a:t>
            </a:r>
            <a:r>
              <a:rPr lang="en-US" dirty="0"/>
              <a:t>as follows</a:t>
            </a:r>
            <a:r>
              <a:rPr lang="en-US" dirty="0" smtClean="0"/>
              <a:t>:</a:t>
            </a:r>
          </a:p>
          <a:p>
            <a:pPr lvl="1"/>
            <a:r>
              <a:rPr lang="en-US" b="1" dirty="0" err="1"/>
              <a:t>int</a:t>
            </a:r>
            <a:r>
              <a:rPr lang="en-US" dirty="0"/>
              <a:t>[ ][ ] data = </a:t>
            </a:r>
            <a:r>
              <a:rPr lang="en-US" b="1" dirty="0"/>
              <a:t>new</a:t>
            </a:r>
            <a:r>
              <a:rPr lang="en-US" dirty="0"/>
              <a:t> </a:t>
            </a:r>
            <a:r>
              <a:rPr lang="en-US" b="1" dirty="0" err="1"/>
              <a:t>int</a:t>
            </a:r>
            <a:r>
              <a:rPr lang="en-US" dirty="0"/>
              <a:t>[8][10]; </a:t>
            </a:r>
            <a:endParaRPr lang="en-US" dirty="0" smtClean="0"/>
          </a:p>
          <a:p>
            <a:pPr lvl="1"/>
            <a:r>
              <a:rPr lang="en-US" b="1" dirty="0" err="1"/>
              <a:t>int</a:t>
            </a:r>
            <a:r>
              <a:rPr lang="en-US" dirty="0" smtClean="0"/>
              <a:t>[ ][ ] </a:t>
            </a:r>
            <a:r>
              <a:rPr lang="en-US" dirty="0"/>
              <a:t>b = {{1, 2}, {3, 4}};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Arrays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621E6-FCEB-7C4E-BF29-3B284E7491F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2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Two-Dimensional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2362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two-dimensional array can </a:t>
            </a:r>
            <a:r>
              <a:rPr lang="en-US" dirty="0" smtClean="0"/>
              <a:t>be </a:t>
            </a:r>
            <a:r>
              <a:rPr lang="en-US" dirty="0"/>
              <a:t>used to store objects, which is especially convenient for programming sketches that involve some sort of “grid” or “board.”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Arrays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621E6-FCEB-7C4E-BF29-3B284E7491F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1028" name="Picture 4" descr="https://ars.els-cdn.com/content/image/3-s2.0-B9780123944436500135-u13-13-978012394443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840049"/>
            <a:ext cx="180022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wo Dimensional Arrays in 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188607"/>
            <a:ext cx="4067175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917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"For" Statements to manipulate Multidimensional-Array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sz="6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following nested for statement totals the values of all the elements in array a: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Arrays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621E6-FCEB-7C4E-BF29-3B284E7491F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43743"/>
            <a:ext cx="6749838" cy="6035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41024"/>
            <a:ext cx="1627902" cy="101644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77" y="4480770"/>
            <a:ext cx="7234238" cy="169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95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2487</TotalTime>
  <Words>799</Words>
  <Application>Microsoft Office PowerPoint</Application>
  <PresentationFormat>On-screen Show (4:3)</PresentationFormat>
  <Paragraphs>148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ＭＳ Ｐゴシック</vt:lpstr>
      <vt:lpstr>Symbol</vt:lpstr>
      <vt:lpstr>Tahoma</vt:lpstr>
      <vt:lpstr>Times New Roman</vt:lpstr>
      <vt:lpstr>Wingdings</vt:lpstr>
      <vt:lpstr>Blueprint</vt:lpstr>
      <vt:lpstr>Arrays</vt:lpstr>
      <vt:lpstr>Array Definition</vt:lpstr>
      <vt:lpstr>Array Length and Capacity</vt:lpstr>
      <vt:lpstr>Declaring Arrays (first way)</vt:lpstr>
      <vt:lpstr>Declaring Arrays (second way)</vt:lpstr>
      <vt:lpstr>Arrays of Characters or Object References</vt:lpstr>
      <vt:lpstr>Java Example: Game Entries</vt:lpstr>
      <vt:lpstr>Java Example: Scoreboard</vt:lpstr>
      <vt:lpstr>Adding an Entry</vt:lpstr>
      <vt:lpstr>Java Example</vt:lpstr>
      <vt:lpstr>Removing an Entry</vt:lpstr>
      <vt:lpstr>Java Example</vt:lpstr>
      <vt:lpstr>Two-Dimensional Arrays</vt:lpstr>
      <vt:lpstr>Two-Dimensional Arrays</vt:lpstr>
      <vt:lpstr>"For" Statements to manipulate Multidimensional-Array</vt:lpstr>
    </vt:vector>
  </TitlesOfParts>
  <Company>Brown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Roberto Tamassia</dc:creator>
  <cp:lastModifiedBy>Houssein Dhayné</cp:lastModifiedBy>
  <cp:revision>326</cp:revision>
  <dcterms:created xsi:type="dcterms:W3CDTF">2002-01-21T02:22:10Z</dcterms:created>
  <dcterms:modified xsi:type="dcterms:W3CDTF">2021-10-17T10:22:39Z</dcterms:modified>
</cp:coreProperties>
</file>