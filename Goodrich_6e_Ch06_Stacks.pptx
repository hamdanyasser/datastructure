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bmp" ContentType="image/bmp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handoutMasterIdLst>
    <p:handoutMasterId r:id="rId23"/>
  </p:handoutMasterIdLst>
  <p:sldIdLst>
    <p:sldId id="256" r:id="rId2"/>
    <p:sldId id="281" r:id="rId3"/>
    <p:sldId id="282" r:id="rId4"/>
    <p:sldId id="298" r:id="rId5"/>
    <p:sldId id="311" r:id="rId6"/>
    <p:sldId id="283" r:id="rId7"/>
    <p:sldId id="290" r:id="rId8"/>
    <p:sldId id="291" r:id="rId9"/>
    <p:sldId id="284" r:id="rId10"/>
    <p:sldId id="297" r:id="rId11"/>
    <p:sldId id="258" r:id="rId12"/>
    <p:sldId id="299" r:id="rId13"/>
    <p:sldId id="305" r:id="rId14"/>
    <p:sldId id="300" r:id="rId15"/>
    <p:sldId id="312" r:id="rId16"/>
    <p:sldId id="302" r:id="rId17"/>
    <p:sldId id="313" r:id="rId18"/>
    <p:sldId id="308" r:id="rId19"/>
    <p:sldId id="309" r:id="rId20"/>
    <p:sldId id="310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674F6"/>
    <a:srgbClr val="6289F8"/>
    <a:srgbClr val="8097F8"/>
    <a:srgbClr val="2C61F6"/>
    <a:srgbClr val="F8F0D0"/>
    <a:srgbClr val="F2E4AA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8612" autoAdjust="0"/>
  </p:normalViewPr>
  <p:slideViewPr>
    <p:cSldViewPr>
      <p:cViewPr varScale="1">
        <p:scale>
          <a:sx n="91" d="100"/>
          <a:sy n="91" d="100"/>
        </p:scale>
        <p:origin x="21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2" d="100"/>
          <a:sy n="122" d="100"/>
        </p:scale>
        <p:origin x="-96" y="-115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3" Type="http://schemas.openxmlformats.org/officeDocument/2006/relationships/slide" Target="slides/slide4.xml"/><Relationship Id="rId7" Type="http://schemas.openxmlformats.org/officeDocument/2006/relationships/slide" Target="slides/slide8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5" Type="http://schemas.openxmlformats.org/officeDocument/2006/relationships/slide" Target="slides/slide6.xml"/><Relationship Id="rId10" Type="http://schemas.openxmlformats.org/officeDocument/2006/relationships/slide" Target="slides/slide11.xml"/><Relationship Id="rId4" Type="http://schemas.openxmlformats.org/officeDocument/2006/relationships/slide" Target="slides/slide5.xml"/><Relationship Id="rId9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248" y="0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422E80D1-7375-1544-859B-C3E9DE3823F8}" type="datetime1">
              <a:rPr lang="en-US" smtClean="0"/>
              <a:t>11/23/2021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974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248" y="9121974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305FCB8-D3D2-A948-B7CB-607CD2F4AE9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0770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248" y="0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60740C07-AAB4-B245-8031-DC1F36D63B50}" type="datetime1">
              <a:rPr lang="en-US" smtClean="0"/>
              <a:t>11/23/2021</a:t>
            </a:fld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2313"/>
            <a:ext cx="4797425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876" y="4560988"/>
            <a:ext cx="5365448" cy="4317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974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248" y="9121974"/>
            <a:ext cx="3168952" cy="47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9DB2375-A743-6646-8A3D-0DF1990C08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4271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B2375-A743-6646-8A3D-0DF1990C087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A3999370-1D3B-8040-9B9F-39A8BF03A97D}" type="datetime1">
              <a:rPr lang="en-US" smtClean="0"/>
              <a:t>11/23/2021</a:t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09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B2375-A743-6646-8A3D-0DF1990C087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36DEF1D6-5251-5B40-B976-412A101DDBFB}" type="datetime1">
              <a:rPr lang="en-US" smtClean="0"/>
              <a:t>11/23/2021</a:t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98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ＭＳ Ｐゴシック" charset="0"/>
                <a:cs typeface="+mn-cs"/>
              </a:rPr>
              <a:t>We make a left-to-right pass through the raw string, using index j to track our progress. The </a:t>
            </a:r>
            <a:r>
              <a:rPr lang="en-US" sz="4000" b="0" i="0" u="none" strike="noStrike" kern="1200" baseline="0" dirty="0" err="1" smtClean="0">
                <a:solidFill>
                  <a:schemeClr val="tx1"/>
                </a:solidFill>
                <a:latin typeface="Times New Roman" pitchFamily="18" charset="0"/>
                <a:ea typeface="ＭＳ Ｐゴシック" charset="0"/>
                <a:cs typeface="+mn-cs"/>
              </a:rPr>
              <a:t>indexOf</a:t>
            </a:r>
            <a:r>
              <a:rPr lang="en-US" sz="40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ＭＳ Ｐゴシック" charset="0"/>
                <a:cs typeface="+mn-cs"/>
              </a:rPr>
              <a:t> method of the String class, which optionally accepts a</a:t>
            </a:r>
          </a:p>
          <a:p>
            <a:r>
              <a:rPr lang="en-US" sz="40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ＭＳ Ｐゴシック" charset="0"/>
                <a:cs typeface="+mn-cs"/>
              </a:rPr>
              <a:t>starting index as a second parameter, locates the '&lt;' and '&gt;' characters that define the tags. Method substring, also of the String class, returns the substring starting</a:t>
            </a:r>
          </a:p>
          <a:p>
            <a:r>
              <a:rPr lang="en-US" sz="40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ＭＳ Ｐゴシック" charset="0"/>
                <a:cs typeface="+mn-cs"/>
              </a:rPr>
              <a:t>at a given index and optionally ending right before another given index. Opening tags are pushed onto the stack, and matched against closing tags as they are popped</a:t>
            </a:r>
          </a:p>
          <a:p>
            <a:r>
              <a:rPr lang="en-US" sz="40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ＭＳ Ｐゴシック" charset="0"/>
                <a:cs typeface="+mn-cs"/>
              </a:rPr>
              <a:t>from the stack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B2375-A743-6646-8A3D-0DF1990C087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6F0BC9AA-EED3-0343-A3BF-3A7889536EAB}" type="datetime1">
              <a:rPr lang="en-US" smtClean="0"/>
              <a:t>11/23/2021</a:t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2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8624BA0-AF11-AA42-82C2-80263BE6BDF1}" type="slidenum">
              <a:rPr lang="en-US" sz="1300"/>
              <a:pPr eaLnBrk="1" hangingPunct="1"/>
              <a:t>18</a:t>
            </a:fld>
            <a:endParaRPr lang="en-US" sz="13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DC80194-BC66-D64B-A30B-E1C253374DA0}" type="datetime1">
              <a:rPr lang="en-US" smtClean="0"/>
              <a:t>11/23/2021</a:t>
            </a:fld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22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521BADA-9343-BF4D-9DD9-580A7DB0B558}" type="slidenum">
              <a:rPr lang="en-US" sz="1300"/>
              <a:pPr eaLnBrk="1" hangingPunct="1"/>
              <a:t>19</a:t>
            </a:fld>
            <a:endParaRPr lang="en-US" sz="13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5F1E3ED2-C916-B94A-ADA2-A670EF98532F}" type="datetime1">
              <a:rPr lang="en-US" smtClean="0"/>
              <a:t>11/23/2021</a:t>
            </a:fld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87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9EC4645-6304-7C4C-8CD9-AE663D42B557}" type="slidenum">
              <a:rPr lang="en-US" sz="1300"/>
              <a:pPr eaLnBrk="1" hangingPunct="1"/>
              <a:t>20</a:t>
            </a:fld>
            <a:endParaRPr lang="en-US" sz="13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403BB182-C915-5344-9315-8B1A73FF2542}" type="datetime1">
              <a:rPr lang="en-US" smtClean="0"/>
              <a:t>11/23/2021</a:t>
            </a:fld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63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Date Placeholder 7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70" name="Slide Number Placeholder 7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E7BC13-1F02-C145-843E-D32AC47D714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1" name="Footer Placeholder 7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Stacks</a:t>
            </a:r>
          </a:p>
        </p:txBody>
      </p:sp>
    </p:spTree>
    <p:extLst>
      <p:ext uri="{BB962C8B-B14F-4D97-AF65-F5344CB8AC3E}">
        <p14:creationId xmlns:p14="http://schemas.microsoft.com/office/powerpoint/2010/main" val="190172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buSzPct val="60000"/>
              <a:buFont typeface="Wingdings" pitchFamily="2" charset="2"/>
              <a:buChar char="q"/>
              <a:defRPr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A9CF00-2E40-4B4F-9F53-DC88D6343B9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Stacks</a:t>
            </a:r>
          </a:p>
        </p:txBody>
      </p:sp>
    </p:spTree>
    <p:extLst>
      <p:ext uri="{BB962C8B-B14F-4D97-AF65-F5344CB8AC3E}">
        <p14:creationId xmlns:p14="http://schemas.microsoft.com/office/powerpoint/2010/main" val="321479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286B1BB-FEED-9C47-A5D3-54C688D2885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Stacks</a:t>
            </a:r>
          </a:p>
        </p:txBody>
      </p:sp>
    </p:spTree>
    <p:extLst>
      <p:ext uri="{BB962C8B-B14F-4D97-AF65-F5344CB8AC3E}">
        <p14:creationId xmlns:p14="http://schemas.microsoft.com/office/powerpoint/2010/main" val="124921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852F20D-F923-1C42-929D-40BF7868743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Stacks</a:t>
            </a:r>
          </a:p>
        </p:txBody>
      </p:sp>
    </p:spTree>
    <p:extLst>
      <p:ext uri="{BB962C8B-B14F-4D97-AF65-F5344CB8AC3E}">
        <p14:creationId xmlns:p14="http://schemas.microsoft.com/office/powerpoint/2010/main" val="367438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Stacks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6D9B0E-753C-594B-965C-ADD536DE14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4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01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2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3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6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2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6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7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3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09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0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8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5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4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5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6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7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8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19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0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1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2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2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3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4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5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5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  <p:sp>
              <p:nvSpPr>
                <p:cNvPr id="415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pitchFamily="34" charset="0"/>
                    <a:ea typeface="+mn-ea"/>
                  </a:endParaRPr>
                </a:p>
              </p:txBody>
            </p:sp>
          </p:grpSp>
        </p:grpSp>
        <p:sp>
          <p:nvSpPr>
            <p:cNvPr id="415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sp>
          <p:nvSpPr>
            <p:cNvPr id="415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pitchFamily="34" charset="0"/>
                <a:ea typeface="+mn-ea"/>
              </a:endParaRPr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5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415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  <p:sp>
            <p:nvSpPr>
              <p:cNvPr id="415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pitchFamily="34" charset="0"/>
                  <a:ea typeface="+mn-ea"/>
                </a:endParaRPr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248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Stacks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5300A62-37A5-014F-89BD-2CDD74DA898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q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n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charset="0"/>
        <a:buChar char="w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mp"/><Relationship Id="rId2" Type="http://schemas.openxmlformats.org/officeDocument/2006/relationships/image" Target="../media/image3.b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7526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Stacks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6629400" cy="99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for use with the textbook </a:t>
            </a:r>
            <a:r>
              <a:rPr lang="en-US" sz="1800" dirty="0" smtClean="0">
                <a:solidFill>
                  <a:schemeClr val="tx2"/>
                </a:solidFill>
              </a:rPr>
              <a:t>Data Structures and Algorithms in Java, 6</a:t>
            </a:r>
            <a:r>
              <a:rPr lang="en-US" sz="1800" baseline="30000" dirty="0" smtClean="0">
                <a:solidFill>
                  <a:schemeClr val="tx2"/>
                </a:solidFill>
              </a:rPr>
              <a:t>th</a:t>
            </a:r>
            <a:r>
              <a:rPr lang="en-US" sz="1800" dirty="0" smtClean="0">
                <a:solidFill>
                  <a:schemeClr val="tx2"/>
                </a:solidFill>
              </a:rPr>
              <a:t> edition</a:t>
            </a:r>
            <a:r>
              <a:rPr lang="en-US" sz="1800" dirty="0" smtClean="0"/>
              <a:t>, by M. T. Goodrich, R. Tamassia, and M. H. Goldwasser, Wiley, 2014</a:t>
            </a:r>
            <a:endParaRPr lang="en-US" sz="1800" dirty="0"/>
          </a:p>
        </p:txBody>
      </p:sp>
      <p:sp>
        <p:nvSpPr>
          <p:cNvPr id="10246" name="Date Placeholder 17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  <p:sp>
        <p:nvSpPr>
          <p:cNvPr id="10247" name="Slide Number Placeholder 18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0B60466-DB2B-9246-A935-F0E348799C1E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10248" name="Footer Placeholder 19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grpSp>
        <p:nvGrpSpPr>
          <p:cNvPr id="10243" name="Group 167"/>
          <p:cNvGrpSpPr>
            <a:grpSpLocks/>
          </p:cNvGrpSpPr>
          <p:nvPr/>
        </p:nvGrpSpPr>
        <p:grpSpPr bwMode="auto">
          <a:xfrm>
            <a:off x="2514600" y="3886200"/>
            <a:ext cx="1295400" cy="1066800"/>
            <a:chOff x="1440" y="2448"/>
            <a:chExt cx="816" cy="672"/>
          </a:xfrm>
        </p:grpSpPr>
        <p:sp>
          <p:nvSpPr>
            <p:cNvPr id="10257" name="AutoShape 159"/>
            <p:cNvSpPr>
              <a:spLocks noChangeArrowheads="1"/>
            </p:cNvSpPr>
            <p:nvPr/>
          </p:nvSpPr>
          <p:spPr bwMode="auto">
            <a:xfrm>
              <a:off x="1488" y="2880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E4BB0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8" name="AutoShape 160"/>
            <p:cNvSpPr>
              <a:spLocks noChangeArrowheads="1"/>
            </p:cNvSpPr>
            <p:nvPr/>
          </p:nvSpPr>
          <p:spPr bwMode="auto">
            <a:xfrm>
              <a:off x="1584" y="2736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E4BB0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9" name="AutoShape 161"/>
            <p:cNvSpPr>
              <a:spLocks noChangeArrowheads="1"/>
            </p:cNvSpPr>
            <p:nvPr/>
          </p:nvSpPr>
          <p:spPr bwMode="auto">
            <a:xfrm>
              <a:off x="1440" y="2592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E4BB0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0" name="AutoShape 162"/>
            <p:cNvSpPr>
              <a:spLocks noChangeArrowheads="1"/>
            </p:cNvSpPr>
            <p:nvPr/>
          </p:nvSpPr>
          <p:spPr bwMode="auto">
            <a:xfrm>
              <a:off x="1584" y="2448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E4BB0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44" name="Group 168"/>
          <p:cNvGrpSpPr>
            <a:grpSpLocks/>
          </p:cNvGrpSpPr>
          <p:nvPr/>
        </p:nvGrpSpPr>
        <p:grpSpPr bwMode="auto">
          <a:xfrm flipH="1">
            <a:off x="4191000" y="3886200"/>
            <a:ext cx="1295400" cy="1066800"/>
            <a:chOff x="1440" y="2448"/>
            <a:chExt cx="816" cy="672"/>
          </a:xfrm>
        </p:grpSpPr>
        <p:sp>
          <p:nvSpPr>
            <p:cNvPr id="10253" name="AutoShape 169"/>
            <p:cNvSpPr>
              <a:spLocks noChangeArrowheads="1"/>
            </p:cNvSpPr>
            <p:nvPr/>
          </p:nvSpPr>
          <p:spPr bwMode="auto">
            <a:xfrm>
              <a:off x="1488" y="2880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4" name="AutoShape 170"/>
            <p:cNvSpPr>
              <a:spLocks noChangeArrowheads="1"/>
            </p:cNvSpPr>
            <p:nvPr/>
          </p:nvSpPr>
          <p:spPr bwMode="auto">
            <a:xfrm>
              <a:off x="1584" y="2736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AutoShape 171"/>
            <p:cNvSpPr>
              <a:spLocks noChangeArrowheads="1"/>
            </p:cNvSpPr>
            <p:nvPr/>
          </p:nvSpPr>
          <p:spPr bwMode="auto">
            <a:xfrm>
              <a:off x="1440" y="2592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6" name="AutoShape 172"/>
            <p:cNvSpPr>
              <a:spLocks noChangeArrowheads="1"/>
            </p:cNvSpPr>
            <p:nvPr/>
          </p:nvSpPr>
          <p:spPr bwMode="auto">
            <a:xfrm>
              <a:off x="1584" y="2448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245" name="Group 173"/>
          <p:cNvGrpSpPr>
            <a:grpSpLocks/>
          </p:cNvGrpSpPr>
          <p:nvPr/>
        </p:nvGrpSpPr>
        <p:grpSpPr bwMode="auto">
          <a:xfrm>
            <a:off x="5867400" y="3886200"/>
            <a:ext cx="1295400" cy="1066800"/>
            <a:chOff x="1440" y="2448"/>
            <a:chExt cx="816" cy="672"/>
          </a:xfrm>
        </p:grpSpPr>
        <p:sp>
          <p:nvSpPr>
            <p:cNvPr id="10249" name="AutoShape 174"/>
            <p:cNvSpPr>
              <a:spLocks noChangeArrowheads="1"/>
            </p:cNvSpPr>
            <p:nvPr/>
          </p:nvSpPr>
          <p:spPr bwMode="auto">
            <a:xfrm>
              <a:off x="1488" y="2880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AutoShape 175"/>
            <p:cNvSpPr>
              <a:spLocks noChangeArrowheads="1"/>
            </p:cNvSpPr>
            <p:nvPr/>
          </p:nvSpPr>
          <p:spPr bwMode="auto">
            <a:xfrm>
              <a:off x="1584" y="2736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AutoShape 176"/>
            <p:cNvSpPr>
              <a:spLocks noChangeArrowheads="1"/>
            </p:cNvSpPr>
            <p:nvPr/>
          </p:nvSpPr>
          <p:spPr bwMode="auto">
            <a:xfrm>
              <a:off x="1440" y="2592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2" name="AutoShape 177"/>
            <p:cNvSpPr>
              <a:spLocks noChangeArrowheads="1"/>
            </p:cNvSpPr>
            <p:nvPr/>
          </p:nvSpPr>
          <p:spPr bwMode="auto">
            <a:xfrm>
              <a:off x="1584" y="2448"/>
              <a:ext cx="672" cy="240"/>
            </a:xfrm>
            <a:prstGeom prst="can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1267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E846C6E-347F-BD4F-8DD3-2815DFF6F415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126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Abstract Data Types (ADTs)</a:t>
            </a:r>
          </a:p>
        </p:txBody>
      </p:sp>
      <p:sp>
        <p:nvSpPr>
          <p:cNvPr id="1126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33528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An abstract data type (ADT) is an abstraction of a data structure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An ADT specifies: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Data stored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Operations on the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Error conditions associated with operations</a:t>
            </a:r>
          </a:p>
        </p:txBody>
      </p:sp>
      <p:sp>
        <p:nvSpPr>
          <p:cNvPr id="11270" name="Rectangle 1028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3962400" y="1676400"/>
            <a:ext cx="5029200" cy="46482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Example: ADT modeling a simple stock trading system</a:t>
            </a:r>
          </a:p>
          <a:p>
            <a:pPr lvl="1" eaLnBrk="1" hangingPunct="1"/>
            <a:r>
              <a:rPr lang="en-US" dirty="0">
                <a:latin typeface="Tahoma" charset="0"/>
              </a:rPr>
              <a:t>The data stored are buy/sell orders</a:t>
            </a:r>
          </a:p>
          <a:p>
            <a:pPr lvl="1" eaLnBrk="1" hangingPunct="1"/>
            <a:r>
              <a:rPr lang="en-US" dirty="0">
                <a:latin typeface="Tahoma" charset="0"/>
              </a:rPr>
              <a:t>The operations supported are</a:t>
            </a:r>
          </a:p>
          <a:p>
            <a:pPr lvl="2" eaLnBrk="1" hangingPunct="1"/>
            <a:r>
              <a:rPr lang="en-US" dirty="0">
                <a:latin typeface="Tahoma" charset="0"/>
              </a:rPr>
              <a:t>order </a:t>
            </a:r>
            <a:r>
              <a:rPr lang="en-US" dirty="0">
                <a:solidFill>
                  <a:schemeClr val="tx2"/>
                </a:solidFill>
                <a:latin typeface="Tahoma" charset="0"/>
              </a:rPr>
              <a:t>buy</a:t>
            </a:r>
            <a:r>
              <a:rPr lang="en-US" dirty="0">
                <a:latin typeface="Tahoma" charset="0"/>
              </a:rPr>
              <a:t>(stock, </a:t>
            </a:r>
            <a:r>
              <a:rPr lang="en-US" dirty="0" smtClean="0">
                <a:latin typeface="Tahoma" charset="0"/>
              </a:rPr>
              <a:t>items, </a:t>
            </a:r>
            <a:r>
              <a:rPr lang="en-US" dirty="0">
                <a:latin typeface="Tahoma" charset="0"/>
              </a:rPr>
              <a:t>price)</a:t>
            </a:r>
          </a:p>
          <a:p>
            <a:pPr lvl="2" eaLnBrk="1" hangingPunct="1"/>
            <a:r>
              <a:rPr lang="en-US" dirty="0">
                <a:latin typeface="Tahoma" charset="0"/>
              </a:rPr>
              <a:t>order </a:t>
            </a:r>
            <a:r>
              <a:rPr lang="en-US" dirty="0">
                <a:solidFill>
                  <a:schemeClr val="tx2"/>
                </a:solidFill>
                <a:latin typeface="Tahoma" charset="0"/>
              </a:rPr>
              <a:t>sell</a:t>
            </a:r>
            <a:r>
              <a:rPr lang="en-US" dirty="0">
                <a:latin typeface="Tahoma" charset="0"/>
              </a:rPr>
              <a:t>(stock, </a:t>
            </a:r>
            <a:r>
              <a:rPr lang="en-US" dirty="0" smtClean="0">
                <a:latin typeface="Tahoma" charset="0"/>
              </a:rPr>
              <a:t>items, </a:t>
            </a:r>
            <a:r>
              <a:rPr lang="en-US" dirty="0">
                <a:latin typeface="Tahoma" charset="0"/>
              </a:rPr>
              <a:t>price)</a:t>
            </a:r>
          </a:p>
          <a:p>
            <a:pPr lvl="2" eaLnBrk="1" hangingPunct="1"/>
            <a:r>
              <a:rPr lang="en-US" dirty="0">
                <a:latin typeface="Tahoma" charset="0"/>
              </a:rPr>
              <a:t>void </a:t>
            </a:r>
            <a:r>
              <a:rPr lang="en-US" dirty="0">
                <a:solidFill>
                  <a:schemeClr val="tx2"/>
                </a:solidFill>
                <a:latin typeface="Tahoma" charset="0"/>
              </a:rPr>
              <a:t>cancel</a:t>
            </a:r>
            <a:r>
              <a:rPr lang="en-US" dirty="0">
                <a:latin typeface="Tahoma" charset="0"/>
              </a:rPr>
              <a:t>(order)</a:t>
            </a:r>
          </a:p>
          <a:p>
            <a:pPr lvl="1" eaLnBrk="1" hangingPunct="1"/>
            <a:r>
              <a:rPr lang="en-US" dirty="0">
                <a:latin typeface="Tahoma" charset="0"/>
              </a:rPr>
              <a:t>Error conditions:</a:t>
            </a:r>
          </a:p>
          <a:p>
            <a:pPr lvl="2" eaLnBrk="1" hangingPunct="1"/>
            <a:r>
              <a:rPr lang="en-US" dirty="0">
                <a:latin typeface="Tahoma" charset="0"/>
              </a:rPr>
              <a:t>Buy/sell a nonexistent stock</a:t>
            </a:r>
          </a:p>
          <a:p>
            <a:pPr lvl="2" eaLnBrk="1" hangingPunct="1"/>
            <a:r>
              <a:rPr lang="en-US" dirty="0">
                <a:latin typeface="Tahoma" charset="0"/>
              </a:rPr>
              <a:t>Cancel a nonexistent order</a:t>
            </a:r>
          </a:p>
        </p:txBody>
      </p:sp>
      <p:sp>
        <p:nvSpPr>
          <p:cNvPr id="11271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028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3CE17E5C-FD26-BC4B-B53B-55712D464C39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102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The Stack ADT</a:t>
            </a:r>
          </a:p>
        </p:txBody>
      </p:sp>
      <p:sp>
        <p:nvSpPr>
          <p:cNvPr id="1030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47244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The </a:t>
            </a:r>
            <a:r>
              <a:rPr lang="en-US" sz="2400" dirty="0">
                <a:solidFill>
                  <a:schemeClr val="tx2"/>
                </a:solidFill>
                <a:latin typeface="Tahoma" charset="0"/>
              </a:rPr>
              <a:t>Stack</a:t>
            </a:r>
            <a:r>
              <a:rPr lang="en-US" sz="2400" dirty="0">
                <a:latin typeface="Tahoma" charset="0"/>
              </a:rPr>
              <a:t> ADT stores arbitrary objects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Insertions and deletions follow the last-in first-out scheme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Examples of stacks in "real life":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The stack of trays in a cafeteria;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A stack of plates in a cupboard;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A driveway that is only one car wide. </a:t>
            </a:r>
            <a:endParaRPr lang="en-US" sz="2000" dirty="0" smtClean="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ahoma" charset="0"/>
              </a:rPr>
              <a:t>Main </a:t>
            </a:r>
            <a:r>
              <a:rPr lang="en-US" sz="2400" dirty="0">
                <a:latin typeface="Tahoma" charset="0"/>
              </a:rPr>
              <a:t>stack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charset="0"/>
              </a:rPr>
              <a:t>push</a:t>
            </a:r>
            <a:r>
              <a:rPr lang="en-US" sz="2000" dirty="0">
                <a:latin typeface="Tahoma" charset="0"/>
              </a:rPr>
              <a:t>(object): inserts an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object </a:t>
            </a:r>
            <a:r>
              <a:rPr lang="en-US" sz="2000" dirty="0">
                <a:solidFill>
                  <a:schemeClr val="tx2"/>
                </a:solidFill>
                <a:latin typeface="Tahoma" charset="0"/>
              </a:rPr>
              <a:t>pop</a:t>
            </a:r>
            <a:r>
              <a:rPr lang="en-US" sz="2000" dirty="0">
                <a:latin typeface="Tahoma" charset="0"/>
              </a:rPr>
              <a:t>(): removes and returns the last inserted element</a:t>
            </a:r>
          </a:p>
        </p:txBody>
      </p:sp>
      <p:sp>
        <p:nvSpPr>
          <p:cNvPr id="1031" name="Rectangle 1028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5257800" y="1700048"/>
            <a:ext cx="3810000" cy="43434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Tahoma" charset="0"/>
              </a:rPr>
              <a:t>Auxiliary stack operations:</a:t>
            </a:r>
          </a:p>
          <a:p>
            <a:pPr lvl="1" eaLnBrk="1" hangingPunct="1"/>
            <a:r>
              <a:rPr lang="en-US" sz="2000" dirty="0">
                <a:latin typeface="Tahoma" charset="0"/>
              </a:rPr>
              <a:t>object </a:t>
            </a:r>
            <a:r>
              <a:rPr lang="en-US" sz="2000" dirty="0">
                <a:solidFill>
                  <a:schemeClr val="tx2"/>
                </a:solidFill>
                <a:latin typeface="Tahoma" charset="0"/>
              </a:rPr>
              <a:t>top</a:t>
            </a:r>
            <a:r>
              <a:rPr lang="en-US" sz="2000" dirty="0">
                <a:latin typeface="Tahoma" charset="0"/>
              </a:rPr>
              <a:t>(): returns the last inserted element without removing it</a:t>
            </a:r>
          </a:p>
          <a:p>
            <a:pPr lvl="1" eaLnBrk="1" hangingPunct="1"/>
            <a:r>
              <a:rPr lang="en-US" sz="2000" dirty="0">
                <a:latin typeface="Tahoma" charset="0"/>
              </a:rPr>
              <a:t>integer </a:t>
            </a:r>
            <a:r>
              <a:rPr lang="en-US" sz="2000" dirty="0">
                <a:solidFill>
                  <a:schemeClr val="tx2"/>
                </a:solidFill>
                <a:latin typeface="Tahoma" charset="0"/>
              </a:rPr>
              <a:t>size</a:t>
            </a:r>
            <a:r>
              <a:rPr lang="en-US" sz="2000" dirty="0">
                <a:latin typeface="Tahoma" charset="0"/>
              </a:rPr>
              <a:t>(): returns the number of elements stored</a:t>
            </a:r>
          </a:p>
          <a:p>
            <a:pPr lvl="1" eaLnBrk="1" hangingPunct="1"/>
            <a:r>
              <a:rPr lang="en-US" sz="2000" dirty="0" err="1">
                <a:latin typeface="Tahoma" charset="0"/>
              </a:rPr>
              <a:t>boolean</a:t>
            </a:r>
            <a:r>
              <a:rPr lang="en-US" sz="2000" dirty="0">
                <a:latin typeface="Tahoma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Tahoma" charset="0"/>
              </a:rPr>
              <a:t>isEmpty</a:t>
            </a:r>
            <a:r>
              <a:rPr lang="en-US" sz="2000" dirty="0">
                <a:latin typeface="Tahoma" charset="0"/>
              </a:rPr>
              <a:t>(): indicates whether no elements are stored</a:t>
            </a:r>
          </a:p>
        </p:txBody>
      </p:sp>
      <p:graphicFrame>
        <p:nvGraphicFramePr>
          <p:cNvPr id="1026" name="Object 1029"/>
          <p:cNvGraphicFramePr>
            <a:graphicFrameLocks noChangeAspect="1"/>
          </p:cNvGraphicFramePr>
          <p:nvPr/>
        </p:nvGraphicFramePr>
        <p:xfrm>
          <a:off x="7620000" y="228600"/>
          <a:ext cx="1116013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Photo Editor Photo" r:id="rId4" imgW="1980952" imgH="3610479" progId="MSPhotoEd.3">
                  <p:embed/>
                </p:oleObj>
              </mc:Choice>
              <mc:Fallback>
                <p:oleObj name="Photo Editor Photo" r:id="rId4" imgW="1980952" imgH="3610479" progId="MSPhotoEd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EFEFE"/>
                          </a:clrFrom>
                          <a:clrTo>
                            <a:srgbClr val="FEFEFE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28600"/>
                        <a:ext cx="1116013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  <p:sp>
        <p:nvSpPr>
          <p:cNvPr id="2" name="Rectangle 6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stacks in "real life":</a:t>
            </a: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stack of trays in a cafeteria;</a:t>
            </a: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stack of plates in a cupboard;</a:t>
            </a:r>
          </a:p>
          <a:p>
            <a:pPr marL="914400" marR="0" lvl="2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driveway that is only one car wide.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E67F8DF-DA34-E342-858B-785F6530407B}" type="slidenum">
              <a:rPr lang="en-US" sz="1400"/>
              <a:pPr eaLnBrk="1" hangingPunct="1"/>
              <a:t>4</a:t>
            </a:fld>
            <a:endParaRPr lang="en-US" sz="1400" dirty="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Stack Interface in Java</a:t>
            </a:r>
          </a:p>
        </p:txBody>
      </p:sp>
      <p:sp>
        <p:nvSpPr>
          <p:cNvPr id="1229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3581400" cy="4571999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charset="0"/>
              <a:buChar char="q"/>
            </a:pPr>
            <a:r>
              <a:rPr lang="en-US" sz="2800" dirty="0">
                <a:latin typeface="Tahoma" charset="0"/>
              </a:rPr>
              <a:t>Java interface corresponding to our Stack ADT</a:t>
            </a:r>
          </a:p>
          <a:p>
            <a:pPr eaLnBrk="1" hangingPunct="1">
              <a:buFont typeface="Wingdings" charset="0"/>
              <a:buChar char="q"/>
            </a:pPr>
            <a:r>
              <a:rPr lang="en-US" sz="2800" dirty="0" smtClean="0">
                <a:latin typeface="Tahoma" charset="0"/>
              </a:rPr>
              <a:t>Assumes null is returned from top() and pop() when stack is empty</a:t>
            </a:r>
            <a:endParaRPr lang="en-US" sz="2800" dirty="0">
              <a:latin typeface="Tahoma" charset="0"/>
            </a:endParaRPr>
          </a:p>
          <a:p>
            <a:pPr eaLnBrk="1" hangingPunct="1">
              <a:buFont typeface="Wingdings" charset="0"/>
              <a:buChar char="q"/>
            </a:pPr>
            <a:r>
              <a:rPr lang="en-US" sz="2800" dirty="0">
                <a:latin typeface="Tahoma" charset="0"/>
              </a:rPr>
              <a:t>Different from the built-in Java class </a:t>
            </a:r>
            <a:r>
              <a:rPr lang="en-US" sz="2800" dirty="0" err="1">
                <a:solidFill>
                  <a:schemeClr val="tx2"/>
                </a:solidFill>
                <a:latin typeface="Arial Narrow" charset="0"/>
              </a:rPr>
              <a:t>java.util.Stack</a:t>
            </a:r>
            <a:endParaRPr lang="en-US" sz="2800" dirty="0">
              <a:solidFill>
                <a:schemeClr val="tx2"/>
              </a:solidFill>
              <a:latin typeface="Arial Narrow" charset="0"/>
            </a:endParaRPr>
          </a:p>
        </p:txBody>
      </p:sp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4800600" y="1643063"/>
            <a:ext cx="3962400" cy="36009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public interface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Stack&lt;E&gt;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 smtClean="0">
                <a:latin typeface="Arial"/>
                <a:cs typeface="Arial"/>
              </a:rPr>
              <a:t>int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size()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 smtClean="0">
                <a:latin typeface="Arial"/>
                <a:cs typeface="Arial"/>
              </a:rPr>
              <a:t>boolean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rial"/>
                <a:cs typeface="Arial"/>
              </a:rPr>
              <a:t>isEmpty</a:t>
            </a:r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()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smtClean="0">
                <a:latin typeface="Arial"/>
                <a:cs typeface="Arial"/>
              </a:rPr>
              <a:t>E </a:t>
            </a:r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top(</a:t>
            </a:r>
            <a:r>
              <a:rPr lang="en-US" dirty="0" smtClean="0">
                <a:solidFill>
                  <a:schemeClr val="tx2"/>
                </a:solidFill>
                <a:latin typeface="Arial"/>
                <a:cs typeface="Arial"/>
              </a:rPr>
              <a:t>)</a:t>
            </a:r>
            <a:r>
              <a:rPr lang="en-US" dirty="0" smtClean="0">
                <a:latin typeface="Arial"/>
                <a:cs typeface="Arial"/>
              </a:rPr>
              <a:t>;</a:t>
            </a:r>
            <a:endParaRPr lang="en-US" dirty="0">
              <a:latin typeface="Arial"/>
              <a:cs typeface="Arial"/>
            </a:endParaRPr>
          </a:p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void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push(E element)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smtClean="0">
                <a:latin typeface="Arial"/>
                <a:cs typeface="Arial"/>
              </a:rPr>
              <a:t>E </a:t>
            </a:r>
            <a:r>
              <a:rPr lang="en-US" dirty="0">
                <a:solidFill>
                  <a:schemeClr val="tx2"/>
                </a:solidFill>
                <a:latin typeface="Arial"/>
                <a:cs typeface="Arial"/>
              </a:rPr>
              <a:t>pop(</a:t>
            </a:r>
            <a:r>
              <a:rPr lang="en-US" dirty="0" smtClean="0">
                <a:solidFill>
                  <a:schemeClr val="tx2"/>
                </a:solidFill>
                <a:latin typeface="Arial"/>
                <a:cs typeface="Arial"/>
              </a:rPr>
              <a:t>)</a:t>
            </a:r>
            <a:r>
              <a:rPr lang="en-US" dirty="0" smtClean="0">
                <a:latin typeface="Arial"/>
                <a:cs typeface="Arial"/>
              </a:rPr>
              <a:t>;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2295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EB3199B-BD09-334A-813A-DF2120258BD2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Example</a:t>
            </a:r>
          </a:p>
        </p:txBody>
      </p:sp>
      <p:sp>
        <p:nvSpPr>
          <p:cNvPr id="1229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447800"/>
            <a:ext cx="425413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4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3315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E6723E8-24DF-4244-B43A-08D807611853}" type="slidenum">
              <a:rPr lang="en-US" sz="1400"/>
              <a:pPr eaLnBrk="1" hangingPunct="1"/>
              <a:t>6</a:t>
            </a:fld>
            <a:endParaRPr lang="en-US" sz="1400" dirty="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Tahoma" charset="0"/>
              </a:rPr>
              <a:t>Exceptions vs. Returning Null</a:t>
            </a:r>
            <a:endParaRPr lang="en-US" dirty="0">
              <a:latin typeface="Tahoma" charset="0"/>
            </a:endParaRPr>
          </a:p>
        </p:txBody>
      </p:sp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4114800" cy="472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dirty="0">
                <a:latin typeface="Tahoma" charset="0"/>
              </a:rPr>
              <a:t>Attempting the execution of an operation </a:t>
            </a:r>
            <a:r>
              <a:rPr lang="en-US" dirty="0" smtClean="0">
                <a:latin typeface="Tahoma" charset="0"/>
              </a:rPr>
              <a:t>of an </a:t>
            </a:r>
            <a:r>
              <a:rPr lang="en-US" dirty="0">
                <a:latin typeface="Tahoma" charset="0"/>
              </a:rPr>
              <a:t>ADT may sometimes cause an error </a:t>
            </a:r>
            <a:r>
              <a:rPr lang="en-US" dirty="0" smtClean="0">
                <a:latin typeface="Tahoma" charset="0"/>
              </a:rPr>
              <a:t>condition</a:t>
            </a:r>
            <a:endParaRPr lang="en-US" dirty="0">
              <a:latin typeface="Tahoma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dirty="0" smtClean="0">
                <a:latin typeface="Tahoma" charset="0"/>
              </a:rPr>
              <a:t>Java supports a general abstraction for errors, called exception</a:t>
            </a:r>
            <a:endParaRPr lang="en-US" dirty="0">
              <a:latin typeface="Tahoma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dirty="0" smtClean="0">
                <a:latin typeface="Tahoma" charset="0"/>
              </a:rPr>
              <a:t>An exception is said </a:t>
            </a:r>
            <a:r>
              <a:rPr lang="en-US" dirty="0">
                <a:latin typeface="Tahoma" charset="0"/>
              </a:rPr>
              <a:t>to be </a:t>
            </a:r>
            <a:r>
              <a:rPr lang="ja-JP" altLang="en-US" dirty="0">
                <a:latin typeface="Tahoma" charset="0"/>
              </a:rPr>
              <a:t>“</a:t>
            </a:r>
            <a:r>
              <a:rPr lang="en-US" dirty="0">
                <a:latin typeface="Tahoma" charset="0"/>
              </a:rPr>
              <a:t>thrown</a:t>
            </a:r>
            <a:r>
              <a:rPr lang="ja-JP" altLang="en-US" dirty="0">
                <a:latin typeface="Tahoma" charset="0"/>
              </a:rPr>
              <a:t>”</a:t>
            </a:r>
            <a:r>
              <a:rPr lang="en-US" dirty="0">
                <a:latin typeface="Tahoma" charset="0"/>
              </a:rPr>
              <a:t> by an operation that cannot </a:t>
            </a:r>
            <a:r>
              <a:rPr lang="en-US" dirty="0" smtClean="0">
                <a:latin typeface="Tahoma" charset="0"/>
              </a:rPr>
              <a:t>be properly executed</a:t>
            </a:r>
            <a:endParaRPr lang="en-US" dirty="0">
              <a:latin typeface="Tahoma" charset="0"/>
            </a:endParaRPr>
          </a:p>
        </p:txBody>
      </p:sp>
      <p:sp>
        <p:nvSpPr>
          <p:cNvPr id="13318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1676400"/>
            <a:ext cx="3962400" cy="3962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dirty="0">
                <a:latin typeface="Tahoma" charset="0"/>
              </a:rPr>
              <a:t>In </a:t>
            </a:r>
            <a:r>
              <a:rPr lang="en-US" dirty="0" smtClean="0">
                <a:latin typeface="Tahoma" charset="0"/>
              </a:rPr>
              <a:t>our Stack </a:t>
            </a:r>
            <a:r>
              <a:rPr lang="en-US" dirty="0">
                <a:latin typeface="Tahoma" charset="0"/>
              </a:rPr>
              <a:t>ADT, </a:t>
            </a:r>
            <a:r>
              <a:rPr lang="en-US" dirty="0" smtClean="0">
                <a:latin typeface="Tahoma" charset="0"/>
              </a:rPr>
              <a:t>we do not use exceptions</a:t>
            </a:r>
          </a:p>
          <a:p>
            <a:pPr eaLnBrk="1" hangingPunct="1">
              <a:lnSpc>
                <a:spcPct val="120000"/>
              </a:lnSpc>
            </a:pPr>
            <a:r>
              <a:rPr lang="en-US" dirty="0" smtClean="0">
                <a:latin typeface="Tahoma" charset="0"/>
              </a:rPr>
              <a:t>Instead, we allow operations </a:t>
            </a:r>
            <a:r>
              <a:rPr lang="en-US" dirty="0">
                <a:latin typeface="Tahoma" charset="0"/>
              </a:rPr>
              <a:t>pop and top </a:t>
            </a:r>
            <a:r>
              <a:rPr lang="en-US" dirty="0" smtClean="0">
                <a:latin typeface="Tahoma" charset="0"/>
              </a:rPr>
              <a:t>to be performed even </a:t>
            </a:r>
            <a:r>
              <a:rPr lang="en-US" dirty="0">
                <a:latin typeface="Tahoma" charset="0"/>
              </a:rPr>
              <a:t>if the stack is empty</a:t>
            </a:r>
          </a:p>
          <a:p>
            <a:pPr eaLnBrk="1" hangingPunct="1">
              <a:lnSpc>
                <a:spcPct val="120000"/>
              </a:lnSpc>
            </a:pPr>
            <a:r>
              <a:rPr lang="en-US" dirty="0" smtClean="0">
                <a:latin typeface="Tahoma" charset="0"/>
              </a:rPr>
              <a:t>For an empty stack, pop and top simply return null</a:t>
            </a:r>
            <a:endParaRPr lang="en-US" dirty="0">
              <a:solidFill>
                <a:schemeClr val="hlink"/>
              </a:solidFill>
              <a:latin typeface="Tahoma" charset="0"/>
            </a:endParaRPr>
          </a:p>
        </p:txBody>
      </p:sp>
      <p:sp>
        <p:nvSpPr>
          <p:cNvPr id="13319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4CBA581-A6F2-E24B-9D59-06B8FDAEAC51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Applications of Stacks</a:t>
            </a:r>
          </a:p>
        </p:txBody>
      </p:sp>
      <p:sp>
        <p:nvSpPr>
          <p:cNvPr id="1434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>
                <a:latin typeface="Tahoma" charset="0"/>
              </a:rPr>
              <a:t>Direct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Page-visited history in a Web browser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Undo sequence in a text editor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Chain of method calls in the Java Virtual Machine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>
                <a:latin typeface="Tahoma" charset="0"/>
              </a:rPr>
              <a:t>Indirect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Auxiliary data structure for algorithms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Tahoma" charset="0"/>
              </a:rPr>
              <a:t>Component of other data structures</a:t>
            </a:r>
          </a:p>
        </p:txBody>
      </p:sp>
      <p:sp>
        <p:nvSpPr>
          <p:cNvPr id="14342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4531C4D-5B07-6C48-9568-BAB873A5EECD}" type="slidenum">
              <a:rPr lang="en-US" sz="1400"/>
              <a:pPr eaLnBrk="1" hangingPunct="1"/>
              <a:t>8</a:t>
            </a:fld>
            <a:endParaRPr lang="en-US" sz="1400"/>
          </a:p>
        </p:txBody>
      </p:sp>
      <p:grpSp>
        <p:nvGrpSpPr>
          <p:cNvPr id="15364" name="Group 137"/>
          <p:cNvGrpSpPr>
            <a:grpSpLocks/>
          </p:cNvGrpSpPr>
          <p:nvPr/>
        </p:nvGrpSpPr>
        <p:grpSpPr bwMode="auto">
          <a:xfrm>
            <a:off x="7162800" y="1600200"/>
            <a:ext cx="1447800" cy="4572000"/>
            <a:chOff x="4512" y="864"/>
            <a:chExt cx="912" cy="3024"/>
          </a:xfrm>
        </p:grpSpPr>
        <p:sp>
          <p:nvSpPr>
            <p:cNvPr id="15376" name="Rectangle 133"/>
            <p:cNvSpPr>
              <a:spLocks noChangeArrowheads="1"/>
            </p:cNvSpPr>
            <p:nvPr/>
          </p:nvSpPr>
          <p:spPr bwMode="auto">
            <a:xfrm>
              <a:off x="4512" y="864"/>
              <a:ext cx="912" cy="3024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5377" name="Line 134"/>
            <p:cNvSpPr>
              <a:spLocks noChangeShapeType="1"/>
            </p:cNvSpPr>
            <p:nvPr/>
          </p:nvSpPr>
          <p:spPr bwMode="auto">
            <a:xfrm>
              <a:off x="4512" y="864"/>
              <a:ext cx="0" cy="30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378" name="Line 135"/>
            <p:cNvSpPr>
              <a:spLocks noChangeShapeType="1"/>
            </p:cNvSpPr>
            <p:nvPr/>
          </p:nvSpPr>
          <p:spPr bwMode="auto">
            <a:xfrm>
              <a:off x="5424" y="864"/>
              <a:ext cx="0" cy="30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379" name="Line 136"/>
            <p:cNvSpPr>
              <a:spLocks noChangeShapeType="1"/>
            </p:cNvSpPr>
            <p:nvPr/>
          </p:nvSpPr>
          <p:spPr bwMode="auto">
            <a:xfrm>
              <a:off x="4512" y="3876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Method Stack in the JVM</a:t>
            </a:r>
          </a:p>
        </p:txBody>
      </p:sp>
      <p:sp>
        <p:nvSpPr>
          <p:cNvPr id="1536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4800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 sz="2400">
                <a:latin typeface="Tahoma" charset="0"/>
              </a:rPr>
              <a:t>The Java Virtual Machine (JVM) keeps track of the chain of active methods with a stack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 sz="2400">
                <a:latin typeface="Tahoma" charset="0"/>
              </a:rPr>
              <a:t>When a method is called, the JVM pushes on the stack a frame containing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Local variables and return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Tahoma" charset="0"/>
              </a:rPr>
              <a:t>Program counter, keeping track of the statement being executed 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 sz="2400">
                <a:latin typeface="Tahoma" charset="0"/>
              </a:rPr>
              <a:t>When a method ends, its frame is popped from the stack and control is passed to the method on top of the stack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 sz="2400">
                <a:latin typeface="Tahoma" charset="0"/>
              </a:rPr>
              <a:t>Allows for </a:t>
            </a:r>
            <a:r>
              <a:rPr lang="en-US" sz="2400">
                <a:solidFill>
                  <a:srgbClr val="C00000"/>
                </a:solidFill>
                <a:latin typeface="Tahoma" charset="0"/>
              </a:rPr>
              <a:t>recursion</a:t>
            </a:r>
          </a:p>
        </p:txBody>
      </p:sp>
      <p:sp>
        <p:nvSpPr>
          <p:cNvPr id="15367" name="Rectangle 112"/>
          <p:cNvSpPr>
            <a:spLocks noChangeArrowheads="1"/>
          </p:cNvSpPr>
          <p:nvPr/>
        </p:nvSpPr>
        <p:spPr bwMode="auto">
          <a:xfrm>
            <a:off x="8220075" y="3565525"/>
            <a:ext cx="7938" cy="15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Freeform 118"/>
          <p:cNvSpPr>
            <a:spLocks/>
          </p:cNvSpPr>
          <p:nvPr/>
        </p:nvSpPr>
        <p:spPr bwMode="auto">
          <a:xfrm>
            <a:off x="8277225" y="4351338"/>
            <a:ext cx="7938" cy="9525"/>
          </a:xfrm>
          <a:custGeom>
            <a:avLst/>
            <a:gdLst>
              <a:gd name="T0" fmla="*/ 2147483647 w 5"/>
              <a:gd name="T1" fmla="*/ 0 h 6"/>
              <a:gd name="T2" fmla="*/ 2147483647 w 5"/>
              <a:gd name="T3" fmla="*/ 0 h 6"/>
              <a:gd name="T4" fmla="*/ 0 w 5"/>
              <a:gd name="T5" fmla="*/ 2147483647 h 6"/>
              <a:gd name="T6" fmla="*/ 0 w 5"/>
              <a:gd name="T7" fmla="*/ 2147483647 h 6"/>
              <a:gd name="T8" fmla="*/ 2147483647 w 5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"/>
              <a:gd name="T16" fmla="*/ 0 h 6"/>
              <a:gd name="T17" fmla="*/ 5 w 5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" h="6">
                <a:moveTo>
                  <a:pt x="5" y="0"/>
                </a:moveTo>
                <a:lnTo>
                  <a:pt x="5" y="0"/>
                </a:lnTo>
                <a:lnTo>
                  <a:pt x="0" y="6"/>
                </a:lnTo>
                <a:lnTo>
                  <a:pt x="5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Rectangle 126"/>
          <p:cNvSpPr>
            <a:spLocks noChangeArrowheads="1"/>
          </p:cNvSpPr>
          <p:nvPr/>
        </p:nvSpPr>
        <p:spPr bwMode="auto">
          <a:xfrm>
            <a:off x="8220075" y="1625600"/>
            <a:ext cx="7938" cy="15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Rectangle 127"/>
          <p:cNvSpPr>
            <a:spLocks noChangeArrowheads="1"/>
          </p:cNvSpPr>
          <p:nvPr/>
        </p:nvSpPr>
        <p:spPr bwMode="auto">
          <a:xfrm>
            <a:off x="8220075" y="2281238"/>
            <a:ext cx="7938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Text Box 129"/>
          <p:cNvSpPr txBox="1">
            <a:spLocks noChangeArrowheads="1"/>
          </p:cNvSpPr>
          <p:nvPr/>
        </p:nvSpPr>
        <p:spPr bwMode="auto">
          <a:xfrm>
            <a:off x="5638800" y="1524000"/>
            <a:ext cx="16002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Arial Narrow" charset="0"/>
              </a:rPr>
              <a:t>main</a:t>
            </a:r>
            <a:r>
              <a:rPr lang="en-US">
                <a:solidFill>
                  <a:schemeClr val="accent2"/>
                </a:solidFill>
                <a:latin typeface="Arial Narrow" charset="0"/>
              </a:rPr>
              <a:t>() {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int i = 5;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foo(i);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}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Arial Narrow" charset="0"/>
              </a:rPr>
              <a:t>foo</a:t>
            </a:r>
            <a:r>
              <a:rPr lang="en-US">
                <a:solidFill>
                  <a:schemeClr val="accent2"/>
                </a:solidFill>
                <a:latin typeface="Arial Narrow" charset="0"/>
              </a:rPr>
              <a:t>(int j) {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int k;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k = j+1;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bar(k);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}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Arial Narrow" charset="0"/>
              </a:rPr>
              <a:t>bar</a:t>
            </a:r>
            <a:r>
              <a:rPr lang="en-US">
                <a:solidFill>
                  <a:schemeClr val="accent2"/>
                </a:solidFill>
                <a:latin typeface="Arial Narrow" charset="0"/>
              </a:rPr>
              <a:t>(int m) {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…</a:t>
            </a:r>
            <a:br>
              <a:rPr lang="en-US">
                <a:solidFill>
                  <a:schemeClr val="accent2"/>
                </a:solidFill>
                <a:latin typeface="Arial Narrow" charset="0"/>
              </a:rPr>
            </a:br>
            <a:r>
              <a:rPr lang="en-US">
                <a:solidFill>
                  <a:schemeClr val="accent2"/>
                </a:solidFill>
                <a:latin typeface="Arial Narrow" charset="0"/>
              </a:rPr>
              <a:t>	}</a:t>
            </a:r>
          </a:p>
        </p:txBody>
      </p:sp>
      <p:sp>
        <p:nvSpPr>
          <p:cNvPr id="15372" name="Rectangle 130"/>
          <p:cNvSpPr>
            <a:spLocks noChangeArrowheads="1"/>
          </p:cNvSpPr>
          <p:nvPr/>
        </p:nvSpPr>
        <p:spPr bwMode="auto">
          <a:xfrm>
            <a:off x="7315200" y="2057400"/>
            <a:ext cx="11430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>
                <a:solidFill>
                  <a:schemeClr val="tx2"/>
                </a:solidFill>
              </a:rPr>
              <a:t>bar</a:t>
            </a:r>
          </a:p>
          <a:p>
            <a:r>
              <a:rPr lang="en-US" sz="2000"/>
              <a:t>  PC = 1</a:t>
            </a:r>
            <a:br>
              <a:rPr lang="en-US" sz="2000"/>
            </a:br>
            <a:r>
              <a:rPr lang="en-US" sz="2000"/>
              <a:t>  m = 6</a:t>
            </a:r>
          </a:p>
        </p:txBody>
      </p:sp>
      <p:sp>
        <p:nvSpPr>
          <p:cNvPr id="15373" name="Rectangle 131"/>
          <p:cNvSpPr>
            <a:spLocks noChangeArrowheads="1"/>
          </p:cNvSpPr>
          <p:nvPr/>
        </p:nvSpPr>
        <p:spPr bwMode="auto">
          <a:xfrm>
            <a:off x="7315200" y="3314700"/>
            <a:ext cx="11430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>
                <a:solidFill>
                  <a:schemeClr val="tx2"/>
                </a:solidFill>
              </a:rPr>
              <a:t>foo</a:t>
            </a:r>
          </a:p>
          <a:p>
            <a:r>
              <a:rPr lang="en-US" sz="2000"/>
              <a:t>  PC = 3</a:t>
            </a:r>
            <a:br>
              <a:rPr lang="en-US" sz="2000"/>
            </a:br>
            <a:r>
              <a:rPr lang="en-US" sz="2000"/>
              <a:t>  j = 5</a:t>
            </a:r>
          </a:p>
          <a:p>
            <a:r>
              <a:rPr lang="en-US" sz="2000"/>
              <a:t>  k = 6</a:t>
            </a:r>
          </a:p>
        </p:txBody>
      </p:sp>
      <p:sp>
        <p:nvSpPr>
          <p:cNvPr id="15374" name="Rectangle 132"/>
          <p:cNvSpPr>
            <a:spLocks noChangeArrowheads="1"/>
          </p:cNvSpPr>
          <p:nvPr/>
        </p:nvSpPr>
        <p:spPr bwMode="auto">
          <a:xfrm>
            <a:off x="7315200" y="4953000"/>
            <a:ext cx="11430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>
                <a:solidFill>
                  <a:schemeClr val="tx2"/>
                </a:solidFill>
              </a:rPr>
              <a:t>main</a:t>
            </a:r>
          </a:p>
          <a:p>
            <a:r>
              <a:rPr lang="en-US" sz="2000"/>
              <a:t>  PC = 2</a:t>
            </a:r>
            <a:br>
              <a:rPr lang="en-US" sz="2000"/>
            </a:br>
            <a:r>
              <a:rPr lang="en-US" sz="2000"/>
              <a:t>  i = 5</a:t>
            </a:r>
          </a:p>
        </p:txBody>
      </p:sp>
      <p:sp>
        <p:nvSpPr>
          <p:cNvPr id="15375" name="Date Placeholder 18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6387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4A845C2-3F15-784A-BCCA-9D97DE3984B1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Array-based Stack</a:t>
            </a:r>
          </a:p>
        </p:txBody>
      </p:sp>
      <p:sp>
        <p:nvSpPr>
          <p:cNvPr id="1638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3352800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A simple way of implementing the Stack ADT uses an array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We add elements from left to right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A variable keeps track of the  index of the top element </a:t>
            </a:r>
          </a:p>
        </p:txBody>
      </p:sp>
      <p:sp>
        <p:nvSpPr>
          <p:cNvPr id="16390" name="Freeform 7"/>
          <p:cNvSpPr>
            <a:spLocks/>
          </p:cNvSpPr>
          <p:nvPr/>
        </p:nvSpPr>
        <p:spPr bwMode="auto">
          <a:xfrm>
            <a:off x="5715000" y="5461000"/>
            <a:ext cx="1509713" cy="379413"/>
          </a:xfrm>
          <a:custGeom>
            <a:avLst/>
            <a:gdLst>
              <a:gd name="T0" fmla="*/ 2147483647 w 951"/>
              <a:gd name="T1" fmla="*/ 2147483647 h 239"/>
              <a:gd name="T2" fmla="*/ 2147483647 w 951"/>
              <a:gd name="T3" fmla="*/ 0 h 239"/>
              <a:gd name="T4" fmla="*/ 0 w 951"/>
              <a:gd name="T5" fmla="*/ 0 h 239"/>
              <a:gd name="T6" fmla="*/ 2147483647 w 951"/>
              <a:gd name="T7" fmla="*/ 2147483647 h 239"/>
              <a:gd name="T8" fmla="*/ 2147483647 w 951"/>
              <a:gd name="T9" fmla="*/ 2147483647 h 239"/>
              <a:gd name="T10" fmla="*/ 2147483647 w 951"/>
              <a:gd name="T11" fmla="*/ 2147483647 h 239"/>
              <a:gd name="T12" fmla="*/ 2147483647 w 951"/>
              <a:gd name="T13" fmla="*/ 2147483647 h 2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51"/>
              <a:gd name="T22" fmla="*/ 0 h 239"/>
              <a:gd name="T23" fmla="*/ 951 w 951"/>
              <a:gd name="T24" fmla="*/ 239 h 2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51" h="239">
                <a:moveTo>
                  <a:pt x="951" y="239"/>
                </a:moveTo>
                <a:lnTo>
                  <a:pt x="951" y="0"/>
                </a:lnTo>
                <a:lnTo>
                  <a:pt x="0" y="0"/>
                </a:lnTo>
                <a:lnTo>
                  <a:pt x="24" y="103"/>
                </a:lnTo>
                <a:lnTo>
                  <a:pt x="104" y="143"/>
                </a:lnTo>
                <a:lnTo>
                  <a:pt x="120" y="239"/>
                </a:lnTo>
                <a:lnTo>
                  <a:pt x="951" y="23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1" name="Freeform 8"/>
          <p:cNvSpPr>
            <a:spLocks/>
          </p:cNvSpPr>
          <p:nvPr/>
        </p:nvSpPr>
        <p:spPr bwMode="auto">
          <a:xfrm>
            <a:off x="1905000" y="5461000"/>
            <a:ext cx="2982913" cy="379413"/>
          </a:xfrm>
          <a:custGeom>
            <a:avLst/>
            <a:gdLst>
              <a:gd name="T0" fmla="*/ 0 w 1879"/>
              <a:gd name="T1" fmla="*/ 0 h 239"/>
              <a:gd name="T2" fmla="*/ 0 w 1879"/>
              <a:gd name="T3" fmla="*/ 2147483647 h 239"/>
              <a:gd name="T4" fmla="*/ 2147483647 w 1879"/>
              <a:gd name="T5" fmla="*/ 2147483647 h 239"/>
              <a:gd name="T6" fmla="*/ 2147483647 w 1879"/>
              <a:gd name="T7" fmla="*/ 2147483647 h 239"/>
              <a:gd name="T8" fmla="*/ 2147483647 w 1879"/>
              <a:gd name="T9" fmla="*/ 2147483647 h 239"/>
              <a:gd name="T10" fmla="*/ 2147483647 w 1879"/>
              <a:gd name="T11" fmla="*/ 0 h 239"/>
              <a:gd name="T12" fmla="*/ 0 w 1879"/>
              <a:gd name="T13" fmla="*/ 0 h 2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79"/>
              <a:gd name="T22" fmla="*/ 0 h 239"/>
              <a:gd name="T23" fmla="*/ 1879 w 1879"/>
              <a:gd name="T24" fmla="*/ 239 h 2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79" h="239">
                <a:moveTo>
                  <a:pt x="0" y="0"/>
                </a:moveTo>
                <a:lnTo>
                  <a:pt x="0" y="239"/>
                </a:lnTo>
                <a:lnTo>
                  <a:pt x="1879" y="239"/>
                </a:lnTo>
                <a:lnTo>
                  <a:pt x="1863" y="135"/>
                </a:lnTo>
                <a:lnTo>
                  <a:pt x="1783" y="79"/>
                </a:lnTo>
                <a:lnTo>
                  <a:pt x="17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4710113" y="5448300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892300" y="5448300"/>
            <a:ext cx="2817813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892300" y="5461000"/>
            <a:ext cx="25400" cy="3921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87913" y="5827713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1905000" y="5827713"/>
            <a:ext cx="2982913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7" name="Rectangle 14"/>
          <p:cNvSpPr>
            <a:spLocks noChangeArrowheads="1"/>
          </p:cNvSpPr>
          <p:nvPr/>
        </p:nvSpPr>
        <p:spPr bwMode="auto">
          <a:xfrm>
            <a:off x="5713413" y="5448300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8" name="Rectangle 15"/>
          <p:cNvSpPr>
            <a:spLocks noChangeArrowheads="1"/>
          </p:cNvSpPr>
          <p:nvPr/>
        </p:nvSpPr>
        <p:spPr bwMode="auto">
          <a:xfrm>
            <a:off x="5726113" y="5448300"/>
            <a:ext cx="2640012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9" name="Rectangle 16"/>
          <p:cNvSpPr>
            <a:spLocks noChangeArrowheads="1"/>
          </p:cNvSpPr>
          <p:nvPr/>
        </p:nvSpPr>
        <p:spPr bwMode="auto">
          <a:xfrm>
            <a:off x="8340725" y="5461000"/>
            <a:ext cx="25400" cy="3921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0" name="Rectangle 17"/>
          <p:cNvSpPr>
            <a:spLocks noChangeArrowheads="1"/>
          </p:cNvSpPr>
          <p:nvPr/>
        </p:nvSpPr>
        <p:spPr bwMode="auto">
          <a:xfrm>
            <a:off x="5878513" y="5827713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1" name="Rectangle 18"/>
          <p:cNvSpPr>
            <a:spLocks noChangeArrowheads="1"/>
          </p:cNvSpPr>
          <p:nvPr/>
        </p:nvSpPr>
        <p:spPr bwMode="auto">
          <a:xfrm>
            <a:off x="5891213" y="5827713"/>
            <a:ext cx="2462212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2" name="Rectangle 19"/>
          <p:cNvSpPr>
            <a:spLocks noChangeArrowheads="1"/>
          </p:cNvSpPr>
          <p:nvPr/>
        </p:nvSpPr>
        <p:spPr bwMode="auto">
          <a:xfrm>
            <a:off x="2286000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3" name="Rectangle 20"/>
          <p:cNvSpPr>
            <a:spLocks noChangeArrowheads="1"/>
          </p:cNvSpPr>
          <p:nvPr/>
        </p:nvSpPr>
        <p:spPr bwMode="auto">
          <a:xfrm>
            <a:off x="2286000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4" name="Rectangle 21"/>
          <p:cNvSpPr>
            <a:spLocks noChangeArrowheads="1"/>
          </p:cNvSpPr>
          <p:nvPr/>
        </p:nvSpPr>
        <p:spPr bwMode="auto">
          <a:xfrm>
            <a:off x="2286000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5" name="Rectangle 22"/>
          <p:cNvSpPr>
            <a:spLocks noChangeArrowheads="1"/>
          </p:cNvSpPr>
          <p:nvPr/>
        </p:nvSpPr>
        <p:spPr bwMode="auto">
          <a:xfrm>
            <a:off x="2667000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6" name="Rectangle 23"/>
          <p:cNvSpPr>
            <a:spLocks noChangeArrowheads="1"/>
          </p:cNvSpPr>
          <p:nvPr/>
        </p:nvSpPr>
        <p:spPr bwMode="auto">
          <a:xfrm>
            <a:off x="2667000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7" name="Rectangle 24"/>
          <p:cNvSpPr>
            <a:spLocks noChangeArrowheads="1"/>
          </p:cNvSpPr>
          <p:nvPr/>
        </p:nvSpPr>
        <p:spPr bwMode="auto">
          <a:xfrm>
            <a:off x="2667000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8" name="Rectangle 25"/>
          <p:cNvSpPr>
            <a:spLocks noChangeArrowheads="1"/>
          </p:cNvSpPr>
          <p:nvPr/>
        </p:nvSpPr>
        <p:spPr bwMode="auto">
          <a:xfrm>
            <a:off x="38084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9" name="Rectangle 26"/>
          <p:cNvSpPr>
            <a:spLocks noChangeArrowheads="1"/>
          </p:cNvSpPr>
          <p:nvPr/>
        </p:nvSpPr>
        <p:spPr bwMode="auto">
          <a:xfrm>
            <a:off x="38084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0" name="Rectangle 27"/>
          <p:cNvSpPr>
            <a:spLocks noChangeArrowheads="1"/>
          </p:cNvSpPr>
          <p:nvPr/>
        </p:nvSpPr>
        <p:spPr bwMode="auto">
          <a:xfrm>
            <a:off x="38084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1" name="Rectangle 28"/>
          <p:cNvSpPr>
            <a:spLocks noChangeArrowheads="1"/>
          </p:cNvSpPr>
          <p:nvPr/>
        </p:nvSpPr>
        <p:spPr bwMode="auto">
          <a:xfrm>
            <a:off x="34274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2" name="Rectangle 29"/>
          <p:cNvSpPr>
            <a:spLocks noChangeArrowheads="1"/>
          </p:cNvSpPr>
          <p:nvPr/>
        </p:nvSpPr>
        <p:spPr bwMode="auto">
          <a:xfrm>
            <a:off x="34274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3" name="Rectangle 30"/>
          <p:cNvSpPr>
            <a:spLocks noChangeArrowheads="1"/>
          </p:cNvSpPr>
          <p:nvPr/>
        </p:nvSpPr>
        <p:spPr bwMode="auto">
          <a:xfrm>
            <a:off x="34274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4" name="Rectangle 31"/>
          <p:cNvSpPr>
            <a:spLocks noChangeArrowheads="1"/>
          </p:cNvSpPr>
          <p:nvPr/>
        </p:nvSpPr>
        <p:spPr bwMode="auto">
          <a:xfrm>
            <a:off x="3048000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5" name="Rectangle 32"/>
          <p:cNvSpPr>
            <a:spLocks noChangeArrowheads="1"/>
          </p:cNvSpPr>
          <p:nvPr/>
        </p:nvSpPr>
        <p:spPr bwMode="auto">
          <a:xfrm>
            <a:off x="3048000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6" name="Rectangle 33"/>
          <p:cNvSpPr>
            <a:spLocks noChangeArrowheads="1"/>
          </p:cNvSpPr>
          <p:nvPr/>
        </p:nvSpPr>
        <p:spPr bwMode="auto">
          <a:xfrm>
            <a:off x="3048000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7" name="Rectangle 34"/>
          <p:cNvSpPr>
            <a:spLocks noChangeArrowheads="1"/>
          </p:cNvSpPr>
          <p:nvPr/>
        </p:nvSpPr>
        <p:spPr bwMode="auto">
          <a:xfrm>
            <a:off x="41894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8" name="Rectangle 35"/>
          <p:cNvSpPr>
            <a:spLocks noChangeArrowheads="1"/>
          </p:cNvSpPr>
          <p:nvPr/>
        </p:nvSpPr>
        <p:spPr bwMode="auto">
          <a:xfrm>
            <a:off x="41894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9" name="Rectangle 36"/>
          <p:cNvSpPr>
            <a:spLocks noChangeArrowheads="1"/>
          </p:cNvSpPr>
          <p:nvPr/>
        </p:nvSpPr>
        <p:spPr bwMode="auto">
          <a:xfrm>
            <a:off x="41894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0" name="Rectangle 37"/>
          <p:cNvSpPr>
            <a:spLocks noChangeArrowheads="1"/>
          </p:cNvSpPr>
          <p:nvPr/>
        </p:nvSpPr>
        <p:spPr bwMode="auto">
          <a:xfrm>
            <a:off x="68040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1" name="Rectangle 38"/>
          <p:cNvSpPr>
            <a:spLocks noChangeArrowheads="1"/>
          </p:cNvSpPr>
          <p:nvPr/>
        </p:nvSpPr>
        <p:spPr bwMode="auto">
          <a:xfrm>
            <a:off x="6804025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2" name="Rectangle 39"/>
          <p:cNvSpPr>
            <a:spLocks noChangeArrowheads="1"/>
          </p:cNvSpPr>
          <p:nvPr/>
        </p:nvSpPr>
        <p:spPr bwMode="auto">
          <a:xfrm>
            <a:off x="68040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3" name="Rectangle 40"/>
          <p:cNvSpPr>
            <a:spLocks noChangeArrowheads="1"/>
          </p:cNvSpPr>
          <p:nvPr/>
        </p:nvSpPr>
        <p:spPr bwMode="auto">
          <a:xfrm>
            <a:off x="45704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4" name="Rectangle 41"/>
          <p:cNvSpPr>
            <a:spLocks noChangeArrowheads="1"/>
          </p:cNvSpPr>
          <p:nvPr/>
        </p:nvSpPr>
        <p:spPr bwMode="auto">
          <a:xfrm>
            <a:off x="45704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5" name="Rectangle 42"/>
          <p:cNvSpPr>
            <a:spLocks noChangeArrowheads="1"/>
          </p:cNvSpPr>
          <p:nvPr/>
        </p:nvSpPr>
        <p:spPr bwMode="auto">
          <a:xfrm>
            <a:off x="45704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6" name="Rectangle 43"/>
          <p:cNvSpPr>
            <a:spLocks noChangeArrowheads="1"/>
          </p:cNvSpPr>
          <p:nvPr/>
        </p:nvSpPr>
        <p:spPr bwMode="auto">
          <a:xfrm>
            <a:off x="64246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7" name="Rectangle 44"/>
          <p:cNvSpPr>
            <a:spLocks noChangeArrowheads="1"/>
          </p:cNvSpPr>
          <p:nvPr/>
        </p:nvSpPr>
        <p:spPr bwMode="auto">
          <a:xfrm>
            <a:off x="64246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8" name="Rectangle 45"/>
          <p:cNvSpPr>
            <a:spLocks noChangeArrowheads="1"/>
          </p:cNvSpPr>
          <p:nvPr/>
        </p:nvSpPr>
        <p:spPr bwMode="auto">
          <a:xfrm>
            <a:off x="64246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9" name="Rectangle 46"/>
          <p:cNvSpPr>
            <a:spLocks noChangeArrowheads="1"/>
          </p:cNvSpPr>
          <p:nvPr/>
        </p:nvSpPr>
        <p:spPr bwMode="auto">
          <a:xfrm>
            <a:off x="60436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0" name="Rectangle 47"/>
          <p:cNvSpPr>
            <a:spLocks noChangeArrowheads="1"/>
          </p:cNvSpPr>
          <p:nvPr/>
        </p:nvSpPr>
        <p:spPr bwMode="auto">
          <a:xfrm>
            <a:off x="60436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1" name="Rectangle 48"/>
          <p:cNvSpPr>
            <a:spLocks noChangeArrowheads="1"/>
          </p:cNvSpPr>
          <p:nvPr/>
        </p:nvSpPr>
        <p:spPr bwMode="auto">
          <a:xfrm>
            <a:off x="60436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2" name="Rectangle 49"/>
          <p:cNvSpPr>
            <a:spLocks noChangeArrowheads="1"/>
          </p:cNvSpPr>
          <p:nvPr/>
        </p:nvSpPr>
        <p:spPr bwMode="auto">
          <a:xfrm>
            <a:off x="71977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3" name="Rectangle 50"/>
          <p:cNvSpPr>
            <a:spLocks noChangeArrowheads="1"/>
          </p:cNvSpPr>
          <p:nvPr/>
        </p:nvSpPr>
        <p:spPr bwMode="auto">
          <a:xfrm>
            <a:off x="7197725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4" name="Rectangle 51"/>
          <p:cNvSpPr>
            <a:spLocks noChangeArrowheads="1"/>
          </p:cNvSpPr>
          <p:nvPr/>
        </p:nvSpPr>
        <p:spPr bwMode="auto">
          <a:xfrm>
            <a:off x="71977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5" name="Rectangle 52"/>
          <p:cNvSpPr>
            <a:spLocks noChangeArrowheads="1"/>
          </p:cNvSpPr>
          <p:nvPr/>
        </p:nvSpPr>
        <p:spPr bwMode="auto">
          <a:xfrm>
            <a:off x="75787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6" name="Rectangle 53"/>
          <p:cNvSpPr>
            <a:spLocks noChangeArrowheads="1"/>
          </p:cNvSpPr>
          <p:nvPr/>
        </p:nvSpPr>
        <p:spPr bwMode="auto">
          <a:xfrm>
            <a:off x="7578725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7" name="Rectangle 54"/>
          <p:cNvSpPr>
            <a:spLocks noChangeArrowheads="1"/>
          </p:cNvSpPr>
          <p:nvPr/>
        </p:nvSpPr>
        <p:spPr bwMode="auto">
          <a:xfrm>
            <a:off x="75787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8" name="Rectangle 55"/>
          <p:cNvSpPr>
            <a:spLocks noChangeArrowheads="1"/>
          </p:cNvSpPr>
          <p:nvPr/>
        </p:nvSpPr>
        <p:spPr bwMode="auto">
          <a:xfrm>
            <a:off x="79597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39" name="Rectangle 57"/>
          <p:cNvSpPr>
            <a:spLocks noChangeArrowheads="1"/>
          </p:cNvSpPr>
          <p:nvPr/>
        </p:nvSpPr>
        <p:spPr bwMode="auto">
          <a:xfrm>
            <a:off x="79597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40" name="Rectangle 58"/>
          <p:cNvSpPr>
            <a:spLocks noChangeArrowheads="1"/>
          </p:cNvSpPr>
          <p:nvPr/>
        </p:nvSpPr>
        <p:spPr bwMode="auto">
          <a:xfrm>
            <a:off x="1447800" y="54991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S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6441" name="Rectangle 59"/>
          <p:cNvSpPr>
            <a:spLocks noChangeArrowheads="1"/>
          </p:cNvSpPr>
          <p:nvPr/>
        </p:nvSpPr>
        <p:spPr bwMode="auto">
          <a:xfrm>
            <a:off x="2019300" y="5842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442" name="Rectangle 60"/>
          <p:cNvSpPr>
            <a:spLocks noChangeArrowheads="1"/>
          </p:cNvSpPr>
          <p:nvPr/>
        </p:nvSpPr>
        <p:spPr bwMode="auto">
          <a:xfrm>
            <a:off x="2425700" y="5842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443" name="Rectangle 61"/>
          <p:cNvSpPr>
            <a:spLocks noChangeArrowheads="1"/>
          </p:cNvSpPr>
          <p:nvPr/>
        </p:nvSpPr>
        <p:spPr bwMode="auto">
          <a:xfrm>
            <a:off x="2806700" y="5842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444" name="Rectangle 65"/>
          <p:cNvSpPr>
            <a:spLocks noChangeArrowheads="1"/>
          </p:cNvSpPr>
          <p:nvPr/>
        </p:nvSpPr>
        <p:spPr bwMode="auto">
          <a:xfrm>
            <a:off x="6883400" y="584358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t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6445" name="Rectangle 66"/>
          <p:cNvSpPr>
            <a:spLocks noChangeArrowheads="1"/>
          </p:cNvSpPr>
          <p:nvPr/>
        </p:nvSpPr>
        <p:spPr bwMode="auto">
          <a:xfrm>
            <a:off x="46974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46" name="Freeform 67"/>
          <p:cNvSpPr>
            <a:spLocks/>
          </p:cNvSpPr>
          <p:nvPr/>
        </p:nvSpPr>
        <p:spPr bwMode="auto">
          <a:xfrm>
            <a:off x="4697413" y="5461000"/>
            <a:ext cx="101600" cy="201613"/>
          </a:xfrm>
          <a:custGeom>
            <a:avLst/>
            <a:gdLst>
              <a:gd name="T0" fmla="*/ 2147483647 w 64"/>
              <a:gd name="T1" fmla="*/ 0 h 127"/>
              <a:gd name="T2" fmla="*/ 2147483647 w 64"/>
              <a:gd name="T3" fmla="*/ 2147483647 h 127"/>
              <a:gd name="T4" fmla="*/ 2147483647 w 64"/>
              <a:gd name="T5" fmla="*/ 2147483647 h 127"/>
              <a:gd name="T6" fmla="*/ 2147483647 w 64"/>
              <a:gd name="T7" fmla="*/ 2147483647 h 127"/>
              <a:gd name="T8" fmla="*/ 2147483647 w 64"/>
              <a:gd name="T9" fmla="*/ 2147483647 h 127"/>
              <a:gd name="T10" fmla="*/ 2147483647 w 64"/>
              <a:gd name="T11" fmla="*/ 2147483647 h 127"/>
              <a:gd name="T12" fmla="*/ 2147483647 w 64"/>
              <a:gd name="T13" fmla="*/ 2147483647 h 127"/>
              <a:gd name="T14" fmla="*/ 2147483647 w 64"/>
              <a:gd name="T15" fmla="*/ 2147483647 h 127"/>
              <a:gd name="T16" fmla="*/ 2147483647 w 64"/>
              <a:gd name="T17" fmla="*/ 2147483647 h 127"/>
              <a:gd name="T18" fmla="*/ 2147483647 w 64"/>
              <a:gd name="T19" fmla="*/ 2147483647 h 127"/>
              <a:gd name="T20" fmla="*/ 2147483647 w 64"/>
              <a:gd name="T21" fmla="*/ 2147483647 h 127"/>
              <a:gd name="T22" fmla="*/ 2147483647 w 64"/>
              <a:gd name="T23" fmla="*/ 2147483647 h 127"/>
              <a:gd name="T24" fmla="*/ 2147483647 w 64"/>
              <a:gd name="T25" fmla="*/ 2147483647 h 127"/>
              <a:gd name="T26" fmla="*/ 2147483647 w 64"/>
              <a:gd name="T27" fmla="*/ 2147483647 h 127"/>
              <a:gd name="T28" fmla="*/ 2147483647 w 64"/>
              <a:gd name="T29" fmla="*/ 2147483647 h 127"/>
              <a:gd name="T30" fmla="*/ 2147483647 w 64"/>
              <a:gd name="T31" fmla="*/ 2147483647 h 127"/>
              <a:gd name="T32" fmla="*/ 2147483647 w 64"/>
              <a:gd name="T33" fmla="*/ 2147483647 h 127"/>
              <a:gd name="T34" fmla="*/ 0 w 64"/>
              <a:gd name="T35" fmla="*/ 0 h 127"/>
              <a:gd name="T36" fmla="*/ 2147483647 w 64"/>
              <a:gd name="T37" fmla="*/ 0 h 1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"/>
              <a:gd name="T58" fmla="*/ 0 h 127"/>
              <a:gd name="T59" fmla="*/ 64 w 64"/>
              <a:gd name="T60" fmla="*/ 127 h 12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" h="127">
                <a:moveTo>
                  <a:pt x="16" y="0"/>
                </a:moveTo>
                <a:lnTo>
                  <a:pt x="32" y="71"/>
                </a:lnTo>
                <a:lnTo>
                  <a:pt x="40" y="95"/>
                </a:lnTo>
                <a:lnTo>
                  <a:pt x="64" y="119"/>
                </a:lnTo>
                <a:lnTo>
                  <a:pt x="64" y="111"/>
                </a:lnTo>
                <a:lnTo>
                  <a:pt x="56" y="127"/>
                </a:lnTo>
                <a:lnTo>
                  <a:pt x="32" y="103"/>
                </a:lnTo>
                <a:lnTo>
                  <a:pt x="24" y="103"/>
                </a:lnTo>
                <a:lnTo>
                  <a:pt x="16" y="79"/>
                </a:lnTo>
                <a:lnTo>
                  <a:pt x="16" y="71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47" name="Freeform 68"/>
          <p:cNvSpPr>
            <a:spLocks/>
          </p:cNvSpPr>
          <p:nvPr/>
        </p:nvSpPr>
        <p:spPr bwMode="auto">
          <a:xfrm>
            <a:off x="4786313" y="5637213"/>
            <a:ext cx="101600" cy="63500"/>
          </a:xfrm>
          <a:custGeom>
            <a:avLst/>
            <a:gdLst>
              <a:gd name="T0" fmla="*/ 2147483647 w 64"/>
              <a:gd name="T1" fmla="*/ 0 h 40"/>
              <a:gd name="T2" fmla="*/ 2147483647 w 64"/>
              <a:gd name="T3" fmla="*/ 2147483647 h 40"/>
              <a:gd name="T4" fmla="*/ 2147483647 w 64"/>
              <a:gd name="T5" fmla="*/ 2147483647 h 40"/>
              <a:gd name="T6" fmla="*/ 2147483647 w 64"/>
              <a:gd name="T7" fmla="*/ 2147483647 h 40"/>
              <a:gd name="T8" fmla="*/ 2147483647 w 64"/>
              <a:gd name="T9" fmla="*/ 2147483647 h 40"/>
              <a:gd name="T10" fmla="*/ 0 w 64"/>
              <a:gd name="T11" fmla="*/ 2147483647 h 40"/>
              <a:gd name="T12" fmla="*/ 2147483647 w 64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40"/>
              <a:gd name="T23" fmla="*/ 64 w 64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40">
                <a:moveTo>
                  <a:pt x="8" y="0"/>
                </a:moveTo>
                <a:lnTo>
                  <a:pt x="64" y="24"/>
                </a:lnTo>
                <a:lnTo>
                  <a:pt x="64" y="32"/>
                </a:lnTo>
                <a:lnTo>
                  <a:pt x="48" y="32"/>
                </a:lnTo>
                <a:lnTo>
                  <a:pt x="56" y="40"/>
                </a:lnTo>
                <a:lnTo>
                  <a:pt x="0" y="16"/>
                </a:lnTo>
                <a:lnTo>
                  <a:pt x="8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48" name="Rectangle 69"/>
          <p:cNvSpPr>
            <a:spLocks noChangeArrowheads="1"/>
          </p:cNvSpPr>
          <p:nvPr/>
        </p:nvSpPr>
        <p:spPr bwMode="auto">
          <a:xfrm>
            <a:off x="48879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49" name="Freeform 70"/>
          <p:cNvSpPr>
            <a:spLocks/>
          </p:cNvSpPr>
          <p:nvPr/>
        </p:nvSpPr>
        <p:spPr bwMode="auto">
          <a:xfrm>
            <a:off x="4862513" y="5688013"/>
            <a:ext cx="50800" cy="152400"/>
          </a:xfrm>
          <a:custGeom>
            <a:avLst/>
            <a:gdLst>
              <a:gd name="T0" fmla="*/ 2147483647 w 32"/>
              <a:gd name="T1" fmla="*/ 0 h 96"/>
              <a:gd name="T2" fmla="*/ 0 w 32"/>
              <a:gd name="T3" fmla="*/ 0 h 96"/>
              <a:gd name="T4" fmla="*/ 2147483647 w 32"/>
              <a:gd name="T5" fmla="*/ 2147483647 h 96"/>
              <a:gd name="T6" fmla="*/ 2147483647 w 32"/>
              <a:gd name="T7" fmla="*/ 2147483647 h 96"/>
              <a:gd name="T8" fmla="*/ 2147483647 w 32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96"/>
              <a:gd name="T17" fmla="*/ 32 w 32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96">
                <a:moveTo>
                  <a:pt x="16" y="0"/>
                </a:moveTo>
                <a:lnTo>
                  <a:pt x="0" y="0"/>
                </a:lnTo>
                <a:lnTo>
                  <a:pt x="16" y="96"/>
                </a:lnTo>
                <a:lnTo>
                  <a:pt x="32" y="96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50" name="Rectangle 71"/>
          <p:cNvSpPr>
            <a:spLocks noChangeArrowheads="1"/>
          </p:cNvSpPr>
          <p:nvPr/>
        </p:nvSpPr>
        <p:spPr bwMode="auto">
          <a:xfrm>
            <a:off x="56880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51" name="Freeform 72"/>
          <p:cNvSpPr>
            <a:spLocks/>
          </p:cNvSpPr>
          <p:nvPr/>
        </p:nvSpPr>
        <p:spPr bwMode="auto">
          <a:xfrm>
            <a:off x="5688013" y="5461000"/>
            <a:ext cx="101600" cy="201613"/>
          </a:xfrm>
          <a:custGeom>
            <a:avLst/>
            <a:gdLst>
              <a:gd name="T0" fmla="*/ 2147483647 w 64"/>
              <a:gd name="T1" fmla="*/ 0 h 127"/>
              <a:gd name="T2" fmla="*/ 2147483647 w 64"/>
              <a:gd name="T3" fmla="*/ 2147483647 h 127"/>
              <a:gd name="T4" fmla="*/ 2147483647 w 64"/>
              <a:gd name="T5" fmla="*/ 2147483647 h 127"/>
              <a:gd name="T6" fmla="*/ 2147483647 w 64"/>
              <a:gd name="T7" fmla="*/ 2147483647 h 127"/>
              <a:gd name="T8" fmla="*/ 2147483647 w 64"/>
              <a:gd name="T9" fmla="*/ 2147483647 h 127"/>
              <a:gd name="T10" fmla="*/ 2147483647 w 64"/>
              <a:gd name="T11" fmla="*/ 2147483647 h 127"/>
              <a:gd name="T12" fmla="*/ 2147483647 w 64"/>
              <a:gd name="T13" fmla="*/ 2147483647 h 127"/>
              <a:gd name="T14" fmla="*/ 2147483647 w 64"/>
              <a:gd name="T15" fmla="*/ 2147483647 h 127"/>
              <a:gd name="T16" fmla="*/ 2147483647 w 64"/>
              <a:gd name="T17" fmla="*/ 2147483647 h 127"/>
              <a:gd name="T18" fmla="*/ 2147483647 w 64"/>
              <a:gd name="T19" fmla="*/ 2147483647 h 127"/>
              <a:gd name="T20" fmla="*/ 2147483647 w 64"/>
              <a:gd name="T21" fmla="*/ 2147483647 h 127"/>
              <a:gd name="T22" fmla="*/ 2147483647 w 64"/>
              <a:gd name="T23" fmla="*/ 2147483647 h 127"/>
              <a:gd name="T24" fmla="*/ 2147483647 w 64"/>
              <a:gd name="T25" fmla="*/ 2147483647 h 127"/>
              <a:gd name="T26" fmla="*/ 2147483647 w 64"/>
              <a:gd name="T27" fmla="*/ 2147483647 h 127"/>
              <a:gd name="T28" fmla="*/ 2147483647 w 64"/>
              <a:gd name="T29" fmla="*/ 2147483647 h 127"/>
              <a:gd name="T30" fmla="*/ 2147483647 w 64"/>
              <a:gd name="T31" fmla="*/ 2147483647 h 127"/>
              <a:gd name="T32" fmla="*/ 2147483647 w 64"/>
              <a:gd name="T33" fmla="*/ 2147483647 h 127"/>
              <a:gd name="T34" fmla="*/ 0 w 64"/>
              <a:gd name="T35" fmla="*/ 0 h 127"/>
              <a:gd name="T36" fmla="*/ 2147483647 w 64"/>
              <a:gd name="T37" fmla="*/ 0 h 1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"/>
              <a:gd name="T58" fmla="*/ 0 h 127"/>
              <a:gd name="T59" fmla="*/ 64 w 64"/>
              <a:gd name="T60" fmla="*/ 127 h 12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" h="127">
                <a:moveTo>
                  <a:pt x="16" y="0"/>
                </a:moveTo>
                <a:lnTo>
                  <a:pt x="24" y="71"/>
                </a:lnTo>
                <a:lnTo>
                  <a:pt x="40" y="95"/>
                </a:lnTo>
                <a:lnTo>
                  <a:pt x="64" y="119"/>
                </a:lnTo>
                <a:lnTo>
                  <a:pt x="64" y="111"/>
                </a:lnTo>
                <a:lnTo>
                  <a:pt x="56" y="127"/>
                </a:lnTo>
                <a:lnTo>
                  <a:pt x="32" y="103"/>
                </a:lnTo>
                <a:lnTo>
                  <a:pt x="24" y="103"/>
                </a:lnTo>
                <a:lnTo>
                  <a:pt x="8" y="79"/>
                </a:lnTo>
                <a:lnTo>
                  <a:pt x="8" y="71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52" name="Freeform 73"/>
          <p:cNvSpPr>
            <a:spLocks/>
          </p:cNvSpPr>
          <p:nvPr/>
        </p:nvSpPr>
        <p:spPr bwMode="auto">
          <a:xfrm>
            <a:off x="5776913" y="5637213"/>
            <a:ext cx="101600" cy="63500"/>
          </a:xfrm>
          <a:custGeom>
            <a:avLst/>
            <a:gdLst>
              <a:gd name="T0" fmla="*/ 2147483647 w 64"/>
              <a:gd name="T1" fmla="*/ 0 h 40"/>
              <a:gd name="T2" fmla="*/ 2147483647 w 64"/>
              <a:gd name="T3" fmla="*/ 2147483647 h 40"/>
              <a:gd name="T4" fmla="*/ 2147483647 w 64"/>
              <a:gd name="T5" fmla="*/ 2147483647 h 40"/>
              <a:gd name="T6" fmla="*/ 2147483647 w 64"/>
              <a:gd name="T7" fmla="*/ 2147483647 h 40"/>
              <a:gd name="T8" fmla="*/ 2147483647 w 64"/>
              <a:gd name="T9" fmla="*/ 2147483647 h 40"/>
              <a:gd name="T10" fmla="*/ 0 w 64"/>
              <a:gd name="T11" fmla="*/ 2147483647 h 40"/>
              <a:gd name="T12" fmla="*/ 2147483647 w 64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40"/>
              <a:gd name="T23" fmla="*/ 64 w 64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40">
                <a:moveTo>
                  <a:pt x="8" y="0"/>
                </a:moveTo>
                <a:lnTo>
                  <a:pt x="64" y="24"/>
                </a:lnTo>
                <a:lnTo>
                  <a:pt x="64" y="32"/>
                </a:lnTo>
                <a:lnTo>
                  <a:pt x="48" y="32"/>
                </a:lnTo>
                <a:lnTo>
                  <a:pt x="56" y="40"/>
                </a:lnTo>
                <a:lnTo>
                  <a:pt x="0" y="16"/>
                </a:lnTo>
                <a:lnTo>
                  <a:pt x="8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53" name="Rectangle 74"/>
          <p:cNvSpPr>
            <a:spLocks noChangeArrowheads="1"/>
          </p:cNvSpPr>
          <p:nvPr/>
        </p:nvSpPr>
        <p:spPr bwMode="auto">
          <a:xfrm>
            <a:off x="58785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54" name="Freeform 75"/>
          <p:cNvSpPr>
            <a:spLocks/>
          </p:cNvSpPr>
          <p:nvPr/>
        </p:nvSpPr>
        <p:spPr bwMode="auto">
          <a:xfrm>
            <a:off x="5853113" y="5688013"/>
            <a:ext cx="50800" cy="152400"/>
          </a:xfrm>
          <a:custGeom>
            <a:avLst/>
            <a:gdLst>
              <a:gd name="T0" fmla="*/ 2147483647 w 32"/>
              <a:gd name="T1" fmla="*/ 0 h 96"/>
              <a:gd name="T2" fmla="*/ 0 w 32"/>
              <a:gd name="T3" fmla="*/ 0 h 96"/>
              <a:gd name="T4" fmla="*/ 2147483647 w 32"/>
              <a:gd name="T5" fmla="*/ 2147483647 h 96"/>
              <a:gd name="T6" fmla="*/ 2147483647 w 32"/>
              <a:gd name="T7" fmla="*/ 2147483647 h 96"/>
              <a:gd name="T8" fmla="*/ 2147483647 w 32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96"/>
              <a:gd name="T17" fmla="*/ 32 w 32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96">
                <a:moveTo>
                  <a:pt x="16" y="0"/>
                </a:moveTo>
                <a:lnTo>
                  <a:pt x="0" y="0"/>
                </a:lnTo>
                <a:lnTo>
                  <a:pt x="16" y="96"/>
                </a:lnTo>
                <a:lnTo>
                  <a:pt x="32" y="96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55" name="Rectangle 76"/>
          <p:cNvSpPr>
            <a:spLocks noChangeArrowheads="1"/>
          </p:cNvSpPr>
          <p:nvPr/>
        </p:nvSpPr>
        <p:spPr bwMode="auto">
          <a:xfrm>
            <a:off x="5141913" y="5334000"/>
            <a:ext cx="30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latin typeface="Times New Roman" charset="0"/>
              </a:rPr>
              <a:t>…</a:t>
            </a:r>
          </a:p>
        </p:txBody>
      </p:sp>
      <p:sp>
        <p:nvSpPr>
          <p:cNvPr id="16456" name="Text Box 78"/>
          <p:cNvSpPr txBox="1">
            <a:spLocks noChangeArrowheads="1"/>
          </p:cNvSpPr>
          <p:nvPr/>
        </p:nvSpPr>
        <p:spPr bwMode="auto">
          <a:xfrm>
            <a:off x="4343400" y="1676400"/>
            <a:ext cx="4419600" cy="3387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size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()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return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t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charset="2"/>
                <a:cs typeface="Symbol" charset="2"/>
                <a:sym typeface="Symbol" charset="0"/>
              </a:rPr>
              <a:t>+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</a:p>
          <a:p>
            <a:pPr eaLnBrk="1" hangingPunct="1"/>
            <a:endParaRPr lang="en-US" b="1" dirty="0">
              <a:solidFill>
                <a:schemeClr val="tx2"/>
              </a:solidFill>
              <a:latin typeface="Times New Roman" charset="0"/>
            </a:endParaRP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pop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()</a:t>
            </a:r>
          </a:p>
          <a:p>
            <a:pPr eaLnBrk="1" hangingPunct="1"/>
            <a:r>
              <a:rPr lang="en-US" dirty="0">
                <a:latin typeface="Times New Roman" charset="0"/>
                <a:sym typeface="Symbol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if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isEmpty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()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then</a:t>
            </a: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</a:t>
            </a:r>
            <a:r>
              <a:rPr lang="en-US" b="1" dirty="0" smtClean="0">
                <a:solidFill>
                  <a:srgbClr val="000000"/>
                </a:solidFill>
                <a:latin typeface="Times New Roman" charset="0"/>
                <a:sym typeface="Symbol" charset="0"/>
              </a:rPr>
              <a:t>return null</a:t>
            </a:r>
            <a:endParaRPr lang="en-US" b="1" dirty="0">
              <a:solidFill>
                <a:srgbClr val="000000"/>
              </a:solidFill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else 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endParaRPr lang="en-US" dirty="0">
              <a:latin typeface="Times New Roman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t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t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charset="2"/>
                <a:cs typeface="Symbol" charset="2"/>
                <a:sym typeface="Symbol" charset="0"/>
              </a:rPr>
              <a:t>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return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[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t </a:t>
            </a:r>
            <a:r>
              <a:rPr lang="en-US" dirty="0">
                <a:solidFill>
                  <a:schemeClr val="accent2"/>
                </a:solidFill>
                <a:latin typeface="Symbol" charset="2"/>
                <a:cs typeface="Symbol" charset="2"/>
                <a:sym typeface="Symbol" charset="0"/>
              </a:rPr>
              <a:t>+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1]</a:t>
            </a:r>
          </a:p>
        </p:txBody>
      </p:sp>
      <p:sp>
        <p:nvSpPr>
          <p:cNvPr id="16457" name="Date Placeholder 7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A6EA209-4AC0-C244-BADF-13C0F9789475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Array-based Stack (cont.)</a:t>
            </a:r>
          </a:p>
        </p:txBody>
      </p:sp>
      <p:sp>
        <p:nvSpPr>
          <p:cNvPr id="1741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3657600" cy="3429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 sz="2400" dirty="0">
                <a:latin typeface="Tahoma" charset="0"/>
              </a:rPr>
              <a:t>The array storing the stack elements may become full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q"/>
            </a:pPr>
            <a:r>
              <a:rPr lang="en-US" sz="2400" dirty="0">
                <a:latin typeface="Tahoma" charset="0"/>
              </a:rPr>
              <a:t>A push operation will then throw a </a:t>
            </a:r>
            <a:r>
              <a:rPr lang="en-US" sz="2400" dirty="0" err="1">
                <a:solidFill>
                  <a:schemeClr val="hlink"/>
                </a:solidFill>
                <a:latin typeface="Tahoma" charset="0"/>
              </a:rPr>
              <a:t>FullStackException</a:t>
            </a:r>
            <a:endParaRPr lang="en-US" sz="2400" dirty="0">
              <a:solidFill>
                <a:schemeClr val="hlink"/>
              </a:solidFill>
              <a:latin typeface="Tahoma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Limitation of the array-based  implementation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Not intrinsic to the Stack ADT</a:t>
            </a:r>
            <a:endParaRPr lang="en-US" sz="2400" dirty="0">
              <a:latin typeface="Tahoma" charset="0"/>
            </a:endParaRPr>
          </a:p>
        </p:txBody>
      </p:sp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endParaRPr lang="en-US" sz="4400">
              <a:solidFill>
                <a:schemeClr val="tx2"/>
              </a:solidFill>
            </a:endParaRPr>
          </a:p>
        </p:txBody>
      </p:sp>
      <p:sp>
        <p:nvSpPr>
          <p:cNvPr id="17415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752600"/>
            <a:ext cx="3581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Blip>
                <a:blip r:embed="rId2"/>
              </a:buBlip>
            </a:pPr>
            <a:endParaRPr lang="en-US"/>
          </a:p>
        </p:txBody>
      </p:sp>
      <p:grpSp>
        <p:nvGrpSpPr>
          <p:cNvPr id="17416" name="Group 6"/>
          <p:cNvGrpSpPr>
            <a:grpSpLocks/>
          </p:cNvGrpSpPr>
          <p:nvPr/>
        </p:nvGrpSpPr>
        <p:grpSpPr bwMode="auto">
          <a:xfrm>
            <a:off x="1447800" y="5453063"/>
            <a:ext cx="6934200" cy="871537"/>
            <a:chOff x="912" y="3435"/>
            <a:chExt cx="4368" cy="549"/>
          </a:xfrm>
        </p:grpSpPr>
        <p:sp>
          <p:nvSpPr>
            <p:cNvPr id="17419" name="Rectangle 7"/>
            <p:cNvSpPr>
              <a:spLocks noChangeArrowheads="1"/>
            </p:cNvSpPr>
            <p:nvPr/>
          </p:nvSpPr>
          <p:spPr bwMode="auto">
            <a:xfrm>
              <a:off x="4560" y="3512"/>
              <a:ext cx="720" cy="2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Freeform 8"/>
            <p:cNvSpPr>
              <a:spLocks/>
            </p:cNvSpPr>
            <p:nvPr/>
          </p:nvSpPr>
          <p:spPr bwMode="auto">
            <a:xfrm>
              <a:off x="3600" y="3515"/>
              <a:ext cx="951" cy="239"/>
            </a:xfrm>
            <a:custGeom>
              <a:avLst/>
              <a:gdLst>
                <a:gd name="T0" fmla="*/ 951 w 951"/>
                <a:gd name="T1" fmla="*/ 239 h 239"/>
                <a:gd name="T2" fmla="*/ 951 w 951"/>
                <a:gd name="T3" fmla="*/ 0 h 239"/>
                <a:gd name="T4" fmla="*/ 0 w 951"/>
                <a:gd name="T5" fmla="*/ 0 h 239"/>
                <a:gd name="T6" fmla="*/ 24 w 951"/>
                <a:gd name="T7" fmla="*/ 103 h 239"/>
                <a:gd name="T8" fmla="*/ 104 w 951"/>
                <a:gd name="T9" fmla="*/ 143 h 239"/>
                <a:gd name="T10" fmla="*/ 120 w 951"/>
                <a:gd name="T11" fmla="*/ 239 h 239"/>
                <a:gd name="T12" fmla="*/ 951 w 951"/>
                <a:gd name="T13" fmla="*/ 239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1"/>
                <a:gd name="T22" fmla="*/ 0 h 239"/>
                <a:gd name="T23" fmla="*/ 951 w 951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1" h="239">
                  <a:moveTo>
                    <a:pt x="951" y="239"/>
                  </a:moveTo>
                  <a:lnTo>
                    <a:pt x="951" y="0"/>
                  </a:lnTo>
                  <a:lnTo>
                    <a:pt x="0" y="0"/>
                  </a:lnTo>
                  <a:lnTo>
                    <a:pt x="24" y="103"/>
                  </a:lnTo>
                  <a:lnTo>
                    <a:pt x="104" y="143"/>
                  </a:lnTo>
                  <a:lnTo>
                    <a:pt x="120" y="239"/>
                  </a:lnTo>
                  <a:lnTo>
                    <a:pt x="951" y="23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Freeform 9"/>
            <p:cNvSpPr>
              <a:spLocks/>
            </p:cNvSpPr>
            <p:nvPr/>
          </p:nvSpPr>
          <p:spPr bwMode="auto">
            <a:xfrm>
              <a:off x="1200" y="3515"/>
              <a:ext cx="1879" cy="239"/>
            </a:xfrm>
            <a:custGeom>
              <a:avLst/>
              <a:gdLst>
                <a:gd name="T0" fmla="*/ 0 w 1879"/>
                <a:gd name="T1" fmla="*/ 0 h 239"/>
                <a:gd name="T2" fmla="*/ 0 w 1879"/>
                <a:gd name="T3" fmla="*/ 239 h 239"/>
                <a:gd name="T4" fmla="*/ 1879 w 1879"/>
                <a:gd name="T5" fmla="*/ 239 h 239"/>
                <a:gd name="T6" fmla="*/ 1863 w 1879"/>
                <a:gd name="T7" fmla="*/ 135 h 239"/>
                <a:gd name="T8" fmla="*/ 1783 w 1879"/>
                <a:gd name="T9" fmla="*/ 79 h 239"/>
                <a:gd name="T10" fmla="*/ 1767 w 1879"/>
                <a:gd name="T11" fmla="*/ 0 h 239"/>
                <a:gd name="T12" fmla="*/ 0 w 1879"/>
                <a:gd name="T13" fmla="*/ 0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9"/>
                <a:gd name="T22" fmla="*/ 0 h 239"/>
                <a:gd name="T23" fmla="*/ 1879 w 1879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9" h="239">
                  <a:moveTo>
                    <a:pt x="0" y="0"/>
                  </a:moveTo>
                  <a:lnTo>
                    <a:pt x="0" y="239"/>
                  </a:lnTo>
                  <a:lnTo>
                    <a:pt x="1879" y="239"/>
                  </a:lnTo>
                  <a:lnTo>
                    <a:pt x="1863" y="135"/>
                  </a:lnTo>
                  <a:lnTo>
                    <a:pt x="1783" y="79"/>
                  </a:lnTo>
                  <a:lnTo>
                    <a:pt x="17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Rectangle 10"/>
            <p:cNvSpPr>
              <a:spLocks noChangeArrowheads="1"/>
            </p:cNvSpPr>
            <p:nvPr/>
          </p:nvSpPr>
          <p:spPr bwMode="auto">
            <a:xfrm>
              <a:off x="2967" y="3507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Rectangle 11"/>
            <p:cNvSpPr>
              <a:spLocks noChangeArrowheads="1"/>
            </p:cNvSpPr>
            <p:nvPr/>
          </p:nvSpPr>
          <p:spPr bwMode="auto">
            <a:xfrm>
              <a:off x="1192" y="3507"/>
              <a:ext cx="1775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Rectangle 12"/>
            <p:cNvSpPr>
              <a:spLocks noChangeArrowheads="1"/>
            </p:cNvSpPr>
            <p:nvPr/>
          </p:nvSpPr>
          <p:spPr bwMode="auto">
            <a:xfrm>
              <a:off x="1192" y="3515"/>
              <a:ext cx="16" cy="2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Rectangle 13"/>
            <p:cNvSpPr>
              <a:spLocks noChangeArrowheads="1"/>
            </p:cNvSpPr>
            <p:nvPr/>
          </p:nvSpPr>
          <p:spPr bwMode="auto">
            <a:xfrm>
              <a:off x="3079" y="3746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Rectangle 14"/>
            <p:cNvSpPr>
              <a:spLocks noChangeArrowheads="1"/>
            </p:cNvSpPr>
            <p:nvPr/>
          </p:nvSpPr>
          <p:spPr bwMode="auto">
            <a:xfrm>
              <a:off x="1200" y="3746"/>
              <a:ext cx="1879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Rectangle 15"/>
            <p:cNvSpPr>
              <a:spLocks noChangeArrowheads="1"/>
            </p:cNvSpPr>
            <p:nvPr/>
          </p:nvSpPr>
          <p:spPr bwMode="auto">
            <a:xfrm>
              <a:off x="3599" y="3507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Rectangle 16"/>
            <p:cNvSpPr>
              <a:spLocks noChangeArrowheads="1"/>
            </p:cNvSpPr>
            <p:nvPr/>
          </p:nvSpPr>
          <p:spPr bwMode="auto">
            <a:xfrm>
              <a:off x="3607" y="3507"/>
              <a:ext cx="1663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Rectangle 17"/>
            <p:cNvSpPr>
              <a:spLocks noChangeArrowheads="1"/>
            </p:cNvSpPr>
            <p:nvPr/>
          </p:nvSpPr>
          <p:spPr bwMode="auto">
            <a:xfrm>
              <a:off x="5254" y="3515"/>
              <a:ext cx="16" cy="2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Rectangle 18"/>
            <p:cNvSpPr>
              <a:spLocks noChangeArrowheads="1"/>
            </p:cNvSpPr>
            <p:nvPr/>
          </p:nvSpPr>
          <p:spPr bwMode="auto">
            <a:xfrm>
              <a:off x="3703" y="3746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Rectangle 19"/>
            <p:cNvSpPr>
              <a:spLocks noChangeArrowheads="1"/>
            </p:cNvSpPr>
            <p:nvPr/>
          </p:nvSpPr>
          <p:spPr bwMode="auto">
            <a:xfrm>
              <a:off x="3711" y="3746"/>
              <a:ext cx="1551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Rectangle 20"/>
            <p:cNvSpPr>
              <a:spLocks noChangeArrowheads="1"/>
            </p:cNvSpPr>
            <p:nvPr/>
          </p:nvSpPr>
          <p:spPr bwMode="auto">
            <a:xfrm>
              <a:off x="144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Rectangle 21"/>
            <p:cNvSpPr>
              <a:spLocks noChangeArrowheads="1"/>
            </p:cNvSpPr>
            <p:nvPr/>
          </p:nvSpPr>
          <p:spPr bwMode="auto">
            <a:xfrm>
              <a:off x="144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Rectangle 22"/>
            <p:cNvSpPr>
              <a:spLocks noChangeArrowheads="1"/>
            </p:cNvSpPr>
            <p:nvPr/>
          </p:nvSpPr>
          <p:spPr bwMode="auto">
            <a:xfrm>
              <a:off x="144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Rectangle 23"/>
            <p:cNvSpPr>
              <a:spLocks noChangeArrowheads="1"/>
            </p:cNvSpPr>
            <p:nvPr/>
          </p:nvSpPr>
          <p:spPr bwMode="auto">
            <a:xfrm>
              <a:off x="168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Rectangle 24"/>
            <p:cNvSpPr>
              <a:spLocks noChangeArrowheads="1"/>
            </p:cNvSpPr>
            <p:nvPr/>
          </p:nvSpPr>
          <p:spPr bwMode="auto">
            <a:xfrm>
              <a:off x="168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Rectangle 25"/>
            <p:cNvSpPr>
              <a:spLocks noChangeArrowheads="1"/>
            </p:cNvSpPr>
            <p:nvPr/>
          </p:nvSpPr>
          <p:spPr bwMode="auto">
            <a:xfrm>
              <a:off x="168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Rectangle 26"/>
            <p:cNvSpPr>
              <a:spLocks noChangeArrowheads="1"/>
            </p:cNvSpPr>
            <p:nvPr/>
          </p:nvSpPr>
          <p:spPr bwMode="auto">
            <a:xfrm>
              <a:off x="239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Rectangle 27"/>
            <p:cNvSpPr>
              <a:spLocks noChangeArrowheads="1"/>
            </p:cNvSpPr>
            <p:nvPr/>
          </p:nvSpPr>
          <p:spPr bwMode="auto">
            <a:xfrm>
              <a:off x="239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Rectangle 28"/>
            <p:cNvSpPr>
              <a:spLocks noChangeArrowheads="1"/>
            </p:cNvSpPr>
            <p:nvPr/>
          </p:nvSpPr>
          <p:spPr bwMode="auto">
            <a:xfrm>
              <a:off x="239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Rectangle 29"/>
            <p:cNvSpPr>
              <a:spLocks noChangeArrowheads="1"/>
            </p:cNvSpPr>
            <p:nvPr/>
          </p:nvSpPr>
          <p:spPr bwMode="auto">
            <a:xfrm>
              <a:off x="215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2" name="Rectangle 30"/>
            <p:cNvSpPr>
              <a:spLocks noChangeArrowheads="1"/>
            </p:cNvSpPr>
            <p:nvPr/>
          </p:nvSpPr>
          <p:spPr bwMode="auto">
            <a:xfrm>
              <a:off x="215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Rectangle 31"/>
            <p:cNvSpPr>
              <a:spLocks noChangeArrowheads="1"/>
            </p:cNvSpPr>
            <p:nvPr/>
          </p:nvSpPr>
          <p:spPr bwMode="auto">
            <a:xfrm>
              <a:off x="215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Rectangle 32"/>
            <p:cNvSpPr>
              <a:spLocks noChangeArrowheads="1"/>
            </p:cNvSpPr>
            <p:nvPr/>
          </p:nvSpPr>
          <p:spPr bwMode="auto">
            <a:xfrm>
              <a:off x="192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Rectangle 33"/>
            <p:cNvSpPr>
              <a:spLocks noChangeArrowheads="1"/>
            </p:cNvSpPr>
            <p:nvPr/>
          </p:nvSpPr>
          <p:spPr bwMode="auto">
            <a:xfrm>
              <a:off x="192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6" name="Rectangle 34"/>
            <p:cNvSpPr>
              <a:spLocks noChangeArrowheads="1"/>
            </p:cNvSpPr>
            <p:nvPr/>
          </p:nvSpPr>
          <p:spPr bwMode="auto">
            <a:xfrm>
              <a:off x="192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7" name="Rectangle 35"/>
            <p:cNvSpPr>
              <a:spLocks noChangeArrowheads="1"/>
            </p:cNvSpPr>
            <p:nvPr/>
          </p:nvSpPr>
          <p:spPr bwMode="auto">
            <a:xfrm>
              <a:off x="263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Rectangle 36"/>
            <p:cNvSpPr>
              <a:spLocks noChangeArrowheads="1"/>
            </p:cNvSpPr>
            <p:nvPr/>
          </p:nvSpPr>
          <p:spPr bwMode="auto">
            <a:xfrm>
              <a:off x="263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9" name="Rectangle 37"/>
            <p:cNvSpPr>
              <a:spLocks noChangeArrowheads="1"/>
            </p:cNvSpPr>
            <p:nvPr/>
          </p:nvSpPr>
          <p:spPr bwMode="auto">
            <a:xfrm>
              <a:off x="263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0" name="Rectangle 38"/>
            <p:cNvSpPr>
              <a:spLocks noChangeArrowheads="1"/>
            </p:cNvSpPr>
            <p:nvPr/>
          </p:nvSpPr>
          <p:spPr bwMode="auto">
            <a:xfrm>
              <a:off x="4286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1" name="Rectangle 39"/>
            <p:cNvSpPr>
              <a:spLocks noChangeArrowheads="1"/>
            </p:cNvSpPr>
            <p:nvPr/>
          </p:nvSpPr>
          <p:spPr bwMode="auto">
            <a:xfrm>
              <a:off x="5016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Rectangle 40"/>
            <p:cNvSpPr>
              <a:spLocks noChangeArrowheads="1"/>
            </p:cNvSpPr>
            <p:nvPr/>
          </p:nvSpPr>
          <p:spPr bwMode="auto">
            <a:xfrm>
              <a:off x="4286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Rectangle 41"/>
            <p:cNvSpPr>
              <a:spLocks noChangeArrowheads="1"/>
            </p:cNvSpPr>
            <p:nvPr/>
          </p:nvSpPr>
          <p:spPr bwMode="auto">
            <a:xfrm>
              <a:off x="287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Rectangle 42"/>
            <p:cNvSpPr>
              <a:spLocks noChangeArrowheads="1"/>
            </p:cNvSpPr>
            <p:nvPr/>
          </p:nvSpPr>
          <p:spPr bwMode="auto">
            <a:xfrm>
              <a:off x="287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Rectangle 43"/>
            <p:cNvSpPr>
              <a:spLocks noChangeArrowheads="1"/>
            </p:cNvSpPr>
            <p:nvPr/>
          </p:nvSpPr>
          <p:spPr bwMode="auto">
            <a:xfrm>
              <a:off x="287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Rectangle 44"/>
            <p:cNvSpPr>
              <a:spLocks noChangeArrowheads="1"/>
            </p:cNvSpPr>
            <p:nvPr/>
          </p:nvSpPr>
          <p:spPr bwMode="auto">
            <a:xfrm>
              <a:off x="4047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Rectangle 45"/>
            <p:cNvSpPr>
              <a:spLocks noChangeArrowheads="1"/>
            </p:cNvSpPr>
            <p:nvPr/>
          </p:nvSpPr>
          <p:spPr bwMode="auto">
            <a:xfrm>
              <a:off x="4047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Rectangle 46"/>
            <p:cNvSpPr>
              <a:spLocks noChangeArrowheads="1"/>
            </p:cNvSpPr>
            <p:nvPr/>
          </p:nvSpPr>
          <p:spPr bwMode="auto">
            <a:xfrm>
              <a:off x="4047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Rectangle 47"/>
            <p:cNvSpPr>
              <a:spLocks noChangeArrowheads="1"/>
            </p:cNvSpPr>
            <p:nvPr/>
          </p:nvSpPr>
          <p:spPr bwMode="auto">
            <a:xfrm>
              <a:off x="3807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Rectangle 48"/>
            <p:cNvSpPr>
              <a:spLocks noChangeArrowheads="1"/>
            </p:cNvSpPr>
            <p:nvPr/>
          </p:nvSpPr>
          <p:spPr bwMode="auto">
            <a:xfrm>
              <a:off x="3807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1" name="Rectangle 49"/>
            <p:cNvSpPr>
              <a:spLocks noChangeArrowheads="1"/>
            </p:cNvSpPr>
            <p:nvPr/>
          </p:nvSpPr>
          <p:spPr bwMode="auto">
            <a:xfrm>
              <a:off x="3807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Rectangle 50"/>
            <p:cNvSpPr>
              <a:spLocks noChangeArrowheads="1"/>
            </p:cNvSpPr>
            <p:nvPr/>
          </p:nvSpPr>
          <p:spPr bwMode="auto">
            <a:xfrm>
              <a:off x="453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Rectangle 51"/>
            <p:cNvSpPr>
              <a:spLocks noChangeArrowheads="1"/>
            </p:cNvSpPr>
            <p:nvPr/>
          </p:nvSpPr>
          <p:spPr bwMode="auto">
            <a:xfrm>
              <a:off x="5264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Rectangle 52"/>
            <p:cNvSpPr>
              <a:spLocks noChangeArrowheads="1"/>
            </p:cNvSpPr>
            <p:nvPr/>
          </p:nvSpPr>
          <p:spPr bwMode="auto">
            <a:xfrm>
              <a:off x="453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Rectangle 53"/>
            <p:cNvSpPr>
              <a:spLocks noChangeArrowheads="1"/>
            </p:cNvSpPr>
            <p:nvPr/>
          </p:nvSpPr>
          <p:spPr bwMode="auto">
            <a:xfrm>
              <a:off x="477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6" name="Rectangle 54"/>
            <p:cNvSpPr>
              <a:spLocks noChangeArrowheads="1"/>
            </p:cNvSpPr>
            <p:nvPr/>
          </p:nvSpPr>
          <p:spPr bwMode="auto">
            <a:xfrm>
              <a:off x="4774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Rectangle 55"/>
            <p:cNvSpPr>
              <a:spLocks noChangeArrowheads="1"/>
            </p:cNvSpPr>
            <p:nvPr/>
          </p:nvSpPr>
          <p:spPr bwMode="auto">
            <a:xfrm>
              <a:off x="477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Rectangle 56"/>
            <p:cNvSpPr>
              <a:spLocks noChangeArrowheads="1"/>
            </p:cNvSpPr>
            <p:nvPr/>
          </p:nvSpPr>
          <p:spPr bwMode="auto">
            <a:xfrm>
              <a:off x="501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Rectangle 57"/>
            <p:cNvSpPr>
              <a:spLocks noChangeArrowheads="1"/>
            </p:cNvSpPr>
            <p:nvPr/>
          </p:nvSpPr>
          <p:spPr bwMode="auto">
            <a:xfrm>
              <a:off x="501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Rectangle 58"/>
            <p:cNvSpPr>
              <a:spLocks noChangeArrowheads="1"/>
            </p:cNvSpPr>
            <p:nvPr/>
          </p:nvSpPr>
          <p:spPr bwMode="auto">
            <a:xfrm>
              <a:off x="912" y="3539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S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7471" name="Rectangle 59"/>
            <p:cNvSpPr>
              <a:spLocks noChangeArrowheads="1"/>
            </p:cNvSpPr>
            <p:nvPr/>
          </p:nvSpPr>
          <p:spPr bwMode="auto">
            <a:xfrm>
              <a:off x="1272" y="37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7472" name="Rectangle 60"/>
            <p:cNvSpPr>
              <a:spLocks noChangeArrowheads="1"/>
            </p:cNvSpPr>
            <p:nvPr/>
          </p:nvSpPr>
          <p:spPr bwMode="auto">
            <a:xfrm>
              <a:off x="1528" y="37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7473" name="Rectangle 61"/>
            <p:cNvSpPr>
              <a:spLocks noChangeArrowheads="1"/>
            </p:cNvSpPr>
            <p:nvPr/>
          </p:nvSpPr>
          <p:spPr bwMode="auto">
            <a:xfrm>
              <a:off x="1768" y="37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7474" name="Rectangle 62"/>
            <p:cNvSpPr>
              <a:spLocks noChangeArrowheads="1"/>
            </p:cNvSpPr>
            <p:nvPr/>
          </p:nvSpPr>
          <p:spPr bwMode="auto">
            <a:xfrm>
              <a:off x="5066" y="3754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t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7475" name="Rectangle 63"/>
            <p:cNvSpPr>
              <a:spLocks noChangeArrowheads="1"/>
            </p:cNvSpPr>
            <p:nvPr/>
          </p:nvSpPr>
          <p:spPr bwMode="auto">
            <a:xfrm>
              <a:off x="295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6" name="Freeform 64"/>
            <p:cNvSpPr>
              <a:spLocks/>
            </p:cNvSpPr>
            <p:nvPr/>
          </p:nvSpPr>
          <p:spPr bwMode="auto">
            <a:xfrm>
              <a:off x="2959" y="3515"/>
              <a:ext cx="64" cy="127"/>
            </a:xfrm>
            <a:custGeom>
              <a:avLst/>
              <a:gdLst>
                <a:gd name="T0" fmla="*/ 16 w 64"/>
                <a:gd name="T1" fmla="*/ 0 h 127"/>
                <a:gd name="T2" fmla="*/ 32 w 64"/>
                <a:gd name="T3" fmla="*/ 71 h 127"/>
                <a:gd name="T4" fmla="*/ 32 w 64"/>
                <a:gd name="T5" fmla="*/ 71 h 127"/>
                <a:gd name="T6" fmla="*/ 32 w 64"/>
                <a:gd name="T7" fmla="*/ 71 h 127"/>
                <a:gd name="T8" fmla="*/ 40 w 64"/>
                <a:gd name="T9" fmla="*/ 95 h 127"/>
                <a:gd name="T10" fmla="*/ 40 w 64"/>
                <a:gd name="T11" fmla="*/ 95 h 127"/>
                <a:gd name="T12" fmla="*/ 40 w 64"/>
                <a:gd name="T13" fmla="*/ 95 h 127"/>
                <a:gd name="T14" fmla="*/ 64 w 64"/>
                <a:gd name="T15" fmla="*/ 119 h 127"/>
                <a:gd name="T16" fmla="*/ 64 w 64"/>
                <a:gd name="T17" fmla="*/ 111 h 127"/>
                <a:gd name="T18" fmla="*/ 56 w 64"/>
                <a:gd name="T19" fmla="*/ 127 h 127"/>
                <a:gd name="T20" fmla="*/ 56 w 64"/>
                <a:gd name="T21" fmla="*/ 127 h 127"/>
                <a:gd name="T22" fmla="*/ 32 w 64"/>
                <a:gd name="T23" fmla="*/ 103 h 127"/>
                <a:gd name="T24" fmla="*/ 32 w 64"/>
                <a:gd name="T25" fmla="*/ 103 h 127"/>
                <a:gd name="T26" fmla="*/ 24 w 64"/>
                <a:gd name="T27" fmla="*/ 103 h 127"/>
                <a:gd name="T28" fmla="*/ 16 w 64"/>
                <a:gd name="T29" fmla="*/ 79 h 127"/>
                <a:gd name="T30" fmla="*/ 16 w 64"/>
                <a:gd name="T31" fmla="*/ 79 h 127"/>
                <a:gd name="T32" fmla="*/ 16 w 64"/>
                <a:gd name="T33" fmla="*/ 71 h 127"/>
                <a:gd name="T34" fmla="*/ 0 w 64"/>
                <a:gd name="T35" fmla="*/ 0 h 127"/>
                <a:gd name="T36" fmla="*/ 1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32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16" y="79"/>
                  </a:lnTo>
                  <a:lnTo>
                    <a:pt x="16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65"/>
            <p:cNvSpPr>
              <a:spLocks/>
            </p:cNvSpPr>
            <p:nvPr/>
          </p:nvSpPr>
          <p:spPr bwMode="auto">
            <a:xfrm>
              <a:off x="3015" y="3626"/>
              <a:ext cx="64" cy="40"/>
            </a:xfrm>
            <a:custGeom>
              <a:avLst/>
              <a:gdLst>
                <a:gd name="T0" fmla="*/ 8 w 64"/>
                <a:gd name="T1" fmla="*/ 0 h 40"/>
                <a:gd name="T2" fmla="*/ 64 w 64"/>
                <a:gd name="T3" fmla="*/ 24 h 40"/>
                <a:gd name="T4" fmla="*/ 64 w 64"/>
                <a:gd name="T5" fmla="*/ 32 h 40"/>
                <a:gd name="T6" fmla="*/ 48 w 64"/>
                <a:gd name="T7" fmla="*/ 32 h 40"/>
                <a:gd name="T8" fmla="*/ 56 w 64"/>
                <a:gd name="T9" fmla="*/ 40 h 40"/>
                <a:gd name="T10" fmla="*/ 0 w 64"/>
                <a:gd name="T11" fmla="*/ 16 h 40"/>
                <a:gd name="T12" fmla="*/ 8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Rectangle 66"/>
            <p:cNvSpPr>
              <a:spLocks noChangeArrowheads="1"/>
            </p:cNvSpPr>
            <p:nvPr/>
          </p:nvSpPr>
          <p:spPr bwMode="auto">
            <a:xfrm>
              <a:off x="307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67"/>
            <p:cNvSpPr>
              <a:spLocks/>
            </p:cNvSpPr>
            <p:nvPr/>
          </p:nvSpPr>
          <p:spPr bwMode="auto">
            <a:xfrm>
              <a:off x="3063" y="3658"/>
              <a:ext cx="32" cy="96"/>
            </a:xfrm>
            <a:custGeom>
              <a:avLst/>
              <a:gdLst>
                <a:gd name="T0" fmla="*/ 16 w 32"/>
                <a:gd name="T1" fmla="*/ 0 h 96"/>
                <a:gd name="T2" fmla="*/ 0 w 32"/>
                <a:gd name="T3" fmla="*/ 0 h 96"/>
                <a:gd name="T4" fmla="*/ 16 w 32"/>
                <a:gd name="T5" fmla="*/ 96 h 96"/>
                <a:gd name="T6" fmla="*/ 32 w 32"/>
                <a:gd name="T7" fmla="*/ 96 h 96"/>
                <a:gd name="T8" fmla="*/ 1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Rectangle 68"/>
            <p:cNvSpPr>
              <a:spLocks noChangeArrowheads="1"/>
            </p:cNvSpPr>
            <p:nvPr/>
          </p:nvSpPr>
          <p:spPr bwMode="auto">
            <a:xfrm>
              <a:off x="3583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69"/>
            <p:cNvSpPr>
              <a:spLocks/>
            </p:cNvSpPr>
            <p:nvPr/>
          </p:nvSpPr>
          <p:spPr bwMode="auto">
            <a:xfrm>
              <a:off x="3583" y="3515"/>
              <a:ext cx="64" cy="127"/>
            </a:xfrm>
            <a:custGeom>
              <a:avLst/>
              <a:gdLst>
                <a:gd name="T0" fmla="*/ 16 w 64"/>
                <a:gd name="T1" fmla="*/ 0 h 127"/>
                <a:gd name="T2" fmla="*/ 24 w 64"/>
                <a:gd name="T3" fmla="*/ 71 h 127"/>
                <a:gd name="T4" fmla="*/ 24 w 64"/>
                <a:gd name="T5" fmla="*/ 71 h 127"/>
                <a:gd name="T6" fmla="*/ 24 w 64"/>
                <a:gd name="T7" fmla="*/ 71 h 127"/>
                <a:gd name="T8" fmla="*/ 40 w 64"/>
                <a:gd name="T9" fmla="*/ 95 h 127"/>
                <a:gd name="T10" fmla="*/ 40 w 64"/>
                <a:gd name="T11" fmla="*/ 95 h 127"/>
                <a:gd name="T12" fmla="*/ 40 w 64"/>
                <a:gd name="T13" fmla="*/ 95 h 127"/>
                <a:gd name="T14" fmla="*/ 64 w 64"/>
                <a:gd name="T15" fmla="*/ 119 h 127"/>
                <a:gd name="T16" fmla="*/ 64 w 64"/>
                <a:gd name="T17" fmla="*/ 111 h 127"/>
                <a:gd name="T18" fmla="*/ 56 w 64"/>
                <a:gd name="T19" fmla="*/ 127 h 127"/>
                <a:gd name="T20" fmla="*/ 56 w 64"/>
                <a:gd name="T21" fmla="*/ 127 h 127"/>
                <a:gd name="T22" fmla="*/ 32 w 64"/>
                <a:gd name="T23" fmla="*/ 103 h 127"/>
                <a:gd name="T24" fmla="*/ 32 w 64"/>
                <a:gd name="T25" fmla="*/ 103 h 127"/>
                <a:gd name="T26" fmla="*/ 24 w 64"/>
                <a:gd name="T27" fmla="*/ 103 h 127"/>
                <a:gd name="T28" fmla="*/ 8 w 64"/>
                <a:gd name="T29" fmla="*/ 79 h 127"/>
                <a:gd name="T30" fmla="*/ 8 w 64"/>
                <a:gd name="T31" fmla="*/ 79 h 127"/>
                <a:gd name="T32" fmla="*/ 8 w 64"/>
                <a:gd name="T33" fmla="*/ 71 h 127"/>
                <a:gd name="T34" fmla="*/ 0 w 64"/>
                <a:gd name="T35" fmla="*/ 0 h 127"/>
                <a:gd name="T36" fmla="*/ 1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24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8" y="79"/>
                  </a:lnTo>
                  <a:lnTo>
                    <a:pt x="8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70"/>
            <p:cNvSpPr>
              <a:spLocks/>
            </p:cNvSpPr>
            <p:nvPr/>
          </p:nvSpPr>
          <p:spPr bwMode="auto">
            <a:xfrm>
              <a:off x="3639" y="3626"/>
              <a:ext cx="64" cy="40"/>
            </a:xfrm>
            <a:custGeom>
              <a:avLst/>
              <a:gdLst>
                <a:gd name="T0" fmla="*/ 8 w 64"/>
                <a:gd name="T1" fmla="*/ 0 h 40"/>
                <a:gd name="T2" fmla="*/ 64 w 64"/>
                <a:gd name="T3" fmla="*/ 24 h 40"/>
                <a:gd name="T4" fmla="*/ 64 w 64"/>
                <a:gd name="T5" fmla="*/ 32 h 40"/>
                <a:gd name="T6" fmla="*/ 48 w 64"/>
                <a:gd name="T7" fmla="*/ 32 h 40"/>
                <a:gd name="T8" fmla="*/ 56 w 64"/>
                <a:gd name="T9" fmla="*/ 40 h 40"/>
                <a:gd name="T10" fmla="*/ 0 w 64"/>
                <a:gd name="T11" fmla="*/ 16 h 40"/>
                <a:gd name="T12" fmla="*/ 8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Rectangle 71"/>
            <p:cNvSpPr>
              <a:spLocks noChangeArrowheads="1"/>
            </p:cNvSpPr>
            <p:nvPr/>
          </p:nvSpPr>
          <p:spPr bwMode="auto">
            <a:xfrm>
              <a:off x="3703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72"/>
            <p:cNvSpPr>
              <a:spLocks/>
            </p:cNvSpPr>
            <p:nvPr/>
          </p:nvSpPr>
          <p:spPr bwMode="auto">
            <a:xfrm>
              <a:off x="3687" y="3658"/>
              <a:ext cx="32" cy="96"/>
            </a:xfrm>
            <a:custGeom>
              <a:avLst/>
              <a:gdLst>
                <a:gd name="T0" fmla="*/ 16 w 32"/>
                <a:gd name="T1" fmla="*/ 0 h 96"/>
                <a:gd name="T2" fmla="*/ 0 w 32"/>
                <a:gd name="T3" fmla="*/ 0 h 96"/>
                <a:gd name="T4" fmla="*/ 16 w 32"/>
                <a:gd name="T5" fmla="*/ 96 h 96"/>
                <a:gd name="T6" fmla="*/ 32 w 32"/>
                <a:gd name="T7" fmla="*/ 96 h 96"/>
                <a:gd name="T8" fmla="*/ 1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Rectangle 73"/>
            <p:cNvSpPr>
              <a:spLocks noChangeArrowheads="1"/>
            </p:cNvSpPr>
            <p:nvPr/>
          </p:nvSpPr>
          <p:spPr bwMode="auto">
            <a:xfrm>
              <a:off x="3239" y="343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latin typeface="Times New Roman" charset="0"/>
                </a:rPr>
                <a:t>…</a:t>
              </a:r>
            </a:p>
          </p:txBody>
        </p:sp>
      </p:grpSp>
      <p:sp>
        <p:nvSpPr>
          <p:cNvPr id="17417" name="Text Box 74"/>
          <p:cNvSpPr txBox="1">
            <a:spLocks noChangeArrowheads="1"/>
          </p:cNvSpPr>
          <p:nvPr/>
        </p:nvSpPr>
        <p:spPr bwMode="auto">
          <a:xfrm>
            <a:off x="4343400" y="2143125"/>
            <a:ext cx="4419600" cy="22923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push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o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)</a:t>
            </a:r>
          </a:p>
          <a:p>
            <a:pPr eaLnBrk="1" hangingPunct="1"/>
            <a:r>
              <a:rPr lang="en-US" dirty="0">
                <a:latin typeface="Times New Roman" charset="0"/>
                <a:sym typeface="Symbol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if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t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=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S.length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charset="2"/>
                <a:cs typeface="Symbol" charset="2"/>
                <a:sym typeface="Symbol" charset="0"/>
              </a:rPr>
              <a:t>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then</a:t>
            </a: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throw </a:t>
            </a:r>
            <a:r>
              <a:rPr lang="en-US" b="1" i="1" dirty="0" err="1" smtClean="0">
                <a:solidFill>
                  <a:schemeClr val="accent2"/>
                </a:solidFill>
                <a:latin typeface="Times New Roman" charset="0"/>
                <a:sym typeface="Symbol" charset="0"/>
              </a:rPr>
              <a:t>IllegalStateException</a:t>
            </a:r>
            <a:endParaRPr lang="en-US" b="1" dirty="0">
              <a:solidFill>
                <a:srgbClr val="000000"/>
              </a:solidFill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else 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endParaRPr lang="en-US" dirty="0">
              <a:latin typeface="Times New Roman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t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t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charset="2"/>
                <a:cs typeface="Symbol" charset="2"/>
                <a:sym typeface="Symbol" charset="0"/>
              </a:rPr>
              <a:t>+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[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t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]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o</a:t>
            </a:r>
          </a:p>
        </p:txBody>
      </p:sp>
      <p:sp>
        <p:nvSpPr>
          <p:cNvPr id="17418" name="Date Placeholder 7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8435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5192727-7AA6-1143-844D-4C816D6DB3F6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Performance and Limitations</a:t>
            </a:r>
          </a:p>
        </p:txBody>
      </p:sp>
      <p:sp>
        <p:nvSpPr>
          <p:cNvPr id="18437" name="Rectangle 6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4267200"/>
          </a:xfrm>
          <a:noFill/>
        </p:spPr>
        <p:txBody>
          <a:bodyPr/>
          <a:lstStyle/>
          <a:p>
            <a:pPr eaLnBrk="1" hangingPunct="1"/>
            <a:r>
              <a:rPr lang="en-US" sz="2800" dirty="0">
                <a:latin typeface="Tahoma" charset="0"/>
              </a:rPr>
              <a:t>Performance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Let 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ahoma" charset="0"/>
              </a:rPr>
              <a:t> be the number of elements in the stack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The space used is </a:t>
            </a:r>
            <a:r>
              <a:rPr lang="en-US" sz="2400" b="1" i="1" dirty="0">
                <a:latin typeface="Times New Roman" charset="0"/>
                <a:sym typeface="Symbol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</a:t>
            </a:r>
            <a:endParaRPr lang="en-US" sz="2400" dirty="0">
              <a:latin typeface="Tahoma" charset="0"/>
            </a:endParaRPr>
          </a:p>
          <a:p>
            <a:pPr lvl="1" eaLnBrk="1" hangingPunct="1"/>
            <a:r>
              <a:rPr lang="en-US" sz="2400" dirty="0">
                <a:latin typeface="Tahoma" charset="0"/>
              </a:rPr>
              <a:t>Each operation runs in time </a:t>
            </a:r>
            <a:r>
              <a:rPr lang="en-US" sz="2400" b="1" i="1" dirty="0">
                <a:latin typeface="Times New Roman" charset="0"/>
                <a:sym typeface="Symbol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(1)</a:t>
            </a:r>
          </a:p>
          <a:p>
            <a:pPr eaLnBrk="1" hangingPunct="1"/>
            <a:r>
              <a:rPr lang="en-US" sz="2800" dirty="0">
                <a:latin typeface="Tahoma" charset="0"/>
              </a:rPr>
              <a:t>Limitations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The maximum size of the stack must be defined a priori and cannot be changed</a:t>
            </a:r>
          </a:p>
          <a:p>
            <a:pPr lvl="1" eaLnBrk="1" hangingPunct="1"/>
            <a:r>
              <a:rPr lang="en-US" sz="2400" dirty="0">
                <a:latin typeface="Tahoma" charset="0"/>
              </a:rPr>
              <a:t>Trying to push a new element into a full stack causes an implementation-specific exception</a:t>
            </a:r>
          </a:p>
        </p:txBody>
      </p:sp>
      <p:sp>
        <p:nvSpPr>
          <p:cNvPr id="18438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4B5D0F0-A21B-C848-8B08-FBCEC57788AE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Array-based Stack in Java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609600" y="1768475"/>
            <a:ext cx="3962400" cy="3956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public class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Arial Narrow" charset="0"/>
              </a:rPr>
              <a:t>ArrayStack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&lt;E&gt;</a:t>
            </a:r>
            <a:br>
              <a:rPr lang="en-US" sz="2200" dirty="0">
                <a:solidFill>
                  <a:schemeClr val="tx2"/>
                </a:solidFill>
                <a:latin typeface="Arial Narrow" charset="0"/>
              </a:rPr>
            </a:b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	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implements 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Stack&lt;E&gt;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E4BB0C"/>
                </a:solidFill>
                <a:latin typeface="Arial Narrow" charset="0"/>
              </a:rPr>
              <a:t>// holds the stack elements</a:t>
            </a:r>
            <a:r>
              <a:rPr lang="en-US" sz="2200" dirty="0">
                <a:latin typeface="Arial Narrow" charset="0"/>
              </a:rPr>
              <a:t> 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private </a:t>
            </a:r>
            <a:r>
              <a:rPr lang="en-US" sz="2200" dirty="0" smtClean="0">
                <a:latin typeface="Arial Narrow" charset="0"/>
              </a:rPr>
              <a:t>E[ ] S;</a:t>
            </a:r>
            <a:endParaRPr lang="en-US" sz="2200" dirty="0">
              <a:latin typeface="Arial Narrow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E4BB0C"/>
                </a:solidFill>
                <a:latin typeface="Arial Narrow" charset="0"/>
              </a:rPr>
              <a:t>// index to top element</a:t>
            </a:r>
            <a:br>
              <a:rPr lang="en-US" sz="2200" dirty="0">
                <a:solidFill>
                  <a:srgbClr val="E4BB0C"/>
                </a:solidFill>
                <a:latin typeface="Arial Narrow" charset="0"/>
              </a:rPr>
            </a:br>
            <a:r>
              <a:rPr lang="en-US" sz="2200" dirty="0">
                <a:solidFill>
                  <a:srgbClr val="E4BB0C"/>
                </a:solidFill>
                <a:latin typeface="Arial Narrow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private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 err="1">
                <a:latin typeface="Arial Narrow" charset="0"/>
              </a:rPr>
              <a:t>int</a:t>
            </a:r>
            <a:r>
              <a:rPr lang="en-US" sz="2200" dirty="0">
                <a:latin typeface="Arial Narrow" charset="0"/>
              </a:rPr>
              <a:t> top = -1;</a:t>
            </a:r>
            <a:endParaRPr lang="en-US" sz="2200" dirty="0">
              <a:solidFill>
                <a:srgbClr val="E4BB0C"/>
              </a:solidFill>
              <a:latin typeface="Arial Narrow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E4BB0C"/>
                </a:solidFill>
                <a:latin typeface="Arial Narrow" charset="0"/>
              </a:rPr>
              <a:t>// constructor</a:t>
            </a:r>
            <a:br>
              <a:rPr lang="en-US" sz="2200" dirty="0">
                <a:solidFill>
                  <a:srgbClr val="E4BB0C"/>
                </a:solidFill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public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Arial Narrow" charset="0"/>
              </a:rPr>
              <a:t>ArrayStack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(</a:t>
            </a:r>
            <a:r>
              <a:rPr lang="en-US" sz="2200" dirty="0" err="1">
                <a:solidFill>
                  <a:schemeClr val="tx2"/>
                </a:solidFill>
                <a:latin typeface="Arial Narrow" charset="0"/>
              </a:rPr>
              <a:t>int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 capacity)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{</a:t>
            </a:r>
            <a:br>
              <a:rPr lang="en-US" sz="2200" dirty="0">
                <a:solidFill>
                  <a:srgbClr val="000000"/>
                </a:solidFill>
                <a:latin typeface="Arial Narrow" charset="0"/>
              </a:rPr>
            </a:b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		 </a:t>
            </a:r>
            <a:r>
              <a:rPr lang="en-US" sz="2200" dirty="0">
                <a:latin typeface="Arial Narrow" charset="0"/>
              </a:rPr>
              <a:t>S = (E</a:t>
            </a:r>
            <a:r>
              <a:rPr lang="en-US" sz="2200" dirty="0" smtClean="0">
                <a:latin typeface="Arial Narrow" charset="0"/>
              </a:rPr>
              <a:t>[ ]</a:t>
            </a:r>
            <a:r>
              <a:rPr lang="en-US" sz="2200" dirty="0">
                <a:latin typeface="Arial Narrow" charset="0"/>
              </a:rPr>
              <a:t>) new Object[capacity]);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}</a:t>
            </a:r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4724400" y="1768479"/>
            <a:ext cx="4038600" cy="39489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public</a:t>
            </a:r>
            <a:r>
              <a:rPr lang="en-US" sz="2200" dirty="0">
                <a:latin typeface="Arial Narrow" charset="0"/>
              </a:rPr>
              <a:t> E 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pop(</a:t>
            </a:r>
            <a:r>
              <a:rPr lang="en-US" sz="2200" dirty="0" smtClean="0">
                <a:solidFill>
                  <a:schemeClr val="tx2"/>
                </a:solidFill>
                <a:latin typeface="Arial Narrow" charset="0"/>
              </a:rPr>
              <a:t>)</a:t>
            </a:r>
            <a:r>
              <a:rPr lang="en-US" sz="2200" dirty="0" smtClean="0">
                <a:solidFill>
                  <a:srgbClr val="000000"/>
                </a:solidFill>
                <a:latin typeface="Arial Narrow" charset="0"/>
              </a:rPr>
              <a:t> {</a:t>
            </a:r>
            <a:r>
              <a:rPr lang="en-US" sz="2200" dirty="0">
                <a:latin typeface="Arial Narrow" charset="0"/>
              </a:rPr>
              <a:t/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 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if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 err="1">
                <a:latin typeface="Arial Narrow" charset="0"/>
              </a:rPr>
              <a:t>isEmpty</a:t>
            </a:r>
            <a:r>
              <a:rPr lang="en-US" sz="2200" dirty="0">
                <a:latin typeface="Arial Narrow" charset="0"/>
              </a:rPr>
              <a:t>()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	</a:t>
            </a:r>
            <a:r>
              <a:rPr lang="en-US" sz="2200" dirty="0" smtClean="0">
                <a:latin typeface="Arial Narrow" charset="0"/>
              </a:rPr>
              <a:t>		</a:t>
            </a:r>
            <a:r>
              <a:rPr lang="en-US" sz="2200" dirty="0" smtClean="0">
                <a:solidFill>
                  <a:srgbClr val="000000"/>
                </a:solidFill>
                <a:latin typeface="Arial Narrow" charset="0"/>
              </a:rPr>
              <a:t>return null</a:t>
            </a:r>
            <a:r>
              <a:rPr lang="en-US" sz="2200" dirty="0" smtClean="0">
                <a:latin typeface="Arial Narrow" charset="0"/>
              </a:rPr>
              <a:t>;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/>
            </a:r>
            <a:br>
              <a:rPr lang="en-US" sz="2200" dirty="0">
                <a:solidFill>
                  <a:schemeClr val="tx2"/>
                </a:solidFill>
                <a:latin typeface="Arial Narrow" charset="0"/>
              </a:rPr>
            </a:b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		</a:t>
            </a:r>
            <a:r>
              <a:rPr lang="en-US" sz="2200" dirty="0">
                <a:latin typeface="Arial Narrow" charset="0"/>
              </a:rPr>
              <a:t>E temp = S[top];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	</a:t>
            </a:r>
            <a:r>
              <a:rPr lang="en-US" sz="2200" dirty="0">
                <a:solidFill>
                  <a:srgbClr val="E4BB0C"/>
                </a:solidFill>
                <a:latin typeface="Arial Narrow" charset="0"/>
              </a:rPr>
              <a:t>// facilitate garbage collection:</a:t>
            </a:r>
            <a:r>
              <a:rPr lang="en-US" sz="2200" dirty="0">
                <a:latin typeface="Arial Narrow" charset="0"/>
              </a:rPr>
              <a:t> 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	S[top] =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null</a:t>
            </a:r>
            <a:r>
              <a:rPr lang="en-US" sz="2200" dirty="0">
                <a:latin typeface="Arial Narrow" charset="0"/>
              </a:rPr>
              <a:t>;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	top = top – 1;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/>
            </a:r>
            <a:br>
              <a:rPr lang="en-US" sz="2200" dirty="0">
                <a:solidFill>
                  <a:schemeClr val="tx2"/>
                </a:solidFill>
                <a:latin typeface="Arial Narrow" charset="0"/>
              </a:rPr>
            </a:b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	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return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 </a:t>
            </a:r>
            <a:r>
              <a:rPr lang="en-US" sz="2200" dirty="0">
                <a:latin typeface="Arial Narrow" charset="0"/>
              </a:rPr>
              <a:t>temp;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/>
            </a:r>
            <a:br>
              <a:rPr lang="en-US" sz="2200" dirty="0">
                <a:solidFill>
                  <a:schemeClr val="tx2"/>
                </a:solidFill>
                <a:latin typeface="Arial Narrow" charset="0"/>
              </a:rPr>
            </a:b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	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}</a:t>
            </a:r>
          </a:p>
          <a:p>
            <a:pPr eaLnBrk="1" hangingPunct="1"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…  (other methods of Stack interface)</a:t>
            </a:r>
          </a:p>
        </p:txBody>
      </p:sp>
      <p:sp>
        <p:nvSpPr>
          <p:cNvPr id="19463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A1A65BB7-0D3B-2A48-AE2E-52BFC47801E1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Example </a:t>
            </a:r>
            <a:r>
              <a:rPr lang="en-US" dirty="0" smtClean="0">
                <a:latin typeface="Tahoma" charset="0"/>
              </a:rPr>
              <a:t>Use </a:t>
            </a:r>
            <a:r>
              <a:rPr lang="en-US" dirty="0">
                <a:latin typeface="Tahoma" charset="0"/>
              </a:rPr>
              <a:t>in Java</a:t>
            </a:r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609600" y="1752600"/>
            <a:ext cx="3962400" cy="31943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public class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Tester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E4BB0C"/>
                </a:solidFill>
                <a:latin typeface="Arial Narrow" charset="0"/>
              </a:rPr>
              <a:t>// … other methods</a:t>
            </a:r>
            <a:r>
              <a:rPr lang="en-US" sz="2200" dirty="0">
                <a:latin typeface="Arial Narrow" charset="0"/>
              </a:rPr>
              <a:t> 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public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Arial Narrow" charset="0"/>
              </a:rPr>
              <a:t>intReverse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(Integer a[])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{</a:t>
            </a:r>
            <a:br>
              <a:rPr lang="en-US" sz="2200" dirty="0">
                <a:solidFill>
                  <a:srgbClr val="000000"/>
                </a:solidFill>
                <a:latin typeface="Arial Narrow" charset="0"/>
              </a:rPr>
            </a:b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		 Stack&lt;Integer&gt; </a:t>
            </a:r>
            <a:r>
              <a:rPr lang="en-US" sz="2200" dirty="0">
                <a:latin typeface="Arial Narrow" charset="0"/>
              </a:rPr>
              <a:t>s;								 s = new </a:t>
            </a:r>
            <a:r>
              <a:rPr lang="en-US" sz="2200" dirty="0" err="1">
                <a:latin typeface="Arial Narrow" charset="0"/>
              </a:rPr>
              <a:t>ArrayStack</a:t>
            </a:r>
            <a:r>
              <a:rPr lang="en-US" sz="2200" dirty="0">
                <a:latin typeface="Arial Narrow" charset="0"/>
              </a:rPr>
              <a:t>&lt;Integer&gt;();</a:t>
            </a:r>
          </a:p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        … (code to reverse array a) …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}</a:t>
            </a:r>
          </a:p>
        </p:txBody>
      </p:sp>
      <p:sp>
        <p:nvSpPr>
          <p:cNvPr id="20486" name="Text Box 5"/>
          <p:cNvSpPr txBox="1">
            <a:spLocks noChangeArrowheads="1"/>
          </p:cNvSpPr>
          <p:nvPr/>
        </p:nvSpPr>
        <p:spPr bwMode="auto">
          <a:xfrm>
            <a:off x="4724400" y="1752600"/>
            <a:ext cx="3962400" cy="2279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	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public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Arial Narrow" charset="0"/>
              </a:rPr>
              <a:t>floatReverse</a:t>
            </a:r>
            <a:r>
              <a:rPr lang="en-US" sz="2200" dirty="0">
                <a:solidFill>
                  <a:schemeClr val="tx2"/>
                </a:solidFill>
                <a:latin typeface="Arial Narrow" charset="0"/>
              </a:rPr>
              <a:t>(Float f[])</a:t>
            </a:r>
            <a:r>
              <a:rPr lang="en-US" sz="2200" dirty="0">
                <a:latin typeface="Arial Narrow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{</a:t>
            </a:r>
            <a:br>
              <a:rPr lang="en-US" sz="2200" dirty="0">
                <a:solidFill>
                  <a:srgbClr val="000000"/>
                </a:solidFill>
                <a:latin typeface="Arial Narrow" charset="0"/>
              </a:rPr>
            </a:b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		 Stack&lt;Float&gt; </a:t>
            </a:r>
            <a:r>
              <a:rPr lang="en-US" sz="2200" dirty="0">
                <a:latin typeface="Arial Narrow" charset="0"/>
              </a:rPr>
              <a:t>s;								     s = new </a:t>
            </a:r>
            <a:r>
              <a:rPr lang="en-US" sz="2200" dirty="0" err="1">
                <a:latin typeface="Arial Narrow" charset="0"/>
              </a:rPr>
              <a:t>ArrayStack</a:t>
            </a:r>
            <a:r>
              <a:rPr lang="en-US" sz="2200" dirty="0">
                <a:latin typeface="Arial Narrow" charset="0"/>
              </a:rPr>
              <a:t>&lt;Float&gt;();</a:t>
            </a:r>
          </a:p>
          <a:p>
            <a:pPr eaLnBrk="1" hangingPunct="1">
              <a:spcBef>
                <a:spcPct val="50000"/>
              </a:spcBef>
            </a:pPr>
            <a:r>
              <a:rPr lang="en-US" sz="2200" dirty="0">
                <a:latin typeface="Arial Narrow" charset="0"/>
              </a:rPr>
              <a:t>        … (code to reverse array f) …</a:t>
            </a:r>
            <a:br>
              <a:rPr lang="en-US" sz="2200" dirty="0">
                <a:latin typeface="Arial Narrow" charset="0"/>
              </a:rPr>
            </a:br>
            <a:r>
              <a:rPr lang="en-US" sz="2200" dirty="0">
                <a:latin typeface="Arial Narrow" charset="0"/>
              </a:rPr>
              <a:t>	 </a:t>
            </a:r>
            <a:r>
              <a:rPr lang="en-US" sz="2200" dirty="0">
                <a:solidFill>
                  <a:srgbClr val="000000"/>
                </a:solidFill>
                <a:latin typeface="Arial Narrow" charset="0"/>
              </a:rPr>
              <a:t>}</a:t>
            </a:r>
          </a:p>
        </p:txBody>
      </p:sp>
      <p:sp>
        <p:nvSpPr>
          <p:cNvPr id="20487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B3C881D-A873-C445-96D3-7F326FB33391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Parentheses Matching</a:t>
            </a:r>
          </a:p>
        </p:txBody>
      </p:sp>
      <p:sp>
        <p:nvSpPr>
          <p:cNvPr id="2150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Char char="q"/>
            </a:pPr>
            <a:r>
              <a:rPr lang="en-US">
                <a:latin typeface="Tahoma" charset="0"/>
              </a:rPr>
              <a:t>Each </a:t>
            </a:r>
            <a:r>
              <a:rPr lang="ja-JP" altLang="en-US">
                <a:latin typeface="Tahoma" charset="0"/>
              </a:rPr>
              <a:t>“</a:t>
            </a:r>
            <a:r>
              <a:rPr lang="en-US">
                <a:latin typeface="Tahoma" charset="0"/>
              </a:rPr>
              <a:t>(</a:t>
            </a:r>
            <a:r>
              <a:rPr lang="ja-JP" altLang="en-US">
                <a:latin typeface="Tahoma" charset="0"/>
              </a:rPr>
              <a:t>”</a:t>
            </a:r>
            <a:r>
              <a:rPr lang="en-US">
                <a:latin typeface="Tahoma" charset="0"/>
              </a:rPr>
              <a:t>, </a:t>
            </a:r>
            <a:r>
              <a:rPr lang="ja-JP" altLang="en-US">
                <a:latin typeface="Tahoma" charset="0"/>
              </a:rPr>
              <a:t>“</a:t>
            </a:r>
            <a:r>
              <a:rPr lang="en-US">
                <a:latin typeface="Tahoma" charset="0"/>
              </a:rPr>
              <a:t>{</a:t>
            </a:r>
            <a:r>
              <a:rPr lang="ja-JP" altLang="en-US">
                <a:latin typeface="Tahoma" charset="0"/>
              </a:rPr>
              <a:t>”</a:t>
            </a:r>
            <a:r>
              <a:rPr lang="en-US">
                <a:latin typeface="Tahoma" charset="0"/>
              </a:rPr>
              <a:t>, or </a:t>
            </a:r>
            <a:r>
              <a:rPr lang="ja-JP" altLang="en-US">
                <a:latin typeface="Tahoma" charset="0"/>
              </a:rPr>
              <a:t>“</a:t>
            </a:r>
            <a:r>
              <a:rPr lang="en-US">
                <a:latin typeface="Tahoma" charset="0"/>
              </a:rPr>
              <a:t>[</a:t>
            </a:r>
            <a:r>
              <a:rPr lang="ja-JP" altLang="en-US">
                <a:latin typeface="Tahoma" charset="0"/>
              </a:rPr>
              <a:t>”</a:t>
            </a:r>
            <a:r>
              <a:rPr lang="en-US">
                <a:latin typeface="Tahoma" charset="0"/>
              </a:rPr>
              <a:t> must be paired with a matching </a:t>
            </a:r>
            <a:r>
              <a:rPr lang="ja-JP" altLang="en-US">
                <a:latin typeface="Tahoma" charset="0"/>
              </a:rPr>
              <a:t>“</a:t>
            </a:r>
            <a:r>
              <a:rPr lang="en-US">
                <a:latin typeface="Tahoma" charset="0"/>
              </a:rPr>
              <a:t>)</a:t>
            </a:r>
            <a:r>
              <a:rPr lang="ja-JP" altLang="en-US">
                <a:latin typeface="Tahoma" charset="0"/>
              </a:rPr>
              <a:t>”</a:t>
            </a:r>
            <a:r>
              <a:rPr lang="en-US">
                <a:latin typeface="Tahoma" charset="0"/>
              </a:rPr>
              <a:t>, </a:t>
            </a:r>
            <a:r>
              <a:rPr lang="ja-JP" altLang="en-US">
                <a:latin typeface="Tahoma" charset="0"/>
              </a:rPr>
              <a:t>“</a:t>
            </a:r>
            <a:r>
              <a:rPr lang="en-US">
                <a:latin typeface="Tahoma" charset="0"/>
              </a:rPr>
              <a:t>}</a:t>
            </a:r>
            <a:r>
              <a:rPr lang="ja-JP" altLang="en-US">
                <a:latin typeface="Tahoma" charset="0"/>
              </a:rPr>
              <a:t>”</a:t>
            </a:r>
            <a:r>
              <a:rPr lang="en-US">
                <a:latin typeface="Tahoma" charset="0"/>
              </a:rPr>
              <a:t>, or </a:t>
            </a:r>
            <a:r>
              <a:rPr lang="ja-JP" altLang="en-US">
                <a:latin typeface="Tahoma" charset="0"/>
              </a:rPr>
              <a:t>“</a:t>
            </a:r>
            <a:r>
              <a:rPr lang="en-US">
                <a:latin typeface="Tahoma" charset="0"/>
              </a:rPr>
              <a:t>[</a:t>
            </a:r>
            <a:r>
              <a:rPr lang="ja-JP" altLang="en-US">
                <a:latin typeface="Tahoma" charset="0"/>
              </a:rPr>
              <a:t>”</a:t>
            </a:r>
            <a:endParaRPr lang="en-US">
              <a:latin typeface="Tahoma" charset="0"/>
            </a:endParaRPr>
          </a:p>
          <a:p>
            <a:pPr lvl="1" eaLnBrk="1" hangingPunct="1"/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correct: ( )(( )){([( )])}	</a:t>
            </a:r>
          </a:p>
          <a:p>
            <a:pPr lvl="1" eaLnBrk="1" hangingPunct="1"/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correct: ((( )(( )){([( )])}	</a:t>
            </a:r>
          </a:p>
          <a:p>
            <a:pPr lvl="1" eaLnBrk="1" hangingPunct="1"/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incorrect: )(( )){([( )])}</a:t>
            </a:r>
            <a:r>
              <a:rPr lang="en-US" i="1">
                <a:solidFill>
                  <a:srgbClr val="000000"/>
                </a:solidFill>
                <a:latin typeface="Arial" charset="0"/>
                <a:cs typeface="Arial" charset="0"/>
              </a:rPr>
              <a:t>	</a:t>
            </a:r>
          </a:p>
          <a:p>
            <a:pPr lvl="1" eaLnBrk="1" hangingPunct="1"/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incorrect: ({[ ])}	</a:t>
            </a:r>
          </a:p>
          <a:p>
            <a:pPr lvl="1" eaLnBrk="1" hangingPunct="1"/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incorrect: (	</a:t>
            </a:r>
          </a:p>
          <a:p>
            <a:pPr eaLnBrk="1" hangingPunct="1">
              <a:buFont typeface="Wingdings" charset="0"/>
              <a:buNone/>
            </a:pPr>
            <a:endParaRPr lang="en-US">
              <a:latin typeface="Tahoma" charset="0"/>
            </a:endParaRPr>
          </a:p>
        </p:txBody>
      </p:sp>
      <p:sp>
        <p:nvSpPr>
          <p:cNvPr id="21510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Parenthesis Matching (Java)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7563"/>
            <a:ext cx="7772400" cy="48768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public static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 err="1">
                <a:cs typeface="Arial Narrow"/>
              </a:rPr>
              <a:t>boolean</a:t>
            </a:r>
            <a:r>
              <a:rPr lang="en-US" sz="2000" dirty="0">
                <a:cs typeface="Arial Narrow"/>
              </a:rPr>
              <a:t> </a:t>
            </a:r>
            <a:r>
              <a:rPr lang="en-US" sz="2000" dirty="0" err="1">
                <a:solidFill>
                  <a:schemeClr val="tx2"/>
                </a:solidFill>
                <a:cs typeface="Arial Narrow"/>
              </a:rPr>
              <a:t>isMatched</a:t>
            </a:r>
            <a:r>
              <a:rPr lang="en-US" sz="2000" dirty="0">
                <a:cs typeface="Arial Narrow"/>
              </a:rPr>
              <a:t>(String expression) </a:t>
            </a:r>
            <a:r>
              <a:rPr lang="en-US" sz="2000" dirty="0">
                <a:solidFill>
                  <a:srgbClr val="000000"/>
                </a:solidFill>
                <a:cs typeface="Arial Narrow"/>
              </a:rPr>
              <a:t>{ </a:t>
            </a:r>
            <a:r>
              <a:rPr lang="en-US" sz="2000" dirty="0">
                <a:cs typeface="Arial Narrow"/>
              </a:rPr>
              <a:t> </a:t>
            </a:r>
            <a:endParaRPr lang="en-US" sz="2000" dirty="0" smtClean="0">
              <a:cs typeface="Arial Narro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final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>
                <a:cs typeface="Arial Narrow"/>
              </a:rPr>
              <a:t>String opening = "({["; </a:t>
            </a:r>
            <a:r>
              <a:rPr lang="en-US" sz="2000" dirty="0">
                <a:solidFill>
                  <a:schemeClr val="accent2"/>
                </a:solidFill>
                <a:cs typeface="Arial Narrow"/>
              </a:rPr>
              <a:t>// opening delimiters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final </a:t>
            </a:r>
            <a:r>
              <a:rPr lang="en-US" sz="2000" dirty="0">
                <a:cs typeface="Arial Narrow"/>
              </a:rPr>
              <a:t>String closing = ")}]"; </a:t>
            </a:r>
            <a:r>
              <a:rPr lang="en-US" sz="2000" dirty="0">
                <a:solidFill>
                  <a:srgbClr val="577052"/>
                </a:solidFill>
                <a:cs typeface="Arial Narrow"/>
              </a:rPr>
              <a:t>// respective closing delimiters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Stack</a:t>
            </a:r>
            <a:r>
              <a:rPr lang="en-US" sz="2000" dirty="0">
                <a:cs typeface="Arial Narrow"/>
              </a:rPr>
              <a:t>&lt;Character&gt; buffer = </a:t>
            </a:r>
            <a:r>
              <a:rPr lang="en-US" sz="2000" dirty="0">
                <a:solidFill>
                  <a:srgbClr val="000000"/>
                </a:solidFill>
                <a:cs typeface="Arial Narrow"/>
              </a:rPr>
              <a:t>new</a:t>
            </a:r>
            <a:r>
              <a:rPr lang="en-US" sz="2000" dirty="0">
                <a:cs typeface="Arial Narrow"/>
              </a:rPr>
              <a:t> </a:t>
            </a:r>
            <a:r>
              <a:rPr lang="en-US" sz="2000" dirty="0" err="1">
                <a:cs typeface="Arial Narrow"/>
              </a:rPr>
              <a:t>LinkedStack</a:t>
            </a:r>
            <a:r>
              <a:rPr lang="en-US" sz="2000" dirty="0">
                <a:cs typeface="Arial Narrow"/>
              </a:rPr>
              <a:t>&lt;&gt;( 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for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>
                <a:cs typeface="Arial Narrow"/>
              </a:rPr>
              <a:t>(char c : </a:t>
            </a:r>
            <a:r>
              <a:rPr lang="en-US" sz="2000" dirty="0" err="1">
                <a:cs typeface="Arial Narrow"/>
              </a:rPr>
              <a:t>expression.toCharArray</a:t>
            </a:r>
            <a:r>
              <a:rPr lang="en-US" sz="2000" dirty="0">
                <a:cs typeface="Arial Narrow"/>
              </a:rPr>
              <a:t>( )) </a:t>
            </a:r>
            <a:r>
              <a:rPr lang="en-US" sz="2000" dirty="0">
                <a:solidFill>
                  <a:srgbClr val="000000"/>
                </a:solidFill>
                <a:cs typeface="Arial Narrow"/>
              </a:rPr>
              <a:t>{</a:t>
            </a:r>
            <a:r>
              <a:rPr lang="en-US" sz="2000" dirty="0">
                <a:cs typeface="Arial Narrow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cs typeface="Arial Narrow"/>
              </a:rPr>
              <a:t> </a:t>
            </a: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if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>
                <a:cs typeface="Arial Narrow"/>
              </a:rPr>
              <a:t>(</a:t>
            </a:r>
            <a:r>
              <a:rPr lang="en-US" sz="2000" dirty="0" err="1">
                <a:cs typeface="Arial Narrow"/>
              </a:rPr>
              <a:t>opening.indexOf</a:t>
            </a:r>
            <a:r>
              <a:rPr lang="en-US" sz="2000" dirty="0">
                <a:cs typeface="Arial Narrow"/>
              </a:rPr>
              <a:t>(c) != −1) </a:t>
            </a:r>
            <a:r>
              <a:rPr lang="en-US" sz="2000" dirty="0">
                <a:solidFill>
                  <a:srgbClr val="577052"/>
                </a:solidFill>
                <a:cs typeface="Arial Narrow"/>
              </a:rPr>
              <a:t>// this is a left delimiter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    </a:t>
            </a:r>
            <a:r>
              <a:rPr lang="en-US" sz="2000" dirty="0" err="1" smtClean="0">
                <a:cs typeface="Arial Narrow"/>
              </a:rPr>
              <a:t>buffer.push</a:t>
            </a:r>
            <a:r>
              <a:rPr lang="en-US" sz="2000" dirty="0">
                <a:cs typeface="Arial Narrow"/>
              </a:rPr>
              <a:t>(c);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else </a:t>
            </a:r>
            <a:r>
              <a:rPr lang="en-US" sz="2000" dirty="0">
                <a:solidFill>
                  <a:srgbClr val="000000"/>
                </a:solidFill>
                <a:cs typeface="Arial Narrow"/>
              </a:rPr>
              <a:t>if</a:t>
            </a:r>
            <a:r>
              <a:rPr lang="en-US" sz="2000" dirty="0">
                <a:cs typeface="Arial Narrow"/>
              </a:rPr>
              <a:t> (</a:t>
            </a:r>
            <a:r>
              <a:rPr lang="en-US" sz="2000" dirty="0" err="1">
                <a:cs typeface="Arial Narrow"/>
              </a:rPr>
              <a:t>closing.indexOf</a:t>
            </a:r>
            <a:r>
              <a:rPr lang="en-US" sz="2000" dirty="0">
                <a:cs typeface="Arial Narrow"/>
              </a:rPr>
              <a:t>(c) != −1) </a:t>
            </a:r>
            <a:r>
              <a:rPr lang="en-US" sz="2000" dirty="0">
                <a:solidFill>
                  <a:srgbClr val="000000"/>
                </a:solidFill>
                <a:cs typeface="Arial Narrow"/>
              </a:rPr>
              <a:t>{</a:t>
            </a:r>
            <a:r>
              <a:rPr lang="en-US" sz="2000" dirty="0">
                <a:cs typeface="Arial Narrow"/>
              </a:rPr>
              <a:t> </a:t>
            </a:r>
            <a:r>
              <a:rPr lang="en-US" sz="2000" dirty="0">
                <a:solidFill>
                  <a:srgbClr val="577052"/>
                </a:solidFill>
                <a:cs typeface="Arial Narrow"/>
              </a:rPr>
              <a:t>// this is a right delimiter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  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if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>
                <a:cs typeface="Arial Narrow"/>
              </a:rPr>
              <a:t>(</a:t>
            </a:r>
            <a:r>
              <a:rPr lang="en-US" sz="2000" dirty="0" err="1">
                <a:cs typeface="Arial Narrow"/>
              </a:rPr>
              <a:t>buffer.isEmpty</a:t>
            </a:r>
            <a:r>
              <a:rPr lang="en-US" sz="2000" dirty="0">
                <a:cs typeface="Arial Narrow"/>
              </a:rPr>
              <a:t>( )) </a:t>
            </a:r>
            <a:r>
              <a:rPr lang="en-US" sz="2000" dirty="0">
                <a:solidFill>
                  <a:srgbClr val="577052"/>
                </a:solidFill>
                <a:cs typeface="Arial Narrow"/>
              </a:rPr>
              <a:t>// nothing to match with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    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return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>
                <a:cs typeface="Arial Narrow"/>
              </a:rPr>
              <a:t>false;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 </a:t>
            </a:r>
            <a:r>
              <a:rPr lang="en-US" sz="2000" dirty="0" smtClean="0">
                <a:cs typeface="Arial Narrow"/>
              </a:rPr>
              <a:t>  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if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>
                <a:cs typeface="Arial Narrow"/>
              </a:rPr>
              <a:t>(</a:t>
            </a:r>
            <a:r>
              <a:rPr lang="en-US" sz="2000" dirty="0" err="1">
                <a:cs typeface="Arial Narrow"/>
              </a:rPr>
              <a:t>closing.indexOf</a:t>
            </a:r>
            <a:r>
              <a:rPr lang="en-US" sz="2000" dirty="0">
                <a:cs typeface="Arial Narrow"/>
              </a:rPr>
              <a:t>(c) != </a:t>
            </a:r>
            <a:r>
              <a:rPr lang="en-US" sz="2000" dirty="0" err="1">
                <a:cs typeface="Arial Narrow"/>
              </a:rPr>
              <a:t>opening.indexOf</a:t>
            </a:r>
            <a:r>
              <a:rPr lang="en-US" sz="2000" dirty="0">
                <a:cs typeface="Arial Narrow"/>
              </a:rPr>
              <a:t>(</a:t>
            </a:r>
            <a:r>
              <a:rPr lang="en-US" sz="2000" dirty="0" err="1">
                <a:cs typeface="Arial Narrow"/>
              </a:rPr>
              <a:t>buffer.pop</a:t>
            </a:r>
            <a:r>
              <a:rPr lang="en-US" sz="2000" dirty="0">
                <a:cs typeface="Arial Narrow"/>
              </a:rPr>
              <a:t>( ))</a:t>
            </a:r>
            <a:r>
              <a:rPr lang="en-US" sz="2000" dirty="0" smtClean="0">
                <a:cs typeface="Arial Narrow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</a:t>
            </a:r>
            <a:r>
              <a:rPr lang="en-US" sz="2000" dirty="0" smtClean="0">
                <a:cs typeface="Arial Narrow"/>
              </a:rPr>
              <a:t>      return </a:t>
            </a:r>
            <a:r>
              <a:rPr lang="en-US" sz="2000" dirty="0">
                <a:cs typeface="Arial Narrow"/>
              </a:rPr>
              <a:t>false; </a:t>
            </a:r>
            <a:r>
              <a:rPr lang="en-US" sz="2000" dirty="0">
                <a:solidFill>
                  <a:srgbClr val="577052"/>
                </a:solidFill>
                <a:cs typeface="Arial Narrow"/>
              </a:rPr>
              <a:t>// mismatched </a:t>
            </a:r>
            <a:r>
              <a:rPr lang="en-US" sz="2000" dirty="0" smtClean="0">
                <a:solidFill>
                  <a:srgbClr val="577052"/>
                </a:solidFill>
                <a:cs typeface="Arial Narrow"/>
              </a:rPr>
              <a:t>delimiter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</a:t>
            </a:r>
            <a:r>
              <a:rPr lang="en-US" sz="2000" dirty="0" smtClean="0">
                <a:cs typeface="Arial Narrow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cs typeface="Arial Narrow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Arial Narrow"/>
              </a:rPr>
              <a:t> </a:t>
            </a:r>
            <a:r>
              <a:rPr lang="en-US" sz="2000" dirty="0" smtClean="0">
                <a:cs typeface="Arial Narrow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return </a:t>
            </a:r>
            <a:r>
              <a:rPr lang="en-US" sz="2000" dirty="0" err="1">
                <a:cs typeface="Arial Narrow"/>
              </a:rPr>
              <a:t>buffer.isEmpty</a:t>
            </a:r>
            <a:r>
              <a:rPr lang="en-US" sz="2000" dirty="0">
                <a:cs typeface="Arial Narrow"/>
              </a:rPr>
              <a:t>( )</a:t>
            </a:r>
            <a:r>
              <a:rPr lang="en-US" sz="2000" dirty="0">
                <a:solidFill>
                  <a:srgbClr val="577052"/>
                </a:solidFill>
                <a:cs typeface="Arial Narrow"/>
              </a:rPr>
              <a:t>; // were all opening delimiters matched?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solidFill>
                  <a:srgbClr val="000000"/>
                </a:solidFill>
                <a:cs typeface="Arial Narrow"/>
              </a:rPr>
              <a:t>}</a:t>
            </a:r>
            <a:endParaRPr lang="en-US" sz="2000" dirty="0">
              <a:solidFill>
                <a:srgbClr val="000000"/>
              </a:solidFill>
              <a:cs typeface="Arial Narrow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A9CF00-2E40-4B4F-9F53-DC88D6343B9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42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23555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80B72A2-52B5-6F46-A2C2-B50F0519F408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HTML Tag Matching</a:t>
            </a:r>
          </a:p>
        </p:txBody>
      </p:sp>
      <p:sp>
        <p:nvSpPr>
          <p:cNvPr id="2355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1400" dirty="0">
              <a:latin typeface="Tahoma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&lt;body&gt;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&lt;center&gt;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&lt;h1&gt;</a:t>
            </a:r>
            <a:r>
              <a:rPr lang="en-US" sz="1400" dirty="0">
                <a:latin typeface="Tahoma" charset="0"/>
              </a:rPr>
              <a:t> The Little Boat </a:t>
            </a: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&lt;/h1&gt;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&lt;/center&gt;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&lt;p&gt; </a:t>
            </a:r>
            <a:r>
              <a:rPr lang="en-US" sz="1400" dirty="0">
                <a:latin typeface="Tahoma" charset="0"/>
              </a:rPr>
              <a:t>The storm tossed the little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latin typeface="Tahoma" charset="0"/>
              </a:rPr>
              <a:t>boat like a cheap sneaker in an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latin typeface="Tahoma" charset="0"/>
              </a:rPr>
              <a:t>old washing machine. The three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latin typeface="Tahoma" charset="0"/>
              </a:rPr>
              <a:t>drunken fishermen were used to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latin typeface="Tahoma" charset="0"/>
              </a:rPr>
              <a:t>such treatment, of course, but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latin typeface="Tahoma" charset="0"/>
              </a:rPr>
              <a:t>not the tree salesman, who even as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latin typeface="Tahoma" charset="0"/>
              </a:rPr>
              <a:t>a stowaway now felt that he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latin typeface="Tahoma" charset="0"/>
              </a:rPr>
              <a:t>had overpaid for the voyage. </a:t>
            </a: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&lt;/p&gt;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</a:t>
            </a:r>
            <a:r>
              <a:rPr lang="en-US" sz="1400" dirty="0" err="1">
                <a:solidFill>
                  <a:srgbClr val="C00000"/>
                </a:solidFill>
                <a:latin typeface="Tahoma" charset="0"/>
              </a:rPr>
              <a:t>ol</a:t>
            </a: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&lt;li&gt;</a:t>
            </a:r>
            <a:r>
              <a:rPr lang="en-US" sz="1400" dirty="0">
                <a:latin typeface="Tahoma" charset="0"/>
              </a:rPr>
              <a:t> Will the salesman die? </a:t>
            </a: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&lt;/li&gt;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&lt;li&gt;</a:t>
            </a:r>
            <a:r>
              <a:rPr lang="en-US" sz="1400" dirty="0">
                <a:latin typeface="Tahoma" charset="0"/>
              </a:rPr>
              <a:t> What color is the boat? </a:t>
            </a: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&lt;/li&gt;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&lt;li&gt;</a:t>
            </a:r>
            <a:r>
              <a:rPr lang="en-US" sz="1400" dirty="0">
                <a:latin typeface="Tahoma" charset="0"/>
              </a:rPr>
              <a:t> And what about Naomi? </a:t>
            </a: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&lt;/li&gt;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</a:t>
            </a:r>
            <a:r>
              <a:rPr lang="en-US" sz="1400" dirty="0" err="1">
                <a:solidFill>
                  <a:srgbClr val="C00000"/>
                </a:solidFill>
                <a:latin typeface="Tahoma" charset="0"/>
              </a:rPr>
              <a:t>ol</a:t>
            </a: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400" dirty="0">
                <a:solidFill>
                  <a:srgbClr val="C00000"/>
                </a:solidFill>
                <a:latin typeface="Tahoma" charset="0"/>
              </a:rPr>
              <a:t>&lt;/body&gt;</a:t>
            </a:r>
          </a:p>
        </p:txBody>
      </p:sp>
      <p:sp>
        <p:nvSpPr>
          <p:cNvPr id="23558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charset="0"/>
              <a:buNone/>
            </a:pPr>
            <a:endParaRPr lang="en-US" sz="24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  <a:p>
            <a:pPr algn="ctr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The Little Boat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14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The storm tossed the little boat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like a cheap sneaker in an old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washing machine. The three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drunken fishermen were used to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such treatment, of course, but not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the tree salesman, who even as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a stowaway now felt that he had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overpaid for the voyage.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16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1. Will the salesman die?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2. What color is the boat?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3. And what about Naomi?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sz="16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23559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524000"/>
            <a:ext cx="830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110000"/>
              <a:buFont typeface="Wingdings" charset="2"/>
              <a:buChar char="q"/>
            </a:pPr>
            <a:r>
              <a:rPr lang="en-US" sz="1800" dirty="0"/>
              <a:t>For fully-correct HTML, each </a:t>
            </a:r>
            <a:r>
              <a:rPr lang="en-US" sz="1800" dirty="0">
                <a:solidFill>
                  <a:srgbClr val="C00000"/>
                </a:solidFill>
              </a:rPr>
              <a:t>&lt;name&gt;</a:t>
            </a:r>
            <a:r>
              <a:rPr lang="en-US" sz="1800" dirty="0"/>
              <a:t> should pair with a matching </a:t>
            </a:r>
            <a:r>
              <a:rPr lang="en-US" sz="1800" dirty="0">
                <a:solidFill>
                  <a:srgbClr val="C00000"/>
                </a:solidFill>
              </a:rPr>
              <a:t>&lt;/name&gt;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endParaRPr lang="en-US" sz="1800" dirty="0"/>
          </a:p>
        </p:txBody>
      </p:sp>
      <p:sp>
        <p:nvSpPr>
          <p:cNvPr id="23560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Tag Matching (Java)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72440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public </a:t>
            </a:r>
            <a:r>
              <a:rPr lang="en-US" sz="1800" dirty="0">
                <a:solidFill>
                  <a:srgbClr val="000000"/>
                </a:solidFill>
              </a:rPr>
              <a:t>static</a:t>
            </a:r>
            <a:r>
              <a:rPr lang="en-US" sz="1800" dirty="0"/>
              <a:t> </a:t>
            </a:r>
            <a:r>
              <a:rPr lang="en-US" sz="1800" dirty="0" err="1"/>
              <a:t>boolean</a:t>
            </a:r>
            <a:r>
              <a:rPr lang="en-US" sz="1800" dirty="0"/>
              <a:t> </a:t>
            </a:r>
            <a:r>
              <a:rPr lang="en-US" sz="1800" dirty="0" err="1">
                <a:solidFill>
                  <a:schemeClr val="tx2"/>
                </a:solidFill>
              </a:rPr>
              <a:t>isHTMLMatched</a:t>
            </a:r>
            <a:r>
              <a:rPr lang="en-US" sz="1800" dirty="0"/>
              <a:t>(String html) </a:t>
            </a:r>
            <a:r>
              <a:rPr lang="en-US" sz="1800" dirty="0" smtClean="0">
                <a:solidFill>
                  <a:srgbClr val="000000"/>
                </a:solidFill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Stack</a:t>
            </a:r>
            <a:r>
              <a:rPr lang="en-US" sz="1800" dirty="0"/>
              <a:t>&lt;String&gt; buffer =  new </a:t>
            </a:r>
            <a:r>
              <a:rPr lang="en-US" sz="1800" dirty="0" err="1"/>
              <a:t>LinkedStack</a:t>
            </a:r>
            <a:r>
              <a:rPr lang="en-US" sz="1800" dirty="0"/>
              <a:t>&lt;&gt;( 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j = </a:t>
            </a:r>
            <a:r>
              <a:rPr lang="en-US" sz="1800" dirty="0" err="1"/>
              <a:t>html.indexOf</a:t>
            </a:r>
            <a:r>
              <a:rPr lang="en-US" sz="1800" dirty="0"/>
              <a:t>('&lt;'); </a:t>
            </a:r>
            <a:r>
              <a:rPr lang="en-US" sz="1800" dirty="0">
                <a:solidFill>
                  <a:schemeClr val="accent6"/>
                </a:solidFill>
              </a:rPr>
              <a:t>// find first ’&lt;’ character (if any</a:t>
            </a:r>
            <a:r>
              <a:rPr lang="en-US" sz="1800" dirty="0" smtClean="0">
                <a:solidFill>
                  <a:schemeClr val="accent6"/>
                </a:solidFill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0000"/>
                </a:solidFill>
              </a:rPr>
              <a:t>while</a:t>
            </a:r>
            <a:r>
              <a:rPr lang="en-US" sz="1800" dirty="0" smtClean="0"/>
              <a:t> </a:t>
            </a:r>
            <a:r>
              <a:rPr lang="en-US" sz="1800" dirty="0"/>
              <a:t>(j != −1) </a:t>
            </a:r>
            <a:r>
              <a:rPr lang="en-US" sz="1800" dirty="0" smtClean="0">
                <a:solidFill>
                  <a:srgbClr val="000000"/>
                </a:solidFill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k = </a:t>
            </a:r>
            <a:r>
              <a:rPr lang="en-US" sz="1800" dirty="0" err="1"/>
              <a:t>html.indexOf</a:t>
            </a:r>
            <a:r>
              <a:rPr lang="en-US" sz="1800" dirty="0"/>
              <a:t>('&gt;', j+1); </a:t>
            </a:r>
            <a:r>
              <a:rPr lang="en-US" sz="1800" dirty="0">
                <a:solidFill>
                  <a:srgbClr val="4E6549"/>
                </a:solidFill>
              </a:rPr>
              <a:t>// find next ’&gt;’ </a:t>
            </a:r>
            <a:r>
              <a:rPr lang="en-US" sz="1800" dirty="0" smtClean="0">
                <a:solidFill>
                  <a:srgbClr val="4E6549"/>
                </a:solidFill>
              </a:rPr>
              <a:t>character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if </a:t>
            </a:r>
            <a:r>
              <a:rPr lang="en-US" sz="1800" dirty="0"/>
              <a:t>(k == −1)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 smtClean="0"/>
              <a:t>      </a:t>
            </a:r>
            <a:r>
              <a:rPr lang="en-US" sz="1800" dirty="0" smtClean="0">
                <a:solidFill>
                  <a:srgbClr val="000000"/>
                </a:solidFill>
              </a:rPr>
              <a:t>return</a:t>
            </a:r>
            <a:r>
              <a:rPr lang="en-US" sz="1800" dirty="0" smtClean="0"/>
              <a:t> </a:t>
            </a:r>
            <a:r>
              <a:rPr lang="en-US" sz="1800" dirty="0"/>
              <a:t>false; </a:t>
            </a:r>
            <a:r>
              <a:rPr lang="en-US" sz="1800" dirty="0">
                <a:solidFill>
                  <a:srgbClr val="4E6549"/>
                </a:solidFill>
              </a:rPr>
              <a:t>// invalid </a:t>
            </a:r>
            <a:r>
              <a:rPr lang="en-US" sz="1800" dirty="0" smtClean="0">
                <a:solidFill>
                  <a:srgbClr val="4E6549"/>
                </a:solidFill>
              </a:rPr>
              <a:t>tag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String </a:t>
            </a:r>
            <a:r>
              <a:rPr lang="en-US" sz="1800" dirty="0"/>
              <a:t>tag = </a:t>
            </a:r>
            <a:r>
              <a:rPr lang="en-US" sz="1800" dirty="0" err="1"/>
              <a:t>html.substring</a:t>
            </a:r>
            <a:r>
              <a:rPr lang="en-US" sz="1800" dirty="0"/>
              <a:t>(j+1, k); </a:t>
            </a:r>
            <a:r>
              <a:rPr lang="en-US" sz="1800" dirty="0">
                <a:solidFill>
                  <a:srgbClr val="4E6549"/>
                </a:solidFill>
              </a:rPr>
              <a:t>// strip away &lt; </a:t>
            </a:r>
            <a:r>
              <a:rPr lang="en-US" sz="1800" dirty="0" smtClean="0">
                <a:solidFill>
                  <a:srgbClr val="4E6549"/>
                </a:solidFill>
              </a:rPr>
              <a:t>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sz="1800" dirty="0" smtClean="0">
                <a:solidFill>
                  <a:srgbClr val="000000"/>
                </a:solidFill>
              </a:rPr>
              <a:t>if</a:t>
            </a:r>
            <a:r>
              <a:rPr lang="en-US" sz="1800" dirty="0" smtClean="0"/>
              <a:t> </a:t>
            </a:r>
            <a:r>
              <a:rPr lang="en-US" sz="1800" dirty="0"/>
              <a:t>(!</a:t>
            </a:r>
            <a:r>
              <a:rPr lang="en-US" sz="1800" dirty="0" err="1"/>
              <a:t>tag.startsWith</a:t>
            </a:r>
            <a:r>
              <a:rPr lang="en-US" sz="1800" dirty="0"/>
              <a:t>("/")) </a:t>
            </a:r>
            <a:r>
              <a:rPr lang="en-US" sz="1800" dirty="0">
                <a:solidFill>
                  <a:schemeClr val="accent6"/>
                </a:solidFill>
              </a:rPr>
              <a:t>// this is an opening tag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</a:t>
            </a:r>
            <a:r>
              <a:rPr lang="en-US" sz="1800" dirty="0" err="1" smtClean="0"/>
              <a:t>buffer.push</a:t>
            </a:r>
            <a:r>
              <a:rPr lang="en-US" sz="1800" dirty="0"/>
              <a:t>(tag);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sz="1800" dirty="0" smtClean="0">
                <a:solidFill>
                  <a:srgbClr val="000000"/>
                </a:solidFill>
              </a:rPr>
              <a:t>else </a:t>
            </a:r>
            <a:r>
              <a:rPr lang="en-US" sz="1800" dirty="0">
                <a:solidFill>
                  <a:srgbClr val="000000"/>
                </a:solidFill>
              </a:rPr>
              <a:t>{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4E6549"/>
                </a:solidFill>
              </a:rPr>
              <a:t>// this is a closing tag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</a:t>
            </a:r>
            <a:r>
              <a:rPr lang="en-US" sz="1800" dirty="0" smtClean="0">
                <a:solidFill>
                  <a:srgbClr val="000000"/>
                </a:solidFill>
              </a:rPr>
              <a:t>if</a:t>
            </a:r>
            <a:r>
              <a:rPr lang="en-US" sz="1800" dirty="0" smtClean="0"/>
              <a:t> </a:t>
            </a:r>
            <a:r>
              <a:rPr lang="en-US" sz="1800" dirty="0"/>
              <a:t>(</a:t>
            </a:r>
            <a:r>
              <a:rPr lang="en-US" sz="1800" dirty="0" err="1"/>
              <a:t>buffer.isEmpty</a:t>
            </a:r>
            <a:r>
              <a:rPr lang="en-US" sz="1800" dirty="0"/>
              <a:t>( 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 smtClean="0"/>
              <a:t>        </a:t>
            </a:r>
            <a:r>
              <a:rPr lang="en-US" sz="1800" dirty="0" smtClean="0">
                <a:solidFill>
                  <a:srgbClr val="000000"/>
                </a:solidFill>
              </a:rPr>
              <a:t>return</a:t>
            </a:r>
            <a:r>
              <a:rPr lang="en-US" sz="1800" dirty="0" smtClean="0"/>
              <a:t> </a:t>
            </a:r>
            <a:r>
              <a:rPr lang="en-US" sz="1800" dirty="0"/>
              <a:t>false; </a:t>
            </a:r>
            <a:r>
              <a:rPr lang="en-US" sz="1800" dirty="0">
                <a:solidFill>
                  <a:srgbClr val="4E6549"/>
                </a:solidFill>
              </a:rPr>
              <a:t>// no tag to match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 smtClean="0"/>
              <a:t>      </a:t>
            </a:r>
            <a:r>
              <a:rPr lang="en-US" sz="1800" dirty="0" smtClean="0">
                <a:solidFill>
                  <a:srgbClr val="000000"/>
                </a:solidFill>
              </a:rPr>
              <a:t>if</a:t>
            </a:r>
            <a:r>
              <a:rPr lang="en-US" sz="1800" dirty="0" smtClean="0"/>
              <a:t> </a:t>
            </a:r>
            <a:r>
              <a:rPr lang="en-US" sz="1800" dirty="0"/>
              <a:t>(!</a:t>
            </a:r>
            <a:r>
              <a:rPr lang="en-US" sz="1800" dirty="0" err="1"/>
              <a:t>tag.substring</a:t>
            </a:r>
            <a:r>
              <a:rPr lang="en-US" sz="1800" dirty="0"/>
              <a:t>(1).equals(</a:t>
            </a:r>
            <a:r>
              <a:rPr lang="en-US" sz="1800" dirty="0" err="1"/>
              <a:t>buffer.pop</a:t>
            </a:r>
            <a:r>
              <a:rPr lang="en-US" sz="1800" dirty="0"/>
              <a:t>( )))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800" dirty="0" smtClean="0"/>
              <a:t>        </a:t>
            </a:r>
            <a:r>
              <a:rPr lang="en-US" sz="1800" dirty="0" smtClean="0">
                <a:solidFill>
                  <a:srgbClr val="000000"/>
                </a:solidFill>
              </a:rPr>
              <a:t>return</a:t>
            </a:r>
            <a:r>
              <a:rPr lang="en-US" sz="1800" dirty="0" smtClean="0"/>
              <a:t> </a:t>
            </a:r>
            <a:r>
              <a:rPr lang="en-US" sz="1800" dirty="0"/>
              <a:t>false; </a:t>
            </a:r>
            <a:r>
              <a:rPr lang="en-US" sz="1800" dirty="0">
                <a:solidFill>
                  <a:srgbClr val="4E6549"/>
                </a:solidFill>
              </a:rPr>
              <a:t>// mismatched tag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pl-PL" sz="1800" dirty="0" smtClean="0"/>
              <a:t>    </a:t>
            </a:r>
            <a:r>
              <a:rPr lang="pl-PL" sz="1800" dirty="0" smtClean="0">
                <a:solidFill>
                  <a:srgbClr val="000000"/>
                </a:solidFill>
              </a:rPr>
              <a:t>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pl-PL" sz="1800" dirty="0"/>
              <a:t> </a:t>
            </a:r>
            <a:r>
              <a:rPr lang="pl-PL" sz="1800" dirty="0" smtClean="0"/>
              <a:t>   j </a:t>
            </a:r>
            <a:r>
              <a:rPr lang="pl-PL" sz="1800" dirty="0"/>
              <a:t>= </a:t>
            </a:r>
            <a:r>
              <a:rPr lang="pl-PL" sz="1800" dirty="0" err="1"/>
              <a:t>html.indexOf</a:t>
            </a:r>
            <a:r>
              <a:rPr lang="pl-PL" sz="1800" dirty="0"/>
              <a:t>('&lt;', k+1)</a:t>
            </a:r>
            <a:r>
              <a:rPr lang="pl-PL" sz="1800" dirty="0">
                <a:solidFill>
                  <a:srgbClr val="4E6549"/>
                </a:solidFill>
              </a:rPr>
              <a:t>; // </a:t>
            </a:r>
            <a:r>
              <a:rPr lang="pl-PL" sz="1800" dirty="0" err="1">
                <a:solidFill>
                  <a:srgbClr val="4E6549"/>
                </a:solidFill>
              </a:rPr>
              <a:t>find</a:t>
            </a:r>
            <a:r>
              <a:rPr lang="pl-PL" sz="1800" dirty="0">
                <a:solidFill>
                  <a:srgbClr val="4E6549"/>
                </a:solidFill>
              </a:rPr>
              <a:t> </a:t>
            </a:r>
            <a:r>
              <a:rPr lang="pl-PL" sz="1800" dirty="0" err="1">
                <a:solidFill>
                  <a:srgbClr val="4E6549"/>
                </a:solidFill>
              </a:rPr>
              <a:t>next</a:t>
            </a:r>
            <a:r>
              <a:rPr lang="pl-PL" sz="1800" dirty="0">
                <a:solidFill>
                  <a:srgbClr val="4E6549"/>
                </a:solidFill>
              </a:rPr>
              <a:t> ’&lt;’ </a:t>
            </a:r>
            <a:r>
              <a:rPr lang="pl-PL" sz="1800" dirty="0" err="1">
                <a:solidFill>
                  <a:srgbClr val="4E6549"/>
                </a:solidFill>
              </a:rPr>
              <a:t>character</a:t>
            </a:r>
            <a:r>
              <a:rPr lang="pl-PL" sz="1800" dirty="0">
                <a:solidFill>
                  <a:srgbClr val="4E6549"/>
                </a:solidFill>
              </a:rPr>
              <a:t> (</a:t>
            </a:r>
            <a:r>
              <a:rPr lang="pl-PL" sz="1800" dirty="0" err="1">
                <a:solidFill>
                  <a:srgbClr val="4E6549"/>
                </a:solidFill>
              </a:rPr>
              <a:t>if</a:t>
            </a:r>
            <a:r>
              <a:rPr lang="pl-PL" sz="1800" dirty="0">
                <a:solidFill>
                  <a:srgbClr val="4E6549"/>
                </a:solidFill>
              </a:rPr>
              <a:t> </a:t>
            </a:r>
            <a:r>
              <a:rPr lang="pl-PL" sz="1800" dirty="0" err="1">
                <a:solidFill>
                  <a:srgbClr val="4E6549"/>
                </a:solidFill>
              </a:rPr>
              <a:t>any</a:t>
            </a:r>
            <a:r>
              <a:rPr lang="pl-PL" sz="1800" dirty="0">
                <a:solidFill>
                  <a:srgbClr val="4E6549"/>
                </a:solidFill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pl-PL" sz="1800" dirty="0"/>
              <a:t> </a:t>
            </a:r>
            <a:r>
              <a:rPr lang="pl-PL" sz="1800" dirty="0" smtClean="0"/>
              <a:t> 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pl-PL" sz="1800" dirty="0"/>
              <a:t> </a:t>
            </a:r>
            <a:r>
              <a:rPr lang="pl-PL" sz="1800" dirty="0" smtClean="0"/>
              <a:t> </a:t>
            </a:r>
            <a:r>
              <a:rPr lang="pl-PL" sz="1800" dirty="0" smtClean="0">
                <a:solidFill>
                  <a:srgbClr val="000000"/>
                </a:solidFill>
              </a:rPr>
              <a:t>return</a:t>
            </a:r>
            <a:r>
              <a:rPr lang="pl-PL" sz="1800" dirty="0" smtClean="0"/>
              <a:t> </a:t>
            </a:r>
            <a:r>
              <a:rPr lang="pl-PL" sz="1800" dirty="0" err="1"/>
              <a:t>buffer.isEmpty</a:t>
            </a:r>
            <a:r>
              <a:rPr lang="pl-PL" sz="1800" dirty="0"/>
              <a:t>( ); </a:t>
            </a:r>
            <a:r>
              <a:rPr lang="pl-PL" sz="1800" dirty="0">
                <a:solidFill>
                  <a:srgbClr val="4E6549"/>
                </a:solidFill>
              </a:rPr>
              <a:t>// </a:t>
            </a:r>
            <a:r>
              <a:rPr lang="pl-PL" sz="1800" dirty="0" err="1">
                <a:solidFill>
                  <a:srgbClr val="4E6549"/>
                </a:solidFill>
              </a:rPr>
              <a:t>were</a:t>
            </a:r>
            <a:r>
              <a:rPr lang="pl-PL" sz="1800" dirty="0">
                <a:solidFill>
                  <a:srgbClr val="4E6549"/>
                </a:solidFill>
              </a:rPr>
              <a:t> </a:t>
            </a:r>
            <a:r>
              <a:rPr lang="pl-PL" sz="1800" dirty="0" err="1">
                <a:solidFill>
                  <a:srgbClr val="4E6549"/>
                </a:solidFill>
              </a:rPr>
              <a:t>all</a:t>
            </a:r>
            <a:r>
              <a:rPr lang="pl-PL" sz="1800" dirty="0">
                <a:solidFill>
                  <a:srgbClr val="4E6549"/>
                </a:solidFill>
              </a:rPr>
              <a:t> </a:t>
            </a:r>
            <a:r>
              <a:rPr lang="pl-PL" sz="1800" dirty="0" err="1">
                <a:solidFill>
                  <a:srgbClr val="4E6549"/>
                </a:solidFill>
              </a:rPr>
              <a:t>opening</a:t>
            </a:r>
            <a:r>
              <a:rPr lang="pl-PL" sz="1800" dirty="0">
                <a:solidFill>
                  <a:srgbClr val="4E6549"/>
                </a:solidFill>
              </a:rPr>
              <a:t> </a:t>
            </a:r>
            <a:r>
              <a:rPr lang="pl-PL" sz="1800" dirty="0" err="1">
                <a:solidFill>
                  <a:srgbClr val="4E6549"/>
                </a:solidFill>
              </a:rPr>
              <a:t>tags</a:t>
            </a:r>
            <a:r>
              <a:rPr lang="pl-PL" sz="1800" dirty="0">
                <a:solidFill>
                  <a:srgbClr val="4E6549"/>
                </a:solidFill>
              </a:rPr>
              <a:t> </a:t>
            </a:r>
            <a:r>
              <a:rPr lang="pl-PL" sz="1800" dirty="0" err="1">
                <a:solidFill>
                  <a:srgbClr val="4E6549"/>
                </a:solidFill>
              </a:rPr>
              <a:t>matched</a:t>
            </a:r>
            <a:r>
              <a:rPr lang="pl-PL" sz="1800" dirty="0" smtClean="0">
                <a:solidFill>
                  <a:srgbClr val="4E6549"/>
                </a:solidFill>
              </a:rPr>
              <a:t>?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pl-PL" sz="1800" dirty="0" smtClean="0">
                <a:solidFill>
                  <a:srgbClr val="000000"/>
                </a:solidFill>
              </a:rPr>
              <a:t>}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2014 Goodrich, Tamassia, Goldwasser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86B1BB-FEED-9C47-A5D3-54C688D2885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Stacks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88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solidFill>
                  <a:srgbClr val="C00000"/>
                </a:solidFill>
              </a:rPr>
              <a:t>© 2014 Goodrich, Tamassia, Goldwasser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76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A3FE08E9-9CE1-C646-85D4-43F57A6D15EE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ea typeface="+mj-ea"/>
              </a:rPr>
              <a:t>Evaluating </a:t>
            </a:r>
            <a:r>
              <a:rPr lang="en-US" dirty="0" smtClean="0">
                <a:ea typeface="+mj-ea"/>
              </a:rPr>
              <a:t>Arithmetic </a:t>
            </a:r>
            <a:br>
              <a:rPr lang="en-US" dirty="0" smtClean="0">
                <a:ea typeface="+mj-ea"/>
              </a:rPr>
            </a:br>
            <a:r>
              <a:rPr lang="en-US" dirty="0" smtClean="0">
                <a:ea typeface="+mj-ea"/>
              </a:rPr>
              <a:t>Expressions</a:t>
            </a:r>
            <a:endParaRPr lang="en-US" dirty="0">
              <a:ea typeface="+mj-ea"/>
            </a:endParaRPr>
          </a:p>
        </p:txBody>
      </p:sp>
      <p:sp>
        <p:nvSpPr>
          <p:cNvPr id="27654" name="Rectangle 3"/>
          <p:cNvSpPr>
            <a:spLocks noChangeArrowheads="1"/>
          </p:cNvSpPr>
          <p:nvPr/>
        </p:nvSpPr>
        <p:spPr bwMode="auto">
          <a:xfrm>
            <a:off x="685800" y="1752600"/>
            <a:ext cx="3608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14 – 3 * 2 + 7 = (14 – (3 * 2) ) + 7 </a:t>
            </a:r>
          </a:p>
        </p:txBody>
      </p:sp>
      <p:sp>
        <p:nvSpPr>
          <p:cNvPr id="27655" name="Rectangle 4"/>
          <p:cNvSpPr>
            <a:spLocks noChangeArrowheads="1"/>
          </p:cNvSpPr>
          <p:nvPr/>
        </p:nvSpPr>
        <p:spPr bwMode="auto">
          <a:xfrm>
            <a:off x="685800" y="2195513"/>
            <a:ext cx="79248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Operator precedence</a:t>
            </a:r>
            <a:endParaRPr lang="en-US"/>
          </a:p>
          <a:p>
            <a:r>
              <a:rPr lang="en-US"/>
              <a:t>	 * has precedence over +/–</a:t>
            </a:r>
          </a:p>
          <a:p>
            <a:endParaRPr lang="en-US"/>
          </a:p>
          <a:p>
            <a:r>
              <a:rPr lang="en-US">
                <a:solidFill>
                  <a:srgbClr val="C00000"/>
                </a:solidFill>
              </a:rPr>
              <a:t>Associativity</a:t>
            </a:r>
          </a:p>
          <a:p>
            <a:r>
              <a:rPr lang="en-US"/>
              <a:t>	operators of the same precedence group</a:t>
            </a:r>
          </a:p>
          <a:p>
            <a:r>
              <a:rPr lang="en-US"/>
              <a:t>	evaluated from left to right</a:t>
            </a:r>
          </a:p>
          <a:p>
            <a:r>
              <a:rPr lang="en-US"/>
              <a:t>	Example: (x – y) + z rather than x – (y + z)</a:t>
            </a:r>
          </a:p>
        </p:txBody>
      </p:sp>
      <p:sp>
        <p:nvSpPr>
          <p:cNvPr id="27656" name="Rectangle 5"/>
          <p:cNvSpPr>
            <a:spLocks noChangeArrowheads="1"/>
          </p:cNvSpPr>
          <p:nvPr/>
        </p:nvSpPr>
        <p:spPr bwMode="auto">
          <a:xfrm>
            <a:off x="685800" y="5048250"/>
            <a:ext cx="7924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Idea:</a:t>
            </a:r>
            <a:r>
              <a:rPr lang="en-US" b="1"/>
              <a:t> </a:t>
            </a:r>
            <a:r>
              <a:rPr lang="en-US"/>
              <a:t>push each operator on the stack, but first pop and perform higher and </a:t>
            </a:r>
            <a:r>
              <a:rPr lang="en-US" i="1"/>
              <a:t>equal </a:t>
            </a:r>
            <a:r>
              <a:rPr lang="en-US"/>
              <a:t>precedence operations.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943600" y="228600"/>
            <a:ext cx="2819400" cy="646113"/>
          </a:xfrm>
          <a:prstGeom prst="rect">
            <a:avLst/>
          </a:prstGeom>
          <a:gradFill rotWithShape="1">
            <a:gsLst>
              <a:gs pos="0">
                <a:srgbClr val="BDBDBD"/>
              </a:gs>
              <a:gs pos="80000">
                <a:srgbClr val="F7F7F7"/>
              </a:gs>
              <a:gs pos="100000">
                <a:srgbClr val="F8F8F8"/>
              </a:gs>
            </a:gsLst>
            <a:lin ang="16200000"/>
          </a:gradFill>
          <a:ln w="9525">
            <a:solidFill>
              <a:srgbClr val="F9F9F9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2"/>
                </a:solidFill>
                <a:latin typeface="+mn-lt"/>
                <a:ea typeface="+mn-ea"/>
              </a:rPr>
              <a:t>Slide by Matt Stallmann included with permission.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ea typeface="+mj-ea"/>
              </a:rPr>
              <a:t>Algorithm for </a:t>
            </a:r>
            <a:r>
              <a:rPr lang="en-US" dirty="0" smtClean="0">
                <a:ea typeface="+mj-ea"/>
              </a:rPr>
              <a:t/>
            </a:r>
            <a:br>
              <a:rPr lang="en-US" dirty="0" smtClean="0">
                <a:ea typeface="+mj-ea"/>
              </a:rPr>
            </a:br>
            <a:r>
              <a:rPr lang="en-US" dirty="0" smtClean="0">
                <a:ea typeface="+mj-ea"/>
              </a:rPr>
              <a:t>Evaluating Expressions</a:t>
            </a:r>
            <a:endParaRPr lang="en-US" dirty="0">
              <a:ea typeface="+mj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2000" y="1600200"/>
            <a:ext cx="7848600" cy="4724400"/>
          </a:xfrm>
          <a:ln>
            <a:miter lim="800000"/>
            <a:headEnd/>
            <a:tailEnd/>
          </a:ln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ea typeface="+mn-ea"/>
              </a:rPr>
              <a:t>Two stacks:</a:t>
            </a:r>
          </a:p>
          <a:p>
            <a:pPr>
              <a:lnSpc>
                <a:spcPct val="120000"/>
              </a:lnSpc>
              <a:defRPr/>
            </a:pPr>
            <a:r>
              <a:rPr lang="en-US" dirty="0" smtClean="0">
                <a:ea typeface="+mn-ea"/>
              </a:rPr>
              <a:t> </a:t>
            </a:r>
            <a:r>
              <a:rPr lang="en-US" dirty="0" err="1" smtClean="0">
                <a:ea typeface="+mn-ea"/>
              </a:rPr>
              <a:t>opStk</a:t>
            </a:r>
            <a:r>
              <a:rPr lang="en-US" dirty="0" smtClean="0">
                <a:ea typeface="+mn-ea"/>
              </a:rPr>
              <a:t> holds operators</a:t>
            </a:r>
          </a:p>
          <a:p>
            <a:pPr>
              <a:lnSpc>
                <a:spcPct val="120000"/>
              </a:lnSpc>
              <a:defRPr/>
            </a:pPr>
            <a:r>
              <a:rPr lang="en-US" dirty="0" smtClean="0">
                <a:ea typeface="+mn-ea"/>
              </a:rPr>
              <a:t> </a:t>
            </a:r>
            <a:r>
              <a:rPr lang="en-US" dirty="0" err="1" smtClean="0">
                <a:ea typeface="+mn-ea"/>
              </a:rPr>
              <a:t>valStk</a:t>
            </a:r>
            <a:r>
              <a:rPr lang="en-US" dirty="0" smtClean="0">
                <a:ea typeface="+mn-ea"/>
              </a:rPr>
              <a:t> holds values</a:t>
            </a:r>
          </a:p>
          <a:p>
            <a:pPr>
              <a:lnSpc>
                <a:spcPct val="120000"/>
              </a:lnSpc>
              <a:defRPr/>
            </a:pPr>
            <a:r>
              <a:rPr lang="en-US" dirty="0" smtClean="0">
                <a:ea typeface="+mn-ea"/>
              </a:rPr>
              <a:t>Use $ as special  “end of input” token with lowest precedence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ea typeface="+mn-ea"/>
              </a:rPr>
              <a:t>Algorithm </a:t>
            </a:r>
            <a:r>
              <a:rPr lang="en-US" dirty="0" err="1" smtClean="0">
                <a:solidFill>
                  <a:srgbClr val="C00000"/>
                </a:solidFill>
                <a:ea typeface="+mn-ea"/>
              </a:rPr>
              <a:t>doOp</a:t>
            </a:r>
            <a:r>
              <a:rPr lang="en-US" dirty="0" smtClean="0">
                <a:solidFill>
                  <a:srgbClr val="C00000"/>
                </a:solidFill>
                <a:ea typeface="+mn-ea"/>
              </a:rPr>
              <a:t>()</a:t>
            </a:r>
            <a:r>
              <a:rPr lang="en-US" b="1" i="1" dirty="0" smtClean="0">
                <a:ea typeface="+mn-ea"/>
              </a:rPr>
              <a:t> 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latin typeface="Helvetica" pitchFamily="1" charset="0"/>
              </a:rPr>
              <a:t>x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 smtClean="0">
                <a:solidFill>
                  <a:srgbClr val="000000"/>
                </a:solidFill>
                <a:latin typeface="Helvetica" pitchFamily="1" charset="0"/>
              </a:rPr>
              <a:t> valStk.pop();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latin typeface="Helvetica" pitchFamily="1" charset="0"/>
              </a:rPr>
              <a:t>y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 smtClean="0">
                <a:solidFill>
                  <a:srgbClr val="000000"/>
                </a:solidFill>
                <a:latin typeface="Helvetica" pitchFamily="1" charset="0"/>
              </a:rPr>
              <a:t> valStk.pop();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000000"/>
                </a:solidFill>
                <a:latin typeface="Helvetica" pitchFamily="1" charset="0"/>
              </a:rPr>
              <a:t>op</a:t>
            </a:r>
            <a:r>
              <a:rPr lang="en-US" dirty="0" smtClean="0">
                <a:solidFill>
                  <a:srgbClr val="000000"/>
                </a:solidFill>
                <a:latin typeface="Helvetica" pitchFamily="1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 smtClean="0">
                <a:solidFill>
                  <a:srgbClr val="000000"/>
                </a:solidFill>
                <a:latin typeface="Helvetica" pitchFamily="1" charset="0"/>
              </a:rPr>
              <a:t> opStk.pop();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err="1" smtClean="0">
                <a:solidFill>
                  <a:srgbClr val="000000"/>
                </a:solidFill>
                <a:latin typeface="Helvetica" pitchFamily="1" charset="0"/>
              </a:rPr>
              <a:t>valStk.push</a:t>
            </a:r>
            <a:r>
              <a:rPr lang="en-US" dirty="0" smtClean="0">
                <a:solidFill>
                  <a:srgbClr val="000000"/>
                </a:solidFill>
              </a:rPr>
              <a:t>( y </a:t>
            </a:r>
            <a:r>
              <a:rPr lang="en-US" b="1" dirty="0" smtClean="0">
                <a:solidFill>
                  <a:srgbClr val="000000"/>
                </a:solidFill>
              </a:rPr>
              <a:t>op</a:t>
            </a:r>
            <a:r>
              <a:rPr lang="en-US" dirty="0" smtClean="0">
                <a:solidFill>
                  <a:srgbClr val="000000"/>
                </a:solidFill>
              </a:rPr>
              <a:t> x 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ea typeface="+mn-ea"/>
              </a:rPr>
              <a:t>Algorithm </a:t>
            </a:r>
            <a:r>
              <a:rPr lang="en-US" dirty="0" err="1" smtClean="0">
                <a:solidFill>
                  <a:srgbClr val="C00000"/>
                </a:solidFill>
                <a:ea typeface="+mn-ea"/>
              </a:rPr>
              <a:t>repeatOps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 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refOp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 ): 	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a typeface="+mn-ea"/>
              </a:rPr>
              <a:t>  </a:t>
            </a:r>
            <a:r>
              <a:rPr lang="en-US" b="1" dirty="0" smtClean="0">
                <a:solidFill>
                  <a:srgbClr val="000000"/>
                </a:solidFill>
                <a:ea typeface="+mn-ea"/>
              </a:rPr>
              <a:t>while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 (</a:t>
            </a:r>
            <a:r>
              <a:rPr lang="en-US" b="1" dirty="0" smtClean="0">
                <a:solidFill>
                  <a:srgbClr val="000000"/>
                </a:solidFill>
                <a:ea typeface="+mn-ea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valStk.size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() &gt; 1 </a:t>
            </a:r>
            <a:r>
              <a:rPr lang="en-US" sz="3800" b="1" dirty="0" smtClean="0">
                <a:solidFill>
                  <a:srgbClr val="000000"/>
                </a:solidFill>
                <a:latin typeface="Times New Roman" pitchFamily="18" charset="0"/>
                <a:ea typeface="+mn-ea"/>
                <a:sym typeface="Symbol" pitchFamily="18" charset="2"/>
              </a:rPr>
              <a:t></a:t>
            </a:r>
            <a:r>
              <a:rPr lang="en-US" b="1" dirty="0" smtClean="0">
                <a:solidFill>
                  <a:srgbClr val="000000"/>
                </a:solidFill>
                <a:ea typeface="+mn-ea"/>
              </a:rPr>
              <a:t>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000000"/>
                </a:solidFill>
                <a:ea typeface="+mn-ea"/>
              </a:rPr>
              <a:t>		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prec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refOp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) ≤</a:t>
            </a:r>
            <a:r>
              <a:rPr lang="en-US" b="1" dirty="0" smtClean="0">
                <a:solidFill>
                  <a:srgbClr val="000000"/>
                </a:solidFill>
                <a:ea typeface="+mn-ea"/>
              </a:rPr>
              <a:t> 	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prec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opStk.top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())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a typeface="+mn-ea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doOp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ea typeface="+mn-ea"/>
              </a:rPr>
              <a:t>Algorithm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ea typeface="+mn-ea"/>
              </a:rPr>
              <a:t>EvalExp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()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Input: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dirty="0" smtClean="0"/>
              <a:t>a stream of tokens representing an arithmetic expression (with numbers)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Output: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dirty="0" smtClean="0"/>
              <a:t>the value of the expression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endParaRPr lang="en-US" b="1" dirty="0" smtClean="0">
              <a:solidFill>
                <a:srgbClr val="000000"/>
              </a:solidFill>
              <a:ea typeface="+mn-ea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000000"/>
                </a:solidFill>
                <a:ea typeface="+mn-ea"/>
              </a:rPr>
              <a:t>while 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there’s another token z</a:t>
            </a:r>
            <a:endParaRPr lang="en-US" b="1" dirty="0" smtClean="0">
              <a:solidFill>
                <a:srgbClr val="000000"/>
              </a:solidFill>
              <a:ea typeface="+mn-ea"/>
            </a:endParaRP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000000"/>
                </a:solidFill>
                <a:ea typeface="+mn-ea"/>
              </a:rPr>
              <a:t>	if 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isNumber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(z) </a:t>
            </a:r>
            <a:r>
              <a:rPr lang="en-US" b="1" dirty="0" smtClean="0">
                <a:solidFill>
                  <a:srgbClr val="000000"/>
                </a:solidFill>
                <a:ea typeface="+mn-ea"/>
              </a:rPr>
              <a:t>then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000000"/>
                </a:solidFill>
                <a:ea typeface="+mn-ea"/>
              </a:rPr>
              <a:t>		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valStk.push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(z)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a typeface="+mn-ea"/>
              </a:rPr>
              <a:t>   	</a:t>
            </a:r>
            <a:r>
              <a:rPr lang="en-US" b="1" dirty="0" smtClean="0">
                <a:solidFill>
                  <a:srgbClr val="000000"/>
                </a:solidFill>
                <a:ea typeface="+mn-ea"/>
              </a:rPr>
              <a:t>else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ea typeface="+mn-ea"/>
              </a:rPr>
              <a:t>		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repeatOps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(z);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a typeface="+mn-ea"/>
              </a:rPr>
              <a:t>		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opStk.push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(z)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dirty="0" err="1" smtClean="0">
                <a:solidFill>
                  <a:srgbClr val="000000"/>
                </a:solidFill>
                <a:ea typeface="+mn-ea"/>
              </a:rPr>
              <a:t>repeatOps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Monaco" pitchFamily="49" charset="0"/>
                <a:ea typeface="+mn-ea"/>
              </a:rPr>
              <a:t>$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);   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000000"/>
                </a:solidFill>
                <a:ea typeface="+mn-ea"/>
              </a:rPr>
              <a:t>return </a:t>
            </a:r>
            <a:r>
              <a:rPr lang="en-US" dirty="0" err="1" smtClean="0">
                <a:solidFill>
                  <a:srgbClr val="000000"/>
                </a:solidFill>
                <a:ea typeface="+mn-ea"/>
              </a:rPr>
              <a:t>valStk.top</a:t>
            </a:r>
            <a:r>
              <a:rPr lang="en-US" dirty="0" smtClean="0">
                <a:solidFill>
                  <a:srgbClr val="000000"/>
                </a:solidFill>
                <a:ea typeface="+mn-ea"/>
              </a:rPr>
              <a:t>()</a:t>
            </a:r>
          </a:p>
        </p:txBody>
      </p:sp>
      <p:sp>
        <p:nvSpPr>
          <p:cNvPr id="28676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solidFill>
                  <a:schemeClr val="tx2"/>
                </a:solidFill>
              </a:rPr>
              <a:t>© 2014 Goodrich, Tamassia, Goldwasser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E1E8003-E30B-EA4D-AC50-115A8CE1C559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28678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943600" y="228600"/>
            <a:ext cx="2819400" cy="646113"/>
          </a:xfrm>
          <a:prstGeom prst="rect">
            <a:avLst/>
          </a:prstGeom>
          <a:gradFill rotWithShape="1">
            <a:gsLst>
              <a:gs pos="0">
                <a:srgbClr val="BDBDBD"/>
              </a:gs>
              <a:gs pos="80000">
                <a:srgbClr val="F7F7F7"/>
              </a:gs>
              <a:gs pos="100000">
                <a:srgbClr val="F8F8F8"/>
              </a:gs>
            </a:gsLst>
            <a:lin ang="16200000"/>
          </a:gradFill>
          <a:ln w="9525">
            <a:solidFill>
              <a:srgbClr val="F9F9F9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2"/>
                </a:solidFill>
                <a:latin typeface="+mn-lt"/>
                <a:ea typeface="+mn-ea"/>
              </a:rPr>
              <a:t>Slide by Matt Stallmann included with permission.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solidFill>
                  <a:srgbClr val="C00000"/>
                </a:solidFill>
              </a:rPr>
              <a:t>© 2014 Goodrich, Tamassia, Goldwasser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96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Stacks</a:t>
            </a:r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ED32DEF-8EF3-2444-B2F7-0F3314790825}" type="slidenum">
              <a:rPr lang="en-US" sz="1400"/>
              <a:pPr eaLnBrk="1" hangingPunct="1"/>
              <a:t>20</a:t>
            </a:fld>
            <a:endParaRPr lang="en-US" sz="1400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ea typeface="+mj-ea"/>
              </a:rPr>
              <a:t>Algorithm on an </a:t>
            </a:r>
            <a:r>
              <a:rPr lang="en-US" dirty="0" smtClean="0">
                <a:ea typeface="+mj-ea"/>
              </a:rPr>
              <a:t/>
            </a:r>
            <a:br>
              <a:rPr lang="en-US" dirty="0" smtClean="0">
                <a:ea typeface="+mj-ea"/>
              </a:rPr>
            </a:br>
            <a:r>
              <a:rPr lang="en-US" dirty="0" smtClean="0">
                <a:ea typeface="+mj-ea"/>
              </a:rPr>
              <a:t>Example Expression</a:t>
            </a:r>
            <a:endParaRPr lang="en-US" dirty="0">
              <a:ea typeface="+mj-ea"/>
            </a:endParaRPr>
          </a:p>
        </p:txBody>
      </p:sp>
      <p:sp>
        <p:nvSpPr>
          <p:cNvPr id="29702" name="Rectangle 3"/>
          <p:cNvSpPr>
            <a:spLocks noChangeArrowheads="1"/>
          </p:cNvSpPr>
          <p:nvPr/>
        </p:nvSpPr>
        <p:spPr bwMode="auto">
          <a:xfrm>
            <a:off x="1246188" y="15240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14  ≤ 4  –  3  *  2  +  7 </a:t>
            </a:r>
          </a:p>
        </p:txBody>
      </p:sp>
      <p:sp>
        <p:nvSpPr>
          <p:cNvPr id="29703" name="Rectangle 4"/>
          <p:cNvSpPr>
            <a:spLocks noChangeArrowheads="1"/>
          </p:cNvSpPr>
          <p:nvPr/>
        </p:nvSpPr>
        <p:spPr bwMode="auto">
          <a:xfrm>
            <a:off x="6019800" y="1371600"/>
            <a:ext cx="2667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/>
              <a:t>Operator ≤ has lower precedence than +/–</a:t>
            </a:r>
          </a:p>
        </p:txBody>
      </p:sp>
      <p:grpSp>
        <p:nvGrpSpPr>
          <p:cNvPr id="2" name="Group 101"/>
          <p:cNvGrpSpPr>
            <a:grpSpLocks/>
          </p:cNvGrpSpPr>
          <p:nvPr/>
        </p:nvGrpSpPr>
        <p:grpSpPr bwMode="auto">
          <a:xfrm>
            <a:off x="636588" y="1905000"/>
            <a:ext cx="1905000" cy="1219200"/>
            <a:chOff x="533400" y="1905000"/>
            <a:chExt cx="1905000" cy="1219200"/>
          </a:xfrm>
        </p:grpSpPr>
        <p:sp>
          <p:nvSpPr>
            <p:cNvPr id="29790" name="Rectangle 7"/>
            <p:cNvSpPr>
              <a:spLocks noChangeArrowheads="1"/>
            </p:cNvSpPr>
            <p:nvPr/>
          </p:nvSpPr>
          <p:spPr bwMode="auto">
            <a:xfrm>
              <a:off x="609600" y="2362200"/>
              <a:ext cx="457200" cy="6858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91" name="AutoShape 23"/>
            <p:cNvSpPr>
              <a:spLocks noChangeArrowheads="1"/>
            </p:cNvSpPr>
            <p:nvPr/>
          </p:nvSpPr>
          <p:spPr bwMode="auto">
            <a:xfrm>
              <a:off x="533400" y="2286000"/>
              <a:ext cx="1143000" cy="8382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92" name="Line 28"/>
            <p:cNvSpPr>
              <a:spLocks noChangeShapeType="1"/>
            </p:cNvSpPr>
            <p:nvPr/>
          </p:nvSpPr>
          <p:spPr bwMode="auto">
            <a:xfrm flipV="1">
              <a:off x="1676400" y="1905000"/>
              <a:ext cx="762000" cy="4572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93" name="Rectangle 64"/>
            <p:cNvSpPr>
              <a:spLocks noChangeArrowheads="1"/>
            </p:cNvSpPr>
            <p:nvPr/>
          </p:nvSpPr>
          <p:spPr bwMode="auto">
            <a:xfrm>
              <a:off x="1219200" y="2438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–</a:t>
              </a:r>
            </a:p>
          </p:txBody>
        </p:sp>
        <p:sp>
          <p:nvSpPr>
            <p:cNvPr id="29794" name="Rectangle 65"/>
            <p:cNvSpPr>
              <a:spLocks noChangeArrowheads="1"/>
            </p:cNvSpPr>
            <p:nvPr/>
          </p:nvSpPr>
          <p:spPr bwMode="auto">
            <a:xfrm>
              <a:off x="1219200" y="2743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≤</a:t>
              </a:r>
            </a:p>
          </p:txBody>
        </p:sp>
        <p:sp>
          <p:nvSpPr>
            <p:cNvPr id="29795" name="Rectangle 70"/>
            <p:cNvSpPr>
              <a:spLocks noChangeArrowheads="1"/>
            </p:cNvSpPr>
            <p:nvPr/>
          </p:nvSpPr>
          <p:spPr bwMode="auto">
            <a:xfrm>
              <a:off x="685800" y="2743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14</a:t>
              </a:r>
            </a:p>
          </p:txBody>
        </p:sp>
        <p:sp>
          <p:nvSpPr>
            <p:cNvPr id="29796" name="Rectangle 71"/>
            <p:cNvSpPr>
              <a:spLocks noChangeArrowheads="1"/>
            </p:cNvSpPr>
            <p:nvPr/>
          </p:nvSpPr>
          <p:spPr bwMode="auto">
            <a:xfrm>
              <a:off x="685800" y="2438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4</a:t>
              </a:r>
            </a:p>
          </p:txBody>
        </p:sp>
        <p:sp>
          <p:nvSpPr>
            <p:cNvPr id="29797" name="Rectangle 72"/>
            <p:cNvSpPr>
              <a:spLocks noChangeArrowheads="1"/>
            </p:cNvSpPr>
            <p:nvPr/>
          </p:nvSpPr>
          <p:spPr bwMode="auto">
            <a:xfrm>
              <a:off x="1143000" y="2362200"/>
              <a:ext cx="457200" cy="6858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3" name="Group 102"/>
          <p:cNvGrpSpPr>
            <a:grpSpLocks/>
          </p:cNvGrpSpPr>
          <p:nvPr/>
        </p:nvGrpSpPr>
        <p:grpSpPr bwMode="auto">
          <a:xfrm>
            <a:off x="636588" y="1905000"/>
            <a:ext cx="2590800" cy="2590800"/>
            <a:chOff x="533400" y="1905000"/>
            <a:chExt cx="2590800" cy="2590800"/>
          </a:xfrm>
        </p:grpSpPr>
        <p:sp>
          <p:nvSpPr>
            <p:cNvPr id="29780" name="Rectangle 66"/>
            <p:cNvSpPr>
              <a:spLocks noChangeArrowheads="1"/>
            </p:cNvSpPr>
            <p:nvPr/>
          </p:nvSpPr>
          <p:spPr bwMode="auto">
            <a:xfrm>
              <a:off x="1219200" y="3505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*</a:t>
              </a:r>
            </a:p>
          </p:txBody>
        </p:sp>
        <p:sp>
          <p:nvSpPr>
            <p:cNvPr id="29781" name="Rectangle 67"/>
            <p:cNvSpPr>
              <a:spLocks noChangeArrowheads="1"/>
            </p:cNvSpPr>
            <p:nvPr/>
          </p:nvSpPr>
          <p:spPr bwMode="auto">
            <a:xfrm>
              <a:off x="685800" y="3505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3</a:t>
              </a:r>
            </a:p>
          </p:txBody>
        </p:sp>
        <p:sp>
          <p:nvSpPr>
            <p:cNvPr id="29782" name="Rectangle 75"/>
            <p:cNvSpPr>
              <a:spLocks noChangeArrowheads="1"/>
            </p:cNvSpPr>
            <p:nvPr/>
          </p:nvSpPr>
          <p:spPr bwMode="auto">
            <a:xfrm>
              <a:off x="609600" y="3429000"/>
              <a:ext cx="457200" cy="9906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83" name="AutoShape 76"/>
            <p:cNvSpPr>
              <a:spLocks noChangeArrowheads="1"/>
            </p:cNvSpPr>
            <p:nvPr/>
          </p:nvSpPr>
          <p:spPr bwMode="auto">
            <a:xfrm>
              <a:off x="533400" y="3352800"/>
              <a:ext cx="1143000" cy="11430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84" name="Line 77"/>
            <p:cNvSpPr>
              <a:spLocks noChangeShapeType="1"/>
            </p:cNvSpPr>
            <p:nvPr/>
          </p:nvSpPr>
          <p:spPr bwMode="auto">
            <a:xfrm flipV="1">
              <a:off x="1676400" y="1905000"/>
              <a:ext cx="1447800" cy="18288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85" name="Rectangle 78"/>
            <p:cNvSpPr>
              <a:spLocks noChangeArrowheads="1"/>
            </p:cNvSpPr>
            <p:nvPr/>
          </p:nvSpPr>
          <p:spPr bwMode="auto">
            <a:xfrm>
              <a:off x="1219200" y="38100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–</a:t>
              </a:r>
            </a:p>
          </p:txBody>
        </p:sp>
        <p:sp>
          <p:nvSpPr>
            <p:cNvPr id="29786" name="Rectangle 79"/>
            <p:cNvSpPr>
              <a:spLocks noChangeArrowheads="1"/>
            </p:cNvSpPr>
            <p:nvPr/>
          </p:nvSpPr>
          <p:spPr bwMode="auto">
            <a:xfrm>
              <a:off x="1219200" y="41148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≤</a:t>
              </a:r>
            </a:p>
          </p:txBody>
        </p:sp>
        <p:sp>
          <p:nvSpPr>
            <p:cNvPr id="29787" name="Rectangle 80"/>
            <p:cNvSpPr>
              <a:spLocks noChangeArrowheads="1"/>
            </p:cNvSpPr>
            <p:nvPr/>
          </p:nvSpPr>
          <p:spPr bwMode="auto">
            <a:xfrm>
              <a:off x="685800" y="41148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14</a:t>
              </a:r>
            </a:p>
          </p:txBody>
        </p:sp>
        <p:sp>
          <p:nvSpPr>
            <p:cNvPr id="29788" name="Rectangle 81"/>
            <p:cNvSpPr>
              <a:spLocks noChangeArrowheads="1"/>
            </p:cNvSpPr>
            <p:nvPr/>
          </p:nvSpPr>
          <p:spPr bwMode="auto">
            <a:xfrm>
              <a:off x="685800" y="38100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4</a:t>
              </a:r>
            </a:p>
          </p:txBody>
        </p:sp>
        <p:sp>
          <p:nvSpPr>
            <p:cNvPr id="29789" name="Rectangle 82"/>
            <p:cNvSpPr>
              <a:spLocks noChangeArrowheads="1"/>
            </p:cNvSpPr>
            <p:nvPr/>
          </p:nvSpPr>
          <p:spPr bwMode="auto">
            <a:xfrm>
              <a:off x="1143000" y="3429000"/>
              <a:ext cx="457200" cy="9906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636588" y="1981200"/>
            <a:ext cx="2895600" cy="4114800"/>
            <a:chOff x="533400" y="1981200"/>
            <a:chExt cx="2895600" cy="4114800"/>
          </a:xfrm>
        </p:grpSpPr>
        <p:sp>
          <p:nvSpPr>
            <p:cNvPr id="29769" name="Rectangle 68"/>
            <p:cNvSpPr>
              <a:spLocks noChangeArrowheads="1"/>
            </p:cNvSpPr>
            <p:nvPr/>
          </p:nvSpPr>
          <p:spPr bwMode="auto">
            <a:xfrm>
              <a:off x="685800" y="48006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2</a:t>
              </a:r>
            </a:p>
          </p:txBody>
        </p:sp>
        <p:sp>
          <p:nvSpPr>
            <p:cNvPr id="29770" name="Rectangle 85"/>
            <p:cNvSpPr>
              <a:spLocks noChangeArrowheads="1"/>
            </p:cNvSpPr>
            <p:nvPr/>
          </p:nvSpPr>
          <p:spPr bwMode="auto">
            <a:xfrm>
              <a:off x="1219200" y="5105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*</a:t>
              </a:r>
            </a:p>
          </p:txBody>
        </p:sp>
        <p:sp>
          <p:nvSpPr>
            <p:cNvPr id="29771" name="Rectangle 86"/>
            <p:cNvSpPr>
              <a:spLocks noChangeArrowheads="1"/>
            </p:cNvSpPr>
            <p:nvPr/>
          </p:nvSpPr>
          <p:spPr bwMode="auto">
            <a:xfrm>
              <a:off x="685800" y="5105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3</a:t>
              </a:r>
            </a:p>
          </p:txBody>
        </p:sp>
        <p:sp>
          <p:nvSpPr>
            <p:cNvPr id="29772" name="Rectangle 87"/>
            <p:cNvSpPr>
              <a:spLocks noChangeArrowheads="1"/>
            </p:cNvSpPr>
            <p:nvPr/>
          </p:nvSpPr>
          <p:spPr bwMode="auto">
            <a:xfrm>
              <a:off x="609600" y="4724400"/>
              <a:ext cx="457200" cy="12954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73" name="AutoShape 88"/>
            <p:cNvSpPr>
              <a:spLocks noChangeArrowheads="1"/>
            </p:cNvSpPr>
            <p:nvPr/>
          </p:nvSpPr>
          <p:spPr bwMode="auto">
            <a:xfrm>
              <a:off x="533400" y="4648200"/>
              <a:ext cx="1143000" cy="14478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74" name="Line 89"/>
            <p:cNvSpPr>
              <a:spLocks noChangeShapeType="1"/>
            </p:cNvSpPr>
            <p:nvPr/>
          </p:nvSpPr>
          <p:spPr bwMode="auto">
            <a:xfrm flipV="1">
              <a:off x="1676400" y="1981200"/>
              <a:ext cx="1752600" cy="27432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5" name="Rectangle 90"/>
            <p:cNvSpPr>
              <a:spLocks noChangeArrowheads="1"/>
            </p:cNvSpPr>
            <p:nvPr/>
          </p:nvSpPr>
          <p:spPr bwMode="auto">
            <a:xfrm>
              <a:off x="1219200" y="5410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–</a:t>
              </a:r>
            </a:p>
          </p:txBody>
        </p:sp>
        <p:sp>
          <p:nvSpPr>
            <p:cNvPr id="29776" name="Rectangle 91"/>
            <p:cNvSpPr>
              <a:spLocks noChangeArrowheads="1"/>
            </p:cNvSpPr>
            <p:nvPr/>
          </p:nvSpPr>
          <p:spPr bwMode="auto">
            <a:xfrm>
              <a:off x="1219200" y="57150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≤</a:t>
              </a:r>
            </a:p>
          </p:txBody>
        </p:sp>
        <p:sp>
          <p:nvSpPr>
            <p:cNvPr id="29777" name="Rectangle 92"/>
            <p:cNvSpPr>
              <a:spLocks noChangeArrowheads="1"/>
            </p:cNvSpPr>
            <p:nvPr/>
          </p:nvSpPr>
          <p:spPr bwMode="auto">
            <a:xfrm>
              <a:off x="685800" y="57150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14</a:t>
              </a:r>
            </a:p>
          </p:txBody>
        </p:sp>
        <p:sp>
          <p:nvSpPr>
            <p:cNvPr id="29778" name="Rectangle 93"/>
            <p:cNvSpPr>
              <a:spLocks noChangeArrowheads="1"/>
            </p:cNvSpPr>
            <p:nvPr/>
          </p:nvSpPr>
          <p:spPr bwMode="auto">
            <a:xfrm>
              <a:off x="685800" y="5410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4</a:t>
              </a:r>
            </a:p>
          </p:txBody>
        </p:sp>
        <p:sp>
          <p:nvSpPr>
            <p:cNvPr id="29779" name="Rectangle 94"/>
            <p:cNvSpPr>
              <a:spLocks noChangeArrowheads="1"/>
            </p:cNvSpPr>
            <p:nvPr/>
          </p:nvSpPr>
          <p:spPr bwMode="auto">
            <a:xfrm>
              <a:off x="1143000" y="5029200"/>
              <a:ext cx="457200" cy="9906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2236788" y="1905000"/>
            <a:ext cx="1676400" cy="4267200"/>
            <a:chOff x="2133600" y="1905000"/>
            <a:chExt cx="1676400" cy="4267200"/>
          </a:xfrm>
        </p:grpSpPr>
        <p:sp>
          <p:nvSpPr>
            <p:cNvPr id="29757" name="Line 103"/>
            <p:cNvSpPr>
              <a:spLocks noChangeShapeType="1"/>
            </p:cNvSpPr>
            <p:nvPr/>
          </p:nvSpPr>
          <p:spPr bwMode="auto">
            <a:xfrm flipV="1">
              <a:off x="2743200" y="1905000"/>
              <a:ext cx="1066800" cy="28194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8" name="Rectangle 27"/>
            <p:cNvSpPr>
              <a:spLocks noChangeArrowheads="1"/>
            </p:cNvSpPr>
            <p:nvPr/>
          </p:nvSpPr>
          <p:spPr bwMode="auto">
            <a:xfrm>
              <a:off x="2819400" y="44196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+</a:t>
              </a:r>
            </a:p>
          </p:txBody>
        </p:sp>
        <p:sp>
          <p:nvSpPr>
            <p:cNvPr id="29759" name="Rectangle 98"/>
            <p:cNvSpPr>
              <a:spLocks noChangeArrowheads="1"/>
            </p:cNvSpPr>
            <p:nvPr/>
          </p:nvSpPr>
          <p:spPr bwMode="auto">
            <a:xfrm>
              <a:off x="2286000" y="48768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2</a:t>
              </a:r>
            </a:p>
          </p:txBody>
        </p:sp>
        <p:sp>
          <p:nvSpPr>
            <p:cNvPr id="29760" name="Rectangle 99"/>
            <p:cNvSpPr>
              <a:spLocks noChangeArrowheads="1"/>
            </p:cNvSpPr>
            <p:nvPr/>
          </p:nvSpPr>
          <p:spPr bwMode="auto">
            <a:xfrm>
              <a:off x="2819400" y="51816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*</a:t>
              </a:r>
            </a:p>
          </p:txBody>
        </p:sp>
        <p:sp>
          <p:nvSpPr>
            <p:cNvPr id="29761" name="Rectangle 100"/>
            <p:cNvSpPr>
              <a:spLocks noChangeArrowheads="1"/>
            </p:cNvSpPr>
            <p:nvPr/>
          </p:nvSpPr>
          <p:spPr bwMode="auto">
            <a:xfrm>
              <a:off x="2286000" y="51816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3</a:t>
              </a:r>
            </a:p>
          </p:txBody>
        </p:sp>
        <p:sp>
          <p:nvSpPr>
            <p:cNvPr id="29762" name="Rectangle 101"/>
            <p:cNvSpPr>
              <a:spLocks noChangeArrowheads="1"/>
            </p:cNvSpPr>
            <p:nvPr/>
          </p:nvSpPr>
          <p:spPr bwMode="auto">
            <a:xfrm>
              <a:off x="2209800" y="4800600"/>
              <a:ext cx="457200" cy="12954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63" name="AutoShape 102"/>
            <p:cNvSpPr>
              <a:spLocks noChangeArrowheads="1"/>
            </p:cNvSpPr>
            <p:nvPr/>
          </p:nvSpPr>
          <p:spPr bwMode="auto">
            <a:xfrm>
              <a:off x="2133600" y="4724400"/>
              <a:ext cx="1143000" cy="14478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64" name="Rectangle 104"/>
            <p:cNvSpPr>
              <a:spLocks noChangeArrowheads="1"/>
            </p:cNvSpPr>
            <p:nvPr/>
          </p:nvSpPr>
          <p:spPr bwMode="auto">
            <a:xfrm>
              <a:off x="2819400" y="5486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–</a:t>
              </a:r>
            </a:p>
          </p:txBody>
        </p:sp>
        <p:sp>
          <p:nvSpPr>
            <p:cNvPr id="29765" name="Rectangle 105"/>
            <p:cNvSpPr>
              <a:spLocks noChangeArrowheads="1"/>
            </p:cNvSpPr>
            <p:nvPr/>
          </p:nvSpPr>
          <p:spPr bwMode="auto">
            <a:xfrm>
              <a:off x="2819400" y="5791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≤</a:t>
              </a:r>
            </a:p>
          </p:txBody>
        </p:sp>
        <p:sp>
          <p:nvSpPr>
            <p:cNvPr id="29766" name="Rectangle 106"/>
            <p:cNvSpPr>
              <a:spLocks noChangeArrowheads="1"/>
            </p:cNvSpPr>
            <p:nvPr/>
          </p:nvSpPr>
          <p:spPr bwMode="auto">
            <a:xfrm>
              <a:off x="2286000" y="5791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14</a:t>
              </a:r>
            </a:p>
          </p:txBody>
        </p:sp>
        <p:sp>
          <p:nvSpPr>
            <p:cNvPr id="29767" name="Rectangle 107"/>
            <p:cNvSpPr>
              <a:spLocks noChangeArrowheads="1"/>
            </p:cNvSpPr>
            <p:nvPr/>
          </p:nvSpPr>
          <p:spPr bwMode="auto">
            <a:xfrm>
              <a:off x="2286000" y="5486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4</a:t>
              </a:r>
            </a:p>
          </p:txBody>
        </p:sp>
        <p:sp>
          <p:nvSpPr>
            <p:cNvPr id="29768" name="Rectangle 108"/>
            <p:cNvSpPr>
              <a:spLocks noChangeArrowheads="1"/>
            </p:cNvSpPr>
            <p:nvPr/>
          </p:nvSpPr>
          <p:spPr bwMode="auto">
            <a:xfrm>
              <a:off x="2743200" y="4800600"/>
              <a:ext cx="457200" cy="12954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6" name="Group 105"/>
          <p:cNvGrpSpPr>
            <a:grpSpLocks/>
          </p:cNvGrpSpPr>
          <p:nvPr/>
        </p:nvGrpSpPr>
        <p:grpSpPr bwMode="auto">
          <a:xfrm>
            <a:off x="3455988" y="1981200"/>
            <a:ext cx="1143000" cy="4191000"/>
            <a:chOff x="3352800" y="1981200"/>
            <a:chExt cx="1143000" cy="4191000"/>
          </a:xfrm>
        </p:grpSpPr>
        <p:sp>
          <p:nvSpPr>
            <p:cNvPr id="29747" name="Rectangle 122"/>
            <p:cNvSpPr>
              <a:spLocks noChangeArrowheads="1"/>
            </p:cNvSpPr>
            <p:nvPr/>
          </p:nvSpPr>
          <p:spPr bwMode="auto">
            <a:xfrm>
              <a:off x="3962400" y="5410200"/>
              <a:ext cx="457200" cy="6858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48" name="Rectangle 116"/>
            <p:cNvSpPr>
              <a:spLocks noChangeArrowheads="1"/>
            </p:cNvSpPr>
            <p:nvPr/>
          </p:nvSpPr>
          <p:spPr bwMode="auto">
            <a:xfrm>
              <a:off x="3429000" y="5105400"/>
              <a:ext cx="457200" cy="9906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49" name="Rectangle 112"/>
            <p:cNvSpPr>
              <a:spLocks noChangeArrowheads="1"/>
            </p:cNvSpPr>
            <p:nvPr/>
          </p:nvSpPr>
          <p:spPr bwMode="auto">
            <a:xfrm>
              <a:off x="4038600" y="4724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+</a:t>
              </a:r>
            </a:p>
          </p:txBody>
        </p:sp>
        <p:sp>
          <p:nvSpPr>
            <p:cNvPr id="29750" name="Rectangle 115"/>
            <p:cNvSpPr>
              <a:spLocks noChangeArrowheads="1"/>
            </p:cNvSpPr>
            <p:nvPr/>
          </p:nvSpPr>
          <p:spPr bwMode="auto">
            <a:xfrm>
              <a:off x="3505200" y="51816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6</a:t>
              </a:r>
            </a:p>
          </p:txBody>
        </p:sp>
        <p:sp>
          <p:nvSpPr>
            <p:cNvPr id="29751" name="AutoShape 117"/>
            <p:cNvSpPr>
              <a:spLocks noChangeArrowheads="1"/>
            </p:cNvSpPr>
            <p:nvPr/>
          </p:nvSpPr>
          <p:spPr bwMode="auto">
            <a:xfrm>
              <a:off x="3352800" y="5029200"/>
              <a:ext cx="1143000" cy="11430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52" name="Rectangle 118"/>
            <p:cNvSpPr>
              <a:spLocks noChangeArrowheads="1"/>
            </p:cNvSpPr>
            <p:nvPr/>
          </p:nvSpPr>
          <p:spPr bwMode="auto">
            <a:xfrm>
              <a:off x="4038600" y="5486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–</a:t>
              </a:r>
            </a:p>
          </p:txBody>
        </p:sp>
        <p:sp>
          <p:nvSpPr>
            <p:cNvPr id="29753" name="Rectangle 119"/>
            <p:cNvSpPr>
              <a:spLocks noChangeArrowheads="1"/>
            </p:cNvSpPr>
            <p:nvPr/>
          </p:nvSpPr>
          <p:spPr bwMode="auto">
            <a:xfrm>
              <a:off x="4038600" y="5791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≤</a:t>
              </a:r>
            </a:p>
          </p:txBody>
        </p:sp>
        <p:sp>
          <p:nvSpPr>
            <p:cNvPr id="29754" name="Rectangle 120"/>
            <p:cNvSpPr>
              <a:spLocks noChangeArrowheads="1"/>
            </p:cNvSpPr>
            <p:nvPr/>
          </p:nvSpPr>
          <p:spPr bwMode="auto">
            <a:xfrm>
              <a:off x="3505200" y="5791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14</a:t>
              </a:r>
            </a:p>
          </p:txBody>
        </p:sp>
        <p:sp>
          <p:nvSpPr>
            <p:cNvPr id="29755" name="Rectangle 121"/>
            <p:cNvSpPr>
              <a:spLocks noChangeArrowheads="1"/>
            </p:cNvSpPr>
            <p:nvPr/>
          </p:nvSpPr>
          <p:spPr bwMode="auto">
            <a:xfrm>
              <a:off x="3505200" y="5486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4</a:t>
              </a:r>
            </a:p>
          </p:txBody>
        </p:sp>
        <p:sp>
          <p:nvSpPr>
            <p:cNvPr id="29756" name="Line 124"/>
            <p:cNvSpPr>
              <a:spLocks noChangeShapeType="1"/>
            </p:cNvSpPr>
            <p:nvPr/>
          </p:nvSpPr>
          <p:spPr bwMode="auto">
            <a:xfrm flipV="1">
              <a:off x="3810000" y="1981200"/>
              <a:ext cx="152400" cy="30480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4217988" y="1905000"/>
            <a:ext cx="1600200" cy="4267200"/>
            <a:chOff x="4114800" y="1905000"/>
            <a:chExt cx="1600200" cy="4267200"/>
          </a:xfrm>
        </p:grpSpPr>
        <p:sp>
          <p:nvSpPr>
            <p:cNvPr id="29739" name="Rectangle 128"/>
            <p:cNvSpPr>
              <a:spLocks noChangeArrowheads="1"/>
            </p:cNvSpPr>
            <p:nvPr/>
          </p:nvSpPr>
          <p:spPr bwMode="auto">
            <a:xfrm>
              <a:off x="5181600" y="5410200"/>
              <a:ext cx="457200" cy="6858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40" name="Rectangle 129"/>
            <p:cNvSpPr>
              <a:spLocks noChangeArrowheads="1"/>
            </p:cNvSpPr>
            <p:nvPr/>
          </p:nvSpPr>
          <p:spPr bwMode="auto">
            <a:xfrm>
              <a:off x="4648200" y="5410200"/>
              <a:ext cx="457200" cy="6858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41" name="Rectangle 130"/>
            <p:cNvSpPr>
              <a:spLocks noChangeArrowheads="1"/>
            </p:cNvSpPr>
            <p:nvPr/>
          </p:nvSpPr>
          <p:spPr bwMode="auto">
            <a:xfrm>
              <a:off x="5257800" y="5486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+</a:t>
              </a:r>
            </a:p>
          </p:txBody>
        </p:sp>
        <p:sp>
          <p:nvSpPr>
            <p:cNvPr id="29742" name="AutoShape 132"/>
            <p:cNvSpPr>
              <a:spLocks noChangeArrowheads="1"/>
            </p:cNvSpPr>
            <p:nvPr/>
          </p:nvSpPr>
          <p:spPr bwMode="auto">
            <a:xfrm>
              <a:off x="4572000" y="5334000"/>
              <a:ext cx="1143000" cy="8382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43" name="Rectangle 134"/>
            <p:cNvSpPr>
              <a:spLocks noChangeArrowheads="1"/>
            </p:cNvSpPr>
            <p:nvPr/>
          </p:nvSpPr>
          <p:spPr bwMode="auto">
            <a:xfrm>
              <a:off x="5257800" y="5791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≤</a:t>
              </a:r>
            </a:p>
          </p:txBody>
        </p:sp>
        <p:sp>
          <p:nvSpPr>
            <p:cNvPr id="29744" name="Rectangle 135"/>
            <p:cNvSpPr>
              <a:spLocks noChangeArrowheads="1"/>
            </p:cNvSpPr>
            <p:nvPr/>
          </p:nvSpPr>
          <p:spPr bwMode="auto">
            <a:xfrm>
              <a:off x="4724400" y="5791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14</a:t>
              </a:r>
            </a:p>
          </p:txBody>
        </p:sp>
        <p:sp>
          <p:nvSpPr>
            <p:cNvPr id="29745" name="Rectangle 136"/>
            <p:cNvSpPr>
              <a:spLocks noChangeArrowheads="1"/>
            </p:cNvSpPr>
            <p:nvPr/>
          </p:nvSpPr>
          <p:spPr bwMode="auto">
            <a:xfrm>
              <a:off x="4724400" y="5486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-2</a:t>
              </a:r>
            </a:p>
          </p:txBody>
        </p:sp>
        <p:sp>
          <p:nvSpPr>
            <p:cNvPr id="29746" name="Line 137"/>
            <p:cNvSpPr>
              <a:spLocks noChangeShapeType="1"/>
            </p:cNvSpPr>
            <p:nvPr/>
          </p:nvSpPr>
          <p:spPr bwMode="auto">
            <a:xfrm flipH="1" flipV="1">
              <a:off x="4114800" y="1905000"/>
              <a:ext cx="990600" cy="34290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107"/>
          <p:cNvGrpSpPr>
            <a:grpSpLocks/>
          </p:cNvGrpSpPr>
          <p:nvPr/>
        </p:nvGrpSpPr>
        <p:grpSpPr bwMode="auto">
          <a:xfrm>
            <a:off x="4446588" y="1981200"/>
            <a:ext cx="1905000" cy="3048000"/>
            <a:chOff x="4343400" y="1981200"/>
            <a:chExt cx="1905000" cy="3048000"/>
          </a:xfrm>
        </p:grpSpPr>
        <p:sp>
          <p:nvSpPr>
            <p:cNvPr id="29729" name="Rectangle 141"/>
            <p:cNvSpPr>
              <a:spLocks noChangeArrowheads="1"/>
            </p:cNvSpPr>
            <p:nvPr/>
          </p:nvSpPr>
          <p:spPr bwMode="auto">
            <a:xfrm>
              <a:off x="5715000" y="4267200"/>
              <a:ext cx="457200" cy="6858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30" name="Rectangle 142"/>
            <p:cNvSpPr>
              <a:spLocks noChangeArrowheads="1"/>
            </p:cNvSpPr>
            <p:nvPr/>
          </p:nvSpPr>
          <p:spPr bwMode="auto">
            <a:xfrm>
              <a:off x="5181600" y="3962400"/>
              <a:ext cx="457200" cy="9906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31" name="Rectangle 143"/>
            <p:cNvSpPr>
              <a:spLocks noChangeArrowheads="1"/>
            </p:cNvSpPr>
            <p:nvPr/>
          </p:nvSpPr>
          <p:spPr bwMode="auto">
            <a:xfrm>
              <a:off x="4876800" y="36576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$</a:t>
              </a:r>
            </a:p>
          </p:txBody>
        </p:sp>
        <p:sp>
          <p:nvSpPr>
            <p:cNvPr id="29732" name="Rectangle 144"/>
            <p:cNvSpPr>
              <a:spLocks noChangeArrowheads="1"/>
            </p:cNvSpPr>
            <p:nvPr/>
          </p:nvSpPr>
          <p:spPr bwMode="auto">
            <a:xfrm>
              <a:off x="5257800" y="40386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7</a:t>
              </a:r>
            </a:p>
          </p:txBody>
        </p:sp>
        <p:sp>
          <p:nvSpPr>
            <p:cNvPr id="29733" name="AutoShape 145"/>
            <p:cNvSpPr>
              <a:spLocks noChangeArrowheads="1"/>
            </p:cNvSpPr>
            <p:nvPr/>
          </p:nvSpPr>
          <p:spPr bwMode="auto">
            <a:xfrm>
              <a:off x="5105400" y="3886200"/>
              <a:ext cx="1143000" cy="11430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34" name="Rectangle 146"/>
            <p:cNvSpPr>
              <a:spLocks noChangeArrowheads="1"/>
            </p:cNvSpPr>
            <p:nvPr/>
          </p:nvSpPr>
          <p:spPr bwMode="auto">
            <a:xfrm>
              <a:off x="5791200" y="4343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+</a:t>
              </a:r>
            </a:p>
          </p:txBody>
        </p:sp>
        <p:sp>
          <p:nvSpPr>
            <p:cNvPr id="29735" name="Rectangle 147"/>
            <p:cNvSpPr>
              <a:spLocks noChangeArrowheads="1"/>
            </p:cNvSpPr>
            <p:nvPr/>
          </p:nvSpPr>
          <p:spPr bwMode="auto">
            <a:xfrm>
              <a:off x="5791200" y="4648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≤</a:t>
              </a:r>
            </a:p>
          </p:txBody>
        </p:sp>
        <p:sp>
          <p:nvSpPr>
            <p:cNvPr id="29736" name="Rectangle 148"/>
            <p:cNvSpPr>
              <a:spLocks noChangeArrowheads="1"/>
            </p:cNvSpPr>
            <p:nvPr/>
          </p:nvSpPr>
          <p:spPr bwMode="auto">
            <a:xfrm>
              <a:off x="5257800" y="46482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14</a:t>
              </a:r>
            </a:p>
          </p:txBody>
        </p:sp>
        <p:sp>
          <p:nvSpPr>
            <p:cNvPr id="29737" name="Rectangle 149"/>
            <p:cNvSpPr>
              <a:spLocks noChangeArrowheads="1"/>
            </p:cNvSpPr>
            <p:nvPr/>
          </p:nvSpPr>
          <p:spPr bwMode="auto">
            <a:xfrm>
              <a:off x="5257800" y="43434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-2</a:t>
              </a:r>
            </a:p>
          </p:txBody>
        </p:sp>
        <p:sp>
          <p:nvSpPr>
            <p:cNvPr id="29738" name="Line 150"/>
            <p:cNvSpPr>
              <a:spLocks noChangeShapeType="1"/>
            </p:cNvSpPr>
            <p:nvPr/>
          </p:nvSpPr>
          <p:spPr bwMode="auto">
            <a:xfrm flipH="1" flipV="1">
              <a:off x="4343400" y="1981200"/>
              <a:ext cx="1219200" cy="19050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4827588" y="1981200"/>
            <a:ext cx="4191000" cy="2514600"/>
            <a:chOff x="4724400" y="1981200"/>
            <a:chExt cx="4191000" cy="2514600"/>
          </a:xfrm>
        </p:grpSpPr>
        <p:sp>
          <p:nvSpPr>
            <p:cNvPr id="29723" name="Rectangle 152"/>
            <p:cNvSpPr>
              <a:spLocks noChangeArrowheads="1"/>
            </p:cNvSpPr>
            <p:nvPr/>
          </p:nvSpPr>
          <p:spPr bwMode="auto">
            <a:xfrm>
              <a:off x="8382000" y="4343400"/>
              <a:ext cx="457200" cy="762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24" name="Rectangle 153"/>
            <p:cNvSpPr>
              <a:spLocks noChangeArrowheads="1"/>
            </p:cNvSpPr>
            <p:nvPr/>
          </p:nvSpPr>
          <p:spPr bwMode="auto">
            <a:xfrm>
              <a:off x="7848600" y="4038600"/>
              <a:ext cx="457200" cy="381000"/>
            </a:xfrm>
            <a:prstGeom prst="rect">
              <a:avLst/>
            </a:prstGeom>
            <a:solidFill>
              <a:schemeClr val="bg2">
                <a:alpha val="25098"/>
              </a:schemeClr>
            </a:solidFill>
            <a:ln w="254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25" name="Rectangle 154"/>
            <p:cNvSpPr>
              <a:spLocks noChangeArrowheads="1"/>
            </p:cNvSpPr>
            <p:nvPr/>
          </p:nvSpPr>
          <p:spPr bwMode="auto">
            <a:xfrm>
              <a:off x="7391400" y="37338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$</a:t>
              </a:r>
            </a:p>
          </p:txBody>
        </p:sp>
        <p:sp>
          <p:nvSpPr>
            <p:cNvPr id="29726" name="AutoShape 155"/>
            <p:cNvSpPr>
              <a:spLocks noChangeArrowheads="1"/>
            </p:cNvSpPr>
            <p:nvPr/>
          </p:nvSpPr>
          <p:spPr bwMode="auto">
            <a:xfrm>
              <a:off x="7772400" y="3962400"/>
              <a:ext cx="1143000" cy="5334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sz="1800"/>
            </a:p>
          </p:txBody>
        </p:sp>
        <p:sp>
          <p:nvSpPr>
            <p:cNvPr id="29727" name="Rectangle 157"/>
            <p:cNvSpPr>
              <a:spLocks noChangeArrowheads="1"/>
            </p:cNvSpPr>
            <p:nvPr/>
          </p:nvSpPr>
          <p:spPr bwMode="auto">
            <a:xfrm>
              <a:off x="7924800" y="4114800"/>
              <a:ext cx="304800" cy="228600"/>
            </a:xfrm>
            <a:prstGeom prst="rect">
              <a:avLst/>
            </a:prstGeom>
            <a:solidFill>
              <a:schemeClr val="accent1">
                <a:alpha val="2784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F</a:t>
              </a:r>
            </a:p>
          </p:txBody>
        </p:sp>
        <p:sp>
          <p:nvSpPr>
            <p:cNvPr id="29728" name="Line 159"/>
            <p:cNvSpPr>
              <a:spLocks noChangeShapeType="1"/>
            </p:cNvSpPr>
            <p:nvPr/>
          </p:nvSpPr>
          <p:spPr bwMode="auto">
            <a:xfrm flipH="1" flipV="1">
              <a:off x="4724400" y="1981200"/>
              <a:ext cx="3505200" cy="19812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109"/>
          <p:cNvGrpSpPr>
            <a:grpSpLocks/>
          </p:cNvGrpSpPr>
          <p:nvPr/>
        </p:nvGrpSpPr>
        <p:grpSpPr bwMode="auto">
          <a:xfrm>
            <a:off x="4751388" y="2057400"/>
            <a:ext cx="2971800" cy="2971800"/>
            <a:chOff x="4648200" y="2057400"/>
            <a:chExt cx="2971800" cy="2971800"/>
          </a:xfrm>
        </p:grpSpPr>
        <p:grpSp>
          <p:nvGrpSpPr>
            <p:cNvPr id="29714" name="Group 178"/>
            <p:cNvGrpSpPr>
              <a:grpSpLocks/>
            </p:cNvGrpSpPr>
            <p:nvPr/>
          </p:nvGrpSpPr>
          <p:grpSpPr bwMode="auto">
            <a:xfrm>
              <a:off x="6400800" y="3962400"/>
              <a:ext cx="1219200" cy="1066800"/>
              <a:chOff x="4032" y="2496"/>
              <a:chExt cx="768" cy="672"/>
            </a:xfrm>
          </p:grpSpPr>
          <p:sp>
            <p:nvSpPr>
              <p:cNvPr id="29716" name="Rectangle 166"/>
              <p:cNvSpPr>
                <a:spLocks noChangeArrowheads="1"/>
              </p:cNvSpPr>
              <p:nvPr/>
            </p:nvSpPr>
            <p:spPr bwMode="auto">
              <a:xfrm>
                <a:off x="4464" y="2880"/>
                <a:ext cx="288" cy="240"/>
              </a:xfrm>
              <a:prstGeom prst="rect">
                <a:avLst/>
              </a:prstGeom>
              <a:solidFill>
                <a:schemeClr val="bg2">
                  <a:alpha val="25098"/>
                </a:schemeClr>
              </a:solidFill>
              <a:ln w="254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9717" name="Rectangle 167"/>
              <p:cNvSpPr>
                <a:spLocks noChangeArrowheads="1"/>
              </p:cNvSpPr>
              <p:nvPr/>
            </p:nvSpPr>
            <p:spPr bwMode="auto">
              <a:xfrm>
                <a:off x="4128" y="2688"/>
                <a:ext cx="288" cy="432"/>
              </a:xfrm>
              <a:prstGeom prst="rect">
                <a:avLst/>
              </a:prstGeom>
              <a:solidFill>
                <a:schemeClr val="bg2">
                  <a:alpha val="25098"/>
                </a:schemeClr>
              </a:solidFill>
              <a:ln w="2540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9718" name="Rectangle 168"/>
              <p:cNvSpPr>
                <a:spLocks noChangeArrowheads="1"/>
              </p:cNvSpPr>
              <p:nvPr/>
            </p:nvSpPr>
            <p:spPr bwMode="auto">
              <a:xfrm>
                <a:off x="4032" y="2496"/>
                <a:ext cx="192" cy="144"/>
              </a:xfrm>
              <a:prstGeom prst="rect">
                <a:avLst/>
              </a:prstGeom>
              <a:solidFill>
                <a:schemeClr val="accent1">
                  <a:alpha val="27843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/>
                  <a:t>$</a:t>
                </a:r>
              </a:p>
            </p:txBody>
          </p:sp>
          <p:sp>
            <p:nvSpPr>
              <p:cNvPr id="29719" name="AutoShape 170"/>
              <p:cNvSpPr>
                <a:spLocks noChangeArrowheads="1"/>
              </p:cNvSpPr>
              <p:nvPr/>
            </p:nvSpPr>
            <p:spPr bwMode="auto">
              <a:xfrm>
                <a:off x="4080" y="2640"/>
                <a:ext cx="720" cy="528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9720" name="Rectangle 172"/>
              <p:cNvSpPr>
                <a:spLocks noChangeArrowheads="1"/>
              </p:cNvSpPr>
              <p:nvPr/>
            </p:nvSpPr>
            <p:spPr bwMode="auto">
              <a:xfrm>
                <a:off x="4512" y="2928"/>
                <a:ext cx="192" cy="144"/>
              </a:xfrm>
              <a:prstGeom prst="rect">
                <a:avLst/>
              </a:prstGeom>
              <a:solidFill>
                <a:schemeClr val="accent1">
                  <a:alpha val="27843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/>
                  <a:t>≤</a:t>
                </a:r>
              </a:p>
            </p:txBody>
          </p:sp>
          <p:sp>
            <p:nvSpPr>
              <p:cNvPr id="29721" name="Rectangle 173"/>
              <p:cNvSpPr>
                <a:spLocks noChangeArrowheads="1"/>
              </p:cNvSpPr>
              <p:nvPr/>
            </p:nvSpPr>
            <p:spPr bwMode="auto">
              <a:xfrm>
                <a:off x="4176" y="2928"/>
                <a:ext cx="192" cy="144"/>
              </a:xfrm>
              <a:prstGeom prst="rect">
                <a:avLst/>
              </a:prstGeom>
              <a:solidFill>
                <a:schemeClr val="accent1">
                  <a:alpha val="27843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/>
                  <a:t>14</a:t>
                </a:r>
              </a:p>
            </p:txBody>
          </p:sp>
          <p:sp>
            <p:nvSpPr>
              <p:cNvPr id="29722" name="Rectangle 174"/>
              <p:cNvSpPr>
                <a:spLocks noChangeArrowheads="1"/>
              </p:cNvSpPr>
              <p:nvPr/>
            </p:nvSpPr>
            <p:spPr bwMode="auto">
              <a:xfrm>
                <a:off x="4176" y="2736"/>
                <a:ext cx="192" cy="144"/>
              </a:xfrm>
              <a:prstGeom prst="rect">
                <a:avLst/>
              </a:prstGeom>
              <a:solidFill>
                <a:schemeClr val="accent1">
                  <a:alpha val="27843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/>
                  <a:t>5</a:t>
                </a:r>
              </a:p>
            </p:txBody>
          </p:sp>
        </p:grpSp>
        <p:sp>
          <p:nvSpPr>
            <p:cNvPr id="29715" name="Line 175"/>
            <p:cNvSpPr>
              <a:spLocks noChangeShapeType="1"/>
            </p:cNvSpPr>
            <p:nvPr/>
          </p:nvSpPr>
          <p:spPr bwMode="auto">
            <a:xfrm flipH="1" flipV="1">
              <a:off x="4648200" y="2057400"/>
              <a:ext cx="2438400" cy="213360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5943600" y="228600"/>
            <a:ext cx="2819400" cy="646113"/>
          </a:xfrm>
          <a:prstGeom prst="rect">
            <a:avLst/>
          </a:prstGeom>
          <a:gradFill rotWithShape="1">
            <a:gsLst>
              <a:gs pos="0">
                <a:srgbClr val="BDBDBD"/>
              </a:gs>
              <a:gs pos="80000">
                <a:srgbClr val="F7F7F7"/>
              </a:gs>
              <a:gs pos="100000">
                <a:srgbClr val="F8F8F8"/>
              </a:gs>
            </a:gsLst>
            <a:lin ang="16200000"/>
          </a:gradFill>
          <a:ln w="9525">
            <a:solidFill>
              <a:srgbClr val="F9F9F9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2"/>
                </a:solidFill>
                <a:latin typeface="+mn-lt"/>
                <a:ea typeface="+mn-ea"/>
              </a:rPr>
              <a:t>Slide by Matt Stallmann included with permission.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2928</TotalTime>
  <Words>1704</Words>
  <Application>Microsoft Office PowerPoint</Application>
  <PresentationFormat>On-screen Show (4:3)</PresentationFormat>
  <Paragraphs>388</Paragraphs>
  <Slides>20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MS PGothic</vt:lpstr>
      <vt:lpstr>Arial</vt:lpstr>
      <vt:lpstr>Arial Narrow</vt:lpstr>
      <vt:lpstr>Helvetica</vt:lpstr>
      <vt:lpstr>Monaco</vt:lpstr>
      <vt:lpstr>Symbol</vt:lpstr>
      <vt:lpstr>Tahoma</vt:lpstr>
      <vt:lpstr>Times New Roman</vt:lpstr>
      <vt:lpstr>Wingdings</vt:lpstr>
      <vt:lpstr>Blueprint</vt:lpstr>
      <vt:lpstr>Photo Editor Photo</vt:lpstr>
      <vt:lpstr>Stacks</vt:lpstr>
      <vt:lpstr>Abstract Data Types (ADTs)</vt:lpstr>
      <vt:lpstr>The Stack ADT</vt:lpstr>
      <vt:lpstr>Stack Interface in Java</vt:lpstr>
      <vt:lpstr>Example</vt:lpstr>
      <vt:lpstr>Exceptions vs. Returning Null</vt:lpstr>
      <vt:lpstr>Applications of Stacks</vt:lpstr>
      <vt:lpstr>Method Stack in the JVM</vt:lpstr>
      <vt:lpstr>Array-based Stack</vt:lpstr>
      <vt:lpstr>Array-based Stack (cont.)</vt:lpstr>
      <vt:lpstr>Performance and Limitations</vt:lpstr>
      <vt:lpstr>Array-based Stack in Java</vt:lpstr>
      <vt:lpstr>Example Use in Java</vt:lpstr>
      <vt:lpstr>Parentheses Matching</vt:lpstr>
      <vt:lpstr>Parenthesis Matching (Java)</vt:lpstr>
      <vt:lpstr>HTML Tag Matching</vt:lpstr>
      <vt:lpstr>HTML Tag Matching (Java)</vt:lpstr>
      <vt:lpstr>Evaluating Arithmetic  Expressions</vt:lpstr>
      <vt:lpstr>Algorithm for  Evaluating Expressions</vt:lpstr>
      <vt:lpstr>Algorithm on an  Example Expression</vt:lpstr>
    </vt:vector>
  </TitlesOfParts>
  <Company>Brown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Houssein Dhayné</cp:lastModifiedBy>
  <cp:revision>297</cp:revision>
  <cp:lastPrinted>2014-03-16T17:53:15Z</cp:lastPrinted>
  <dcterms:created xsi:type="dcterms:W3CDTF">2002-01-21T02:22:10Z</dcterms:created>
  <dcterms:modified xsi:type="dcterms:W3CDTF">2021-11-23T04:58:53Z</dcterms:modified>
</cp:coreProperties>
</file>